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6858000" cy="9144000"/>
  <p:embeddedFontLst>
    <p:embeddedFont>
      <p:font typeface="JetBrains Mono" charset="1" panose="02010509020102050004"/>
      <p:regular r:id="rId26"/>
    </p:embeddedFont>
    <p:embeddedFont>
      <p:font typeface="Barlow Condensed Bold" charset="1" panose="00000806000000000000"/>
      <p:regular r:id="rId27"/>
    </p:embeddedFont>
    <p:embeddedFont>
      <p:font typeface="Inter" charset="1" panose="02000503000000020004"/>
      <p:regular r:id="rId28"/>
    </p:embeddedFont>
    <p:embeddedFont>
      <p:font typeface="Barlow Condensed" charset="1" panose="0000050600000000000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00" y="1714500"/>
            <a:ext cx="57150" cy="1143000"/>
            <a:chOff x="0" y="0"/>
            <a:chExt cx="76200" cy="152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62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76200">
                  <a:moveTo>
                    <a:pt x="0" y="0"/>
                  </a:moveTo>
                  <a:lnTo>
                    <a:pt x="76200" y="0"/>
                  </a:lnTo>
                  <a:lnTo>
                    <a:pt x="762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E84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62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952500" y="7239000"/>
            <a:ext cx="7429500" cy="0"/>
          </a:xfrm>
          <a:prstGeom prst="line">
            <a:avLst/>
          </a:prstGeom>
          <a:ln cap="flat" w="9525">
            <a:solidFill>
              <a:srgbClr val="22354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0637333" y="1174272"/>
            <a:ext cx="7359879" cy="7359879"/>
          </a:xfrm>
          <a:custGeom>
            <a:avLst/>
            <a:gdLst/>
            <a:ahLst/>
            <a:cxnLst/>
            <a:rect r="r" b="b" t="t" l="l"/>
            <a:pathLst>
              <a:path h="7359879" w="7359879">
                <a:moveTo>
                  <a:pt x="0" y="0"/>
                </a:moveTo>
                <a:lnTo>
                  <a:pt x="7359880" y="0"/>
                </a:lnTo>
                <a:lnTo>
                  <a:pt x="7359880" y="7359879"/>
                </a:lnTo>
                <a:lnTo>
                  <a:pt x="0" y="73598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0" y="0"/>
            <a:ext cx="3552714" cy="1174272"/>
            <a:chOff x="0" y="0"/>
            <a:chExt cx="935694" cy="30927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35694" cy="309273"/>
            </a:xfrm>
            <a:custGeom>
              <a:avLst/>
              <a:gdLst/>
              <a:ahLst/>
              <a:cxnLst/>
              <a:rect r="r" b="b" t="t" l="l"/>
              <a:pathLst>
                <a:path h="309273" w="935694">
                  <a:moveTo>
                    <a:pt x="0" y="0"/>
                  </a:moveTo>
                  <a:lnTo>
                    <a:pt x="935694" y="0"/>
                  </a:lnTo>
                  <a:lnTo>
                    <a:pt x="935694" y="309273"/>
                  </a:lnTo>
                  <a:lnTo>
                    <a:pt x="0" y="309273"/>
                  </a:lnTo>
                  <a:close/>
                </a:path>
              </a:pathLst>
            </a:custGeom>
            <a:solidFill>
              <a:srgbClr val="D6DDE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935694" cy="3378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25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70466" y="192354"/>
            <a:ext cx="3211782" cy="789563"/>
          </a:xfrm>
          <a:custGeom>
            <a:avLst/>
            <a:gdLst/>
            <a:ahLst/>
            <a:cxnLst/>
            <a:rect r="r" b="b" t="t" l="l"/>
            <a:pathLst>
              <a:path h="789563" w="3211782">
                <a:moveTo>
                  <a:pt x="0" y="0"/>
                </a:moveTo>
                <a:lnTo>
                  <a:pt x="3211782" y="0"/>
                </a:lnTo>
                <a:lnTo>
                  <a:pt x="3211782" y="789563"/>
                </a:lnTo>
                <a:lnTo>
                  <a:pt x="0" y="7895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181100" y="1866900"/>
            <a:ext cx="66675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300">
                <a:solidFill>
                  <a:srgbClr val="FFB3A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CAPSTONE 2026 · FASE 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81100" y="2809875"/>
            <a:ext cx="8572500" cy="185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0"/>
              </a:lnSpc>
            </a:pPr>
            <a:r>
              <a:rPr lang="en-US" sz="15000" b="true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CitaJusta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81100" y="5105400"/>
            <a:ext cx="7962900" cy="1087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6"/>
              </a:lnSpc>
            </a:pPr>
            <a:r>
              <a:rPr lang="en-US" sz="2090">
                <a:solidFill>
                  <a:srgbClr val="C9D3DD"/>
                </a:solidFill>
                <a:latin typeface="Inter"/>
                <a:ea typeface="Inter"/>
                <a:cs typeface="Inter"/>
                <a:sym typeface="Inter"/>
              </a:rPr>
              <a:t>Definición y formulación del proyecto APT </a:t>
            </a:r>
          </a:p>
          <a:p>
            <a:pPr algn="l">
              <a:lnSpc>
                <a:spcPts val="2926"/>
              </a:lnSpc>
            </a:pPr>
            <a:r>
              <a:rPr lang="en-US" sz="2090">
                <a:solidFill>
                  <a:srgbClr val="C9D3DD"/>
                </a:solidFill>
                <a:latin typeface="Inter"/>
                <a:ea typeface="Inter"/>
                <a:cs typeface="Inter"/>
                <a:sym typeface="Inter"/>
              </a:rPr>
              <a:t>Plataforma inteligente para recuperar citas canceladas y optimizar listas de espera.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81100" y="7410450"/>
            <a:ext cx="28575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262">
                <a:solidFill>
                  <a:srgbClr val="8FA1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EQUIPO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81100" y="7667625"/>
            <a:ext cx="3048000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5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Matías Torres</a:t>
            </a:r>
          </a:p>
          <a:p>
            <a:pPr algn="l">
              <a:lnSpc>
                <a:spcPts val="2025"/>
              </a:lnSpc>
            </a:pPr>
            <a:r>
              <a:rPr lang="en-US" sz="15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Bastian Sepúlveda</a:t>
            </a:r>
          </a:p>
          <a:p>
            <a:pPr algn="l">
              <a:lnSpc>
                <a:spcPts val="2025"/>
              </a:lnSpc>
            </a:pPr>
            <a:r>
              <a:rPr lang="en-US" sz="15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Diego Simón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572000" y="7410450"/>
            <a:ext cx="30480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262">
                <a:solidFill>
                  <a:srgbClr val="8FA1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PROGRAMA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572000" y="7667625"/>
            <a:ext cx="381000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5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Ingeniería en Informática</a:t>
            </a:r>
          </a:p>
          <a:p>
            <a:pPr algn="l">
              <a:lnSpc>
                <a:spcPts val="2025"/>
              </a:lnSpc>
            </a:pPr>
            <a:r>
              <a:rPr lang="en-US" sz="15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Duoc UC — Puente Alto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810500" y="7410450"/>
            <a:ext cx="19050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262">
                <a:solidFill>
                  <a:srgbClr val="8FA1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FECHA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810500" y="7667625"/>
            <a:ext cx="190500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5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Septiembre</a:t>
            </a:r>
          </a:p>
          <a:p>
            <a:pPr algn="l">
              <a:lnSpc>
                <a:spcPts val="2025"/>
              </a:lnSpc>
            </a:pPr>
            <a:r>
              <a:rPr lang="en-US" sz="15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00" y="457200"/>
            <a:ext cx="57150" cy="266700"/>
            <a:chOff x="0" y="0"/>
            <a:chExt cx="76200" cy="35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6200" cy="355600"/>
            </a:xfrm>
            <a:custGeom>
              <a:avLst/>
              <a:gdLst/>
              <a:ahLst/>
              <a:cxnLst/>
              <a:rect r="r" b="b" t="t" l="l"/>
              <a:pathLst>
                <a:path h="355600" w="76200">
                  <a:moveTo>
                    <a:pt x="0" y="0"/>
                  </a:moveTo>
                  <a:lnTo>
                    <a:pt x="76200" y="0"/>
                  </a:lnTo>
                  <a:lnTo>
                    <a:pt x="76200" y="35560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E84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6200" cy="393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952500" y="857250"/>
            <a:ext cx="16383000" cy="0"/>
          </a:xfrm>
          <a:prstGeom prst="line">
            <a:avLst/>
          </a:prstGeom>
          <a:ln cap="flat" w="9525">
            <a:solidFill>
              <a:srgbClr val="D6DDE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952500" y="9544050"/>
            <a:ext cx="16383000" cy="0"/>
          </a:xfrm>
          <a:prstGeom prst="line">
            <a:avLst/>
          </a:prstGeom>
          <a:ln cap="flat" w="9525">
            <a:solidFill>
              <a:srgbClr val="D6DDE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952500" y="1238250"/>
            <a:ext cx="8572500" cy="8191500"/>
          </a:xfrm>
          <a:custGeom>
            <a:avLst/>
            <a:gdLst/>
            <a:ahLst/>
            <a:cxnLst/>
            <a:rect r="r" b="b" t="t" l="l"/>
            <a:pathLst>
              <a:path h="8191500" w="8572500">
                <a:moveTo>
                  <a:pt x="0" y="0"/>
                </a:moveTo>
                <a:lnTo>
                  <a:pt x="8572500" y="0"/>
                </a:lnTo>
                <a:lnTo>
                  <a:pt x="8572500" y="8191500"/>
                </a:lnTo>
                <a:lnTo>
                  <a:pt x="0" y="8191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4938" t="0" r="-34938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8" id="8"/>
          <p:cNvSpPr txBox="true"/>
          <p:nvPr/>
        </p:nvSpPr>
        <p:spPr>
          <a:xfrm rot="0">
            <a:off x="1162050" y="466725"/>
            <a:ext cx="57150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240">
                <a:solidFill>
                  <a:srgbClr val="5C6B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CITAJUSTA · FASE 1 / 02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668000" y="466725"/>
            <a:ext cx="66675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 spc="240">
                <a:solidFill>
                  <a:srgbClr val="0B1A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Equipo y contexto académico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2500" y="9696450"/>
            <a:ext cx="114300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210">
                <a:solidFill>
                  <a:srgbClr val="5C6B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DUOC UC · INGENIERÍA EN INFORMÁTICA · CAPSTONE 2026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430500" y="9696450"/>
            <a:ext cx="19050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70"/>
              </a:lnSpc>
            </a:pPr>
            <a:r>
              <a:rPr lang="en-US" sz="1050" spc="210">
                <a:solidFill>
                  <a:srgbClr val="5C6B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096500" y="1390650"/>
            <a:ext cx="38100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25">
                <a:solidFill>
                  <a:srgbClr val="E8443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 · EQUIPO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06000" y="1914525"/>
            <a:ext cx="7429500" cy="1437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8"/>
              </a:lnSpc>
            </a:pPr>
            <a:r>
              <a:rPr lang="en-US" sz="5400" b="true">
                <a:solidFill>
                  <a:srgbClr val="0B1A2B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Tres estudiantes, un objetivo común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096500" y="3762375"/>
            <a:ext cx="6858000" cy="881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650">
                <a:solidFill>
                  <a:srgbClr val="0B1A2B"/>
                </a:solidFill>
                <a:latin typeface="Inter"/>
                <a:ea typeface="Inter"/>
                <a:cs typeface="Inter"/>
                <a:sym typeface="Inter"/>
              </a:rPr>
              <a:t>Estudiantes de último semestre de Ingeniería en Informática en Duoc UC sede Puente Alto, desarrollando el proyecto Capstone bajo un enfoque técnico y colaborativo.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096500" y="5305425"/>
            <a:ext cx="38100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216">
                <a:solidFill>
                  <a:srgbClr val="5C6B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INTEGRANTES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096500" y="5562600"/>
            <a:ext cx="3810000" cy="93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B1A2B"/>
                </a:solidFill>
                <a:latin typeface="Inter"/>
                <a:ea typeface="Inter"/>
                <a:cs typeface="Inter"/>
                <a:sym typeface="Inter"/>
              </a:rPr>
              <a:t>Matías Torres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B1A2B"/>
                </a:solidFill>
                <a:latin typeface="Inter"/>
                <a:ea typeface="Inter"/>
                <a:cs typeface="Inter"/>
                <a:sym typeface="Inter"/>
              </a:rPr>
              <a:t>Bastian Sepúlveda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B1A2B"/>
                </a:solidFill>
                <a:latin typeface="Inter"/>
                <a:ea typeface="Inter"/>
                <a:cs typeface="Inter"/>
                <a:sym typeface="Inter"/>
              </a:rPr>
              <a:t>Diego Simón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906500" y="5305425"/>
            <a:ext cx="38100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216">
                <a:solidFill>
                  <a:srgbClr val="5C6B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CARRERA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906500" y="5562600"/>
            <a:ext cx="3810000" cy="93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B1A2B"/>
                </a:solidFill>
                <a:latin typeface="Inter"/>
                <a:ea typeface="Inter"/>
                <a:cs typeface="Inter"/>
                <a:sym typeface="Inter"/>
              </a:rPr>
              <a:t>Ingeniería en Informática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B1A2B"/>
                </a:solidFill>
                <a:latin typeface="Inter"/>
                <a:ea typeface="Inter"/>
                <a:cs typeface="Inter"/>
                <a:sym typeface="Inter"/>
              </a:rPr>
              <a:t>8° semestre 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B1A2B"/>
                </a:solidFill>
                <a:latin typeface="Inter"/>
                <a:ea typeface="Inter"/>
                <a:cs typeface="Inter"/>
                <a:sym typeface="Inter"/>
              </a:rPr>
              <a:t>Capstone APT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096500" y="7400925"/>
            <a:ext cx="38100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216">
                <a:solidFill>
                  <a:srgbClr val="5C6B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SEDE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096500" y="7658100"/>
            <a:ext cx="4762500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B1A2B"/>
                </a:solidFill>
                <a:latin typeface="Inter"/>
                <a:ea typeface="Inter"/>
                <a:cs typeface="Inter"/>
                <a:sym typeface="Inter"/>
              </a:rPr>
              <a:t>Duoc UC · Puente Alto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B1A2B"/>
                </a:solidFill>
                <a:latin typeface="Inter"/>
                <a:ea typeface="Inter"/>
                <a:cs typeface="Inter"/>
                <a:sym typeface="Inter"/>
              </a:rPr>
              <a:t>Región Metropolitana, Chile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00" y="457200"/>
            <a:ext cx="57150" cy="266700"/>
            <a:chOff x="0" y="0"/>
            <a:chExt cx="76200" cy="35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6200" cy="355600"/>
            </a:xfrm>
            <a:custGeom>
              <a:avLst/>
              <a:gdLst/>
              <a:ahLst/>
              <a:cxnLst/>
              <a:rect r="r" b="b" t="t" l="l"/>
              <a:pathLst>
                <a:path h="355600" w="76200">
                  <a:moveTo>
                    <a:pt x="0" y="0"/>
                  </a:moveTo>
                  <a:lnTo>
                    <a:pt x="76200" y="0"/>
                  </a:lnTo>
                  <a:lnTo>
                    <a:pt x="76200" y="35560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E84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6200" cy="393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162050" y="466725"/>
            <a:ext cx="57150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240">
                <a:solidFill>
                  <a:srgbClr val="5C6B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CITAJUSTA · FASE 1 / 03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668000" y="466725"/>
            <a:ext cx="66675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 spc="240">
                <a:solidFill>
                  <a:srgbClr val="0B1A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Descripción general del proyecto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52500" y="9696450"/>
            <a:ext cx="114300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210">
                <a:solidFill>
                  <a:srgbClr val="5C6B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DUOC UC · INGENIERÍA EN INFORMÁTICA · CAPSTONE 2026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430500" y="9696450"/>
            <a:ext cx="19050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70"/>
              </a:lnSpc>
            </a:pPr>
            <a:r>
              <a:rPr lang="en-US" sz="1050" spc="210">
                <a:solidFill>
                  <a:srgbClr val="5C6B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</a:p>
        </p:txBody>
      </p:sp>
      <p:sp>
        <p:nvSpPr>
          <p:cNvPr name="AutoShape 9" id="9"/>
          <p:cNvSpPr/>
          <p:nvPr/>
        </p:nvSpPr>
        <p:spPr>
          <a:xfrm>
            <a:off x="952500" y="857250"/>
            <a:ext cx="16383000" cy="0"/>
          </a:xfrm>
          <a:prstGeom prst="line">
            <a:avLst/>
          </a:prstGeom>
          <a:ln cap="flat" w="9525">
            <a:solidFill>
              <a:srgbClr val="D6DDE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952500" y="9544050"/>
            <a:ext cx="16383000" cy="0"/>
          </a:xfrm>
          <a:prstGeom prst="line">
            <a:avLst/>
          </a:prstGeom>
          <a:ln cap="flat" w="9525">
            <a:solidFill>
              <a:srgbClr val="D6DDE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952500" y="1200150"/>
            <a:ext cx="38100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25">
                <a:solidFill>
                  <a:srgbClr val="E8443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 · PROYECTO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2500" y="1695450"/>
            <a:ext cx="15240000" cy="1437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8"/>
              </a:lnSpc>
            </a:pPr>
            <a:r>
              <a:rPr lang="en-US" sz="5400" b="true">
                <a:solidFill>
                  <a:srgbClr val="0B1A2B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Plataforma web y de escritorio para</a:t>
            </a:r>
          </a:p>
          <a:p>
            <a:pPr algn="l">
              <a:lnSpc>
                <a:spcPts val="5508"/>
              </a:lnSpc>
            </a:pPr>
            <a:r>
              <a:rPr lang="en-US" sz="5400" b="true">
                <a:solidFill>
                  <a:srgbClr val="0B1A2B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gestión inteligente de citas.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52500" y="3190875"/>
            <a:ext cx="11430000" cy="683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5C6B7A"/>
                </a:solidFill>
                <a:latin typeface="Inter"/>
                <a:ea typeface="Inter"/>
                <a:cs typeface="Inter"/>
                <a:sym typeface="Inter"/>
              </a:rPr>
              <a:t>CitaJusta optimiza la recuperación y reasignación automática de cupos cancelados, integrando listas de espera activas, priorización y trazabilidad.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52500" y="4953000"/>
            <a:ext cx="5334000" cy="3238500"/>
            <a:chOff x="0" y="0"/>
            <a:chExt cx="7112000" cy="4318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112000" cy="4318000"/>
            </a:xfrm>
            <a:custGeom>
              <a:avLst/>
              <a:gdLst/>
              <a:ahLst/>
              <a:cxnLst/>
              <a:rect r="r" b="b" t="t" l="l"/>
              <a:pathLst>
                <a:path h="4318000" w="7112000">
                  <a:moveTo>
                    <a:pt x="0" y="0"/>
                  </a:moveTo>
                  <a:lnTo>
                    <a:pt x="7112000" y="0"/>
                  </a:lnTo>
                  <a:lnTo>
                    <a:pt x="7112000" y="4318000"/>
                  </a:lnTo>
                  <a:lnTo>
                    <a:pt x="0" y="4318000"/>
                  </a:lnTo>
                  <a:close/>
                </a:path>
              </a:pathLst>
            </a:custGeom>
            <a:solidFill>
              <a:srgbClr val="F4F6F8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7112000" cy="435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52500" y="4953000"/>
            <a:ext cx="5334000" cy="38100"/>
            <a:chOff x="0" y="0"/>
            <a:chExt cx="7112000" cy="50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112000" cy="50800"/>
            </a:xfrm>
            <a:custGeom>
              <a:avLst/>
              <a:gdLst/>
              <a:ahLst/>
              <a:cxnLst/>
              <a:rect r="r" b="b" t="t" l="l"/>
              <a:pathLst>
                <a:path h="50800" w="7112000">
                  <a:moveTo>
                    <a:pt x="0" y="0"/>
                  </a:moveTo>
                  <a:lnTo>
                    <a:pt x="7112000" y="0"/>
                  </a:lnTo>
                  <a:lnTo>
                    <a:pt x="71120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E84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7112000" cy="88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477000" y="4953000"/>
            <a:ext cx="5334000" cy="3238500"/>
            <a:chOff x="0" y="0"/>
            <a:chExt cx="7112000" cy="4318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112000" cy="4318000"/>
            </a:xfrm>
            <a:custGeom>
              <a:avLst/>
              <a:gdLst/>
              <a:ahLst/>
              <a:cxnLst/>
              <a:rect r="r" b="b" t="t" l="l"/>
              <a:pathLst>
                <a:path h="4318000" w="7112000">
                  <a:moveTo>
                    <a:pt x="0" y="0"/>
                  </a:moveTo>
                  <a:lnTo>
                    <a:pt x="7112000" y="0"/>
                  </a:lnTo>
                  <a:lnTo>
                    <a:pt x="7112000" y="4318000"/>
                  </a:lnTo>
                  <a:lnTo>
                    <a:pt x="0" y="4318000"/>
                  </a:lnTo>
                  <a:close/>
                </a:path>
              </a:pathLst>
            </a:custGeom>
            <a:solidFill>
              <a:srgbClr val="F4F6F8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7112000" cy="435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477000" y="4953000"/>
            <a:ext cx="5334000" cy="38100"/>
            <a:chOff x="0" y="0"/>
            <a:chExt cx="7112000" cy="50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112000" cy="50800"/>
            </a:xfrm>
            <a:custGeom>
              <a:avLst/>
              <a:gdLst/>
              <a:ahLst/>
              <a:cxnLst/>
              <a:rect r="r" b="b" t="t" l="l"/>
              <a:pathLst>
                <a:path h="50800" w="7112000">
                  <a:moveTo>
                    <a:pt x="0" y="0"/>
                  </a:moveTo>
                  <a:lnTo>
                    <a:pt x="7112000" y="0"/>
                  </a:lnTo>
                  <a:lnTo>
                    <a:pt x="71120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E84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7112000" cy="88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001500" y="4953000"/>
            <a:ext cx="5334000" cy="3238500"/>
            <a:chOff x="0" y="0"/>
            <a:chExt cx="7112000" cy="4318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112000" cy="4318000"/>
            </a:xfrm>
            <a:custGeom>
              <a:avLst/>
              <a:gdLst/>
              <a:ahLst/>
              <a:cxnLst/>
              <a:rect r="r" b="b" t="t" l="l"/>
              <a:pathLst>
                <a:path h="4318000" w="7112000">
                  <a:moveTo>
                    <a:pt x="0" y="0"/>
                  </a:moveTo>
                  <a:lnTo>
                    <a:pt x="7112000" y="0"/>
                  </a:lnTo>
                  <a:lnTo>
                    <a:pt x="7112000" y="4318000"/>
                  </a:lnTo>
                  <a:lnTo>
                    <a:pt x="0" y="4318000"/>
                  </a:lnTo>
                  <a:close/>
                </a:path>
              </a:pathLst>
            </a:custGeom>
            <a:solidFill>
              <a:srgbClr val="F4F6F8"/>
            </a:solidFill>
            <a:ln cap="sq">
              <a:noFill/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7112000" cy="435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2001500" y="4953000"/>
            <a:ext cx="5334000" cy="38100"/>
            <a:chOff x="0" y="0"/>
            <a:chExt cx="7112000" cy="50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112000" cy="50800"/>
            </a:xfrm>
            <a:custGeom>
              <a:avLst/>
              <a:gdLst/>
              <a:ahLst/>
              <a:cxnLst/>
              <a:rect r="r" b="b" t="t" l="l"/>
              <a:pathLst>
                <a:path h="50800" w="7112000">
                  <a:moveTo>
                    <a:pt x="0" y="0"/>
                  </a:moveTo>
                  <a:lnTo>
                    <a:pt x="7112000" y="0"/>
                  </a:lnTo>
                  <a:lnTo>
                    <a:pt x="71120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E84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7112000" cy="88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257300" y="5238750"/>
            <a:ext cx="9525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270">
                <a:solidFill>
                  <a:srgbClr val="E8443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57300" y="5743575"/>
            <a:ext cx="472440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000" b="true">
                <a:solidFill>
                  <a:srgbClr val="0B1A2B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Web + Escritorio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57300" y="6619875"/>
            <a:ext cx="4724400" cy="585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650">
                <a:solidFill>
                  <a:srgbClr val="0B1A2B"/>
                </a:solidFill>
                <a:latin typeface="Inter"/>
                <a:ea typeface="Inter"/>
                <a:cs typeface="Inter"/>
                <a:sym typeface="Inter"/>
              </a:rPr>
              <a:t>Aplicación web para usuarios finales y cliente de escritorio para operación institucional.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781800" y="5238750"/>
            <a:ext cx="9525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270">
                <a:solidFill>
                  <a:srgbClr val="E8443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781800" y="5743575"/>
            <a:ext cx="472440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000" b="true">
                <a:solidFill>
                  <a:srgbClr val="0B1A2B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Motor de reasignación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781800" y="6619875"/>
            <a:ext cx="4724400" cy="585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650">
                <a:solidFill>
                  <a:srgbClr val="0B1A2B"/>
                </a:solidFill>
                <a:latin typeface="Inter"/>
                <a:ea typeface="Inter"/>
                <a:cs typeface="Inter"/>
                <a:sym typeface="Inter"/>
              </a:rPr>
              <a:t>Detección automática de cancelaciones y oferta priorizada a lista de espera.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306300" y="5238750"/>
            <a:ext cx="9525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270">
                <a:solidFill>
                  <a:srgbClr val="E8443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306300" y="5743575"/>
            <a:ext cx="472440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000" b="true">
                <a:solidFill>
                  <a:srgbClr val="0B1A2B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Áreas de desempeño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306300" y="6619875"/>
            <a:ext cx="4724400" cy="585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650">
                <a:solidFill>
                  <a:srgbClr val="0B1A2B"/>
                </a:solidFill>
                <a:latin typeface="Inter"/>
                <a:ea typeface="Inter"/>
                <a:cs typeface="Inter"/>
                <a:sym typeface="Inter"/>
              </a:rPr>
              <a:t>Ingeniería de software, automatización de procesos y gestión de información.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00" y="457200"/>
            <a:ext cx="57150" cy="266700"/>
            <a:chOff x="0" y="0"/>
            <a:chExt cx="76200" cy="35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6200" cy="355600"/>
            </a:xfrm>
            <a:custGeom>
              <a:avLst/>
              <a:gdLst/>
              <a:ahLst/>
              <a:cxnLst/>
              <a:rect r="r" b="b" t="t" l="l"/>
              <a:pathLst>
                <a:path h="355600" w="76200">
                  <a:moveTo>
                    <a:pt x="0" y="0"/>
                  </a:moveTo>
                  <a:lnTo>
                    <a:pt x="76200" y="0"/>
                  </a:lnTo>
                  <a:lnTo>
                    <a:pt x="76200" y="35560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E84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6200" cy="393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162050" y="466725"/>
            <a:ext cx="57150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240">
                <a:solidFill>
                  <a:srgbClr val="5C6B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CITAJUSTA · FASE 1 / 04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668000" y="466725"/>
            <a:ext cx="66675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 spc="240">
                <a:solidFill>
                  <a:srgbClr val="0B1A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Problema central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52500" y="9696450"/>
            <a:ext cx="114300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210">
                <a:solidFill>
                  <a:srgbClr val="5C6B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DUOC UC · INGENIERÍA EN INFORMÁTICA · CAPSTONE 2026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430500" y="9696450"/>
            <a:ext cx="19050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70"/>
              </a:lnSpc>
            </a:pPr>
            <a:r>
              <a:rPr lang="en-US" sz="1050" spc="210">
                <a:solidFill>
                  <a:srgbClr val="5C6B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</a:t>
            </a:r>
          </a:p>
        </p:txBody>
      </p:sp>
      <p:sp>
        <p:nvSpPr>
          <p:cNvPr name="AutoShape 9" id="9"/>
          <p:cNvSpPr/>
          <p:nvPr/>
        </p:nvSpPr>
        <p:spPr>
          <a:xfrm>
            <a:off x="952500" y="857250"/>
            <a:ext cx="16383000" cy="0"/>
          </a:xfrm>
          <a:prstGeom prst="line">
            <a:avLst/>
          </a:prstGeom>
          <a:ln cap="flat" w="9525">
            <a:solidFill>
              <a:srgbClr val="D6DDE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952500" y="9544050"/>
            <a:ext cx="16383000" cy="0"/>
          </a:xfrm>
          <a:prstGeom prst="line">
            <a:avLst/>
          </a:prstGeom>
          <a:ln cap="flat" w="9525">
            <a:solidFill>
              <a:srgbClr val="D6DDE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11430000" y="1238250"/>
            <a:ext cx="5905500" cy="8191500"/>
          </a:xfrm>
          <a:custGeom>
            <a:avLst/>
            <a:gdLst/>
            <a:ahLst/>
            <a:cxnLst/>
            <a:rect r="r" b="b" t="t" l="l"/>
            <a:pathLst>
              <a:path h="8191500" w="5905500">
                <a:moveTo>
                  <a:pt x="0" y="0"/>
                </a:moveTo>
                <a:lnTo>
                  <a:pt x="5905500" y="0"/>
                </a:lnTo>
                <a:lnTo>
                  <a:pt x="5905500" y="8191500"/>
                </a:lnTo>
                <a:lnTo>
                  <a:pt x="0" y="8191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103" r="0" b="-4103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2" id="12"/>
          <p:cNvSpPr txBox="true"/>
          <p:nvPr/>
        </p:nvSpPr>
        <p:spPr>
          <a:xfrm rot="0">
            <a:off x="952500" y="1390650"/>
            <a:ext cx="38100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25">
                <a:solidFill>
                  <a:srgbClr val="E8443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 · PROBLEMA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52500" y="1981200"/>
            <a:ext cx="10477500" cy="2055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8"/>
              </a:lnSpc>
            </a:pPr>
            <a:r>
              <a:rPr lang="en-US" sz="8100" b="true">
                <a:solidFill>
                  <a:srgbClr val="0B1A2B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Cupos que se pierden</a:t>
            </a:r>
          </a:p>
          <a:p>
            <a:pPr algn="l">
              <a:lnSpc>
                <a:spcPts val="7938"/>
              </a:lnSpc>
            </a:pPr>
            <a:r>
              <a:rPr lang="en-US" sz="8100" b="true">
                <a:solidFill>
                  <a:srgbClr val="0B1A2B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en silencio.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52500" y="4724400"/>
            <a:ext cx="57150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E8443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14500" y="4714875"/>
            <a:ext cx="8572500" cy="683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0B1A2B"/>
                </a:solidFill>
                <a:latin typeface="Inter"/>
                <a:ea typeface="Inter"/>
                <a:cs typeface="Inter"/>
                <a:sym typeface="Inter"/>
              </a:rPr>
              <a:t>Pérdida de cupos de atención por cancelaciones tardías e inasistencias no gestionadas.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52500" y="6057900"/>
            <a:ext cx="57150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E8443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14500" y="6048375"/>
            <a:ext cx="8572500" cy="683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0B1A2B"/>
                </a:solidFill>
                <a:latin typeface="Inter"/>
                <a:ea typeface="Inter"/>
                <a:cs typeface="Inter"/>
                <a:sym typeface="Inter"/>
              </a:rPr>
              <a:t>Ineficiencia en la reasignación manual: llamadas, correos y tareas administrativas repetitivas.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52500" y="7391400"/>
            <a:ext cx="57150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E8443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714500" y="7381875"/>
            <a:ext cx="8572500" cy="683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0B1A2B"/>
                </a:solidFill>
                <a:latin typeface="Inter"/>
                <a:ea typeface="Inter"/>
                <a:cs typeface="Inter"/>
                <a:sym typeface="Inter"/>
              </a:rPr>
              <a:t>Poca trazabilidad y desconexión entre agendas y listas de espera institucionales.</a:t>
            </a:r>
          </a:p>
        </p:txBody>
      </p:sp>
      <p:sp>
        <p:nvSpPr>
          <p:cNvPr name="AutoShape 20" id="20"/>
          <p:cNvSpPr/>
          <p:nvPr/>
        </p:nvSpPr>
        <p:spPr>
          <a:xfrm>
            <a:off x="952500" y="4476750"/>
            <a:ext cx="9525000" cy="0"/>
          </a:xfrm>
          <a:prstGeom prst="line">
            <a:avLst/>
          </a:prstGeom>
          <a:ln cap="flat" w="9525">
            <a:solidFill>
              <a:srgbClr val="D6DDE4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00" y="457200"/>
            <a:ext cx="57150" cy="266700"/>
            <a:chOff x="0" y="0"/>
            <a:chExt cx="76200" cy="35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6200" cy="355600"/>
            </a:xfrm>
            <a:custGeom>
              <a:avLst/>
              <a:gdLst/>
              <a:ahLst/>
              <a:cxnLst/>
              <a:rect r="r" b="b" t="t" l="l"/>
              <a:pathLst>
                <a:path h="355600" w="76200">
                  <a:moveTo>
                    <a:pt x="0" y="0"/>
                  </a:moveTo>
                  <a:lnTo>
                    <a:pt x="76200" y="0"/>
                  </a:lnTo>
                  <a:lnTo>
                    <a:pt x="76200" y="35560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E84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6200" cy="393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162050" y="466725"/>
            <a:ext cx="57150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240">
                <a:solidFill>
                  <a:srgbClr val="5C6B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CITAJUSTA · FASE 1 / 05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668000" y="466725"/>
            <a:ext cx="66675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 spc="240">
                <a:solidFill>
                  <a:srgbClr val="0B1A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Oportunidad y necesidad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52500" y="9696450"/>
            <a:ext cx="114300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210">
                <a:solidFill>
                  <a:srgbClr val="5C6B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DUOC UC · INGENIERÍA EN INFORMÁTICA · CAPSTONE 2026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430500" y="9696450"/>
            <a:ext cx="19050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70"/>
              </a:lnSpc>
            </a:pPr>
            <a:r>
              <a:rPr lang="en-US" sz="1050" spc="210">
                <a:solidFill>
                  <a:srgbClr val="5C6B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05</a:t>
            </a:r>
          </a:p>
        </p:txBody>
      </p:sp>
      <p:sp>
        <p:nvSpPr>
          <p:cNvPr name="AutoShape 9" id="9"/>
          <p:cNvSpPr/>
          <p:nvPr/>
        </p:nvSpPr>
        <p:spPr>
          <a:xfrm>
            <a:off x="952500" y="857250"/>
            <a:ext cx="16383000" cy="0"/>
          </a:xfrm>
          <a:prstGeom prst="line">
            <a:avLst/>
          </a:prstGeom>
          <a:ln cap="flat" w="9525">
            <a:solidFill>
              <a:srgbClr val="D6DDE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952500" y="9544050"/>
            <a:ext cx="16383000" cy="0"/>
          </a:xfrm>
          <a:prstGeom prst="line">
            <a:avLst/>
          </a:prstGeom>
          <a:ln cap="flat" w="9525">
            <a:solidFill>
              <a:srgbClr val="D6DDE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952500" y="1200150"/>
            <a:ext cx="38100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25">
                <a:solidFill>
                  <a:srgbClr val="E8443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 · OPORTUNIDAD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2500" y="1695450"/>
            <a:ext cx="15240000" cy="1437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8"/>
              </a:lnSpc>
            </a:pPr>
            <a:r>
              <a:rPr lang="en-US" sz="5400" b="true">
                <a:solidFill>
                  <a:srgbClr val="0B1A2B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Convertir cancelaciones</a:t>
            </a:r>
          </a:p>
          <a:p>
            <a:pPr algn="l">
              <a:lnSpc>
                <a:spcPts val="5508"/>
              </a:lnSpc>
            </a:pPr>
            <a:r>
              <a:rPr lang="en-US" sz="5400" b="true">
                <a:solidFill>
                  <a:srgbClr val="0B1A2B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en nuevas atenciones.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52500" y="4381500"/>
            <a:ext cx="5334000" cy="4191000"/>
            <a:chOff x="0" y="0"/>
            <a:chExt cx="7112000" cy="5588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112000" cy="5588000"/>
            </a:xfrm>
            <a:custGeom>
              <a:avLst/>
              <a:gdLst/>
              <a:ahLst/>
              <a:cxnLst/>
              <a:rect r="r" b="b" t="t" l="l"/>
              <a:pathLst>
                <a:path h="5588000" w="7112000">
                  <a:moveTo>
                    <a:pt x="0" y="0"/>
                  </a:moveTo>
                  <a:lnTo>
                    <a:pt x="7112000" y="0"/>
                  </a:lnTo>
                  <a:lnTo>
                    <a:pt x="7112000" y="5588000"/>
                  </a:lnTo>
                  <a:lnTo>
                    <a:pt x="0" y="5588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7112000" cy="562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52500" y="8534400"/>
            <a:ext cx="762000" cy="38100"/>
            <a:chOff x="0" y="0"/>
            <a:chExt cx="1016000" cy="50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16000" cy="50800"/>
            </a:xfrm>
            <a:custGeom>
              <a:avLst/>
              <a:gdLst/>
              <a:ahLst/>
              <a:cxnLst/>
              <a:rect r="r" b="b" t="t" l="l"/>
              <a:pathLst>
                <a:path h="50800" w="1016000">
                  <a:moveTo>
                    <a:pt x="0" y="0"/>
                  </a:moveTo>
                  <a:lnTo>
                    <a:pt x="1016000" y="0"/>
                  </a:lnTo>
                  <a:lnTo>
                    <a:pt x="10160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E84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016000" cy="88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477000" y="4381500"/>
            <a:ext cx="5334000" cy="4191000"/>
            <a:chOff x="0" y="0"/>
            <a:chExt cx="7112000" cy="5588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112000" cy="5588000"/>
            </a:xfrm>
            <a:custGeom>
              <a:avLst/>
              <a:gdLst/>
              <a:ahLst/>
              <a:cxnLst/>
              <a:rect r="r" b="b" t="t" l="l"/>
              <a:pathLst>
                <a:path h="5588000" w="7112000">
                  <a:moveTo>
                    <a:pt x="0" y="0"/>
                  </a:moveTo>
                  <a:lnTo>
                    <a:pt x="7112000" y="0"/>
                  </a:lnTo>
                  <a:lnTo>
                    <a:pt x="7112000" y="5588000"/>
                  </a:lnTo>
                  <a:lnTo>
                    <a:pt x="0" y="5588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7112000" cy="562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477000" y="8534400"/>
            <a:ext cx="762000" cy="38100"/>
            <a:chOff x="0" y="0"/>
            <a:chExt cx="1016000" cy="50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16000" cy="50800"/>
            </a:xfrm>
            <a:custGeom>
              <a:avLst/>
              <a:gdLst/>
              <a:ahLst/>
              <a:cxnLst/>
              <a:rect r="r" b="b" t="t" l="l"/>
              <a:pathLst>
                <a:path h="50800" w="1016000">
                  <a:moveTo>
                    <a:pt x="0" y="0"/>
                  </a:moveTo>
                  <a:lnTo>
                    <a:pt x="1016000" y="0"/>
                  </a:lnTo>
                  <a:lnTo>
                    <a:pt x="10160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E84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016000" cy="88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001500" y="4381500"/>
            <a:ext cx="5334000" cy="4191000"/>
            <a:chOff x="0" y="0"/>
            <a:chExt cx="7112000" cy="5588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112000" cy="5588000"/>
            </a:xfrm>
            <a:custGeom>
              <a:avLst/>
              <a:gdLst/>
              <a:ahLst/>
              <a:cxnLst/>
              <a:rect r="r" b="b" t="t" l="l"/>
              <a:pathLst>
                <a:path h="5588000" w="7112000">
                  <a:moveTo>
                    <a:pt x="0" y="0"/>
                  </a:moveTo>
                  <a:lnTo>
                    <a:pt x="7112000" y="0"/>
                  </a:lnTo>
                  <a:lnTo>
                    <a:pt x="7112000" y="5588000"/>
                  </a:lnTo>
                  <a:lnTo>
                    <a:pt x="0" y="5588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7112000" cy="562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001500" y="8534400"/>
            <a:ext cx="762000" cy="38100"/>
            <a:chOff x="0" y="0"/>
            <a:chExt cx="1016000" cy="50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16000" cy="50800"/>
            </a:xfrm>
            <a:custGeom>
              <a:avLst/>
              <a:gdLst/>
              <a:ahLst/>
              <a:cxnLst/>
              <a:rect r="r" b="b" t="t" l="l"/>
              <a:pathLst>
                <a:path h="50800" w="1016000">
                  <a:moveTo>
                    <a:pt x="0" y="0"/>
                  </a:moveTo>
                  <a:lnTo>
                    <a:pt x="1016000" y="0"/>
                  </a:lnTo>
                  <a:lnTo>
                    <a:pt x="10160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E84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1016000" cy="88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333500" y="4686300"/>
            <a:ext cx="76200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>
                <a:solidFill>
                  <a:srgbClr val="E8443A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→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33500" y="5924550"/>
            <a:ext cx="4572000" cy="386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700" b="true">
                <a:solidFill>
                  <a:srgbClr val="0B1A2B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Conexión automática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33500" y="6810375"/>
            <a:ext cx="4572000" cy="585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650">
                <a:solidFill>
                  <a:srgbClr val="0B1A2B"/>
                </a:solidFill>
                <a:latin typeface="Inter"/>
                <a:ea typeface="Inter"/>
                <a:cs typeface="Inter"/>
                <a:sym typeface="Inter"/>
              </a:rPr>
              <a:t>Cupos liberados se ofrecen en segundos a usuarios priorizados en lista de espera.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858000" y="4686300"/>
            <a:ext cx="76200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>
                <a:solidFill>
                  <a:srgbClr val="E8443A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→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858000" y="5924550"/>
            <a:ext cx="4572000" cy="386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700" b="true">
                <a:solidFill>
                  <a:srgbClr val="0B1A2B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Menos trabajo manual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858000" y="6810375"/>
            <a:ext cx="4572000" cy="585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650">
                <a:solidFill>
                  <a:srgbClr val="0B1A2B"/>
                </a:solidFill>
                <a:latin typeface="Inter"/>
                <a:ea typeface="Inter"/>
                <a:cs typeface="Inter"/>
                <a:sym typeface="Inter"/>
              </a:rPr>
              <a:t>Reduce llamadas, correos y coordinaciones repetitivas del personal administrativo.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382500" y="4686300"/>
            <a:ext cx="76200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>
                <a:solidFill>
                  <a:srgbClr val="E8443A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→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382500" y="5924550"/>
            <a:ext cx="4572000" cy="386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700" b="true">
                <a:solidFill>
                  <a:srgbClr val="0B1A2B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Mejor capacidad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382500" y="6810375"/>
            <a:ext cx="4572000" cy="585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650">
                <a:solidFill>
                  <a:srgbClr val="0B1A2B"/>
                </a:solidFill>
                <a:latin typeface="Inter"/>
                <a:ea typeface="Inter"/>
                <a:cs typeface="Inter"/>
                <a:sym typeface="Inter"/>
              </a:rPr>
              <a:t>Optimiza el uso instalado y mejora la experiencia de pacientes e instituciones.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00" y="457200"/>
            <a:ext cx="57150" cy="266700"/>
            <a:chOff x="0" y="0"/>
            <a:chExt cx="76200" cy="35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6200" cy="355600"/>
            </a:xfrm>
            <a:custGeom>
              <a:avLst/>
              <a:gdLst/>
              <a:ahLst/>
              <a:cxnLst/>
              <a:rect r="r" b="b" t="t" l="l"/>
              <a:pathLst>
                <a:path h="355600" w="76200">
                  <a:moveTo>
                    <a:pt x="0" y="0"/>
                  </a:moveTo>
                  <a:lnTo>
                    <a:pt x="76200" y="0"/>
                  </a:lnTo>
                  <a:lnTo>
                    <a:pt x="76200" y="35560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E84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6200" cy="393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162050" y="466725"/>
            <a:ext cx="57150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240">
                <a:solidFill>
                  <a:srgbClr val="5C6B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CITAJUSTA · FASE 1 / 06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668000" y="466725"/>
            <a:ext cx="66675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 spc="240">
                <a:solidFill>
                  <a:srgbClr val="0B1A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Fundamentación del proyecto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52500" y="9696450"/>
            <a:ext cx="114300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210">
                <a:solidFill>
                  <a:srgbClr val="5C6B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DUOC UC · INGENIERÍA EN INFORMÁTICA · CAPSTONE 2026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430500" y="9696450"/>
            <a:ext cx="19050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70"/>
              </a:lnSpc>
            </a:pPr>
            <a:r>
              <a:rPr lang="en-US" sz="1050" spc="210">
                <a:solidFill>
                  <a:srgbClr val="5C6B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06</a:t>
            </a:r>
          </a:p>
        </p:txBody>
      </p:sp>
      <p:sp>
        <p:nvSpPr>
          <p:cNvPr name="AutoShape 9" id="9"/>
          <p:cNvSpPr/>
          <p:nvPr/>
        </p:nvSpPr>
        <p:spPr>
          <a:xfrm>
            <a:off x="952500" y="857250"/>
            <a:ext cx="16383000" cy="0"/>
          </a:xfrm>
          <a:prstGeom prst="line">
            <a:avLst/>
          </a:prstGeom>
          <a:ln cap="flat" w="9525">
            <a:solidFill>
              <a:srgbClr val="D6DDE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952500" y="9544050"/>
            <a:ext cx="16383000" cy="0"/>
          </a:xfrm>
          <a:prstGeom prst="line">
            <a:avLst/>
          </a:prstGeom>
          <a:ln cap="flat" w="9525">
            <a:solidFill>
              <a:srgbClr val="D6DDE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952500" y="1200150"/>
            <a:ext cx="38100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25">
                <a:solidFill>
                  <a:srgbClr val="E8443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05 · FUNDAMENTACIÓN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2500" y="1695450"/>
            <a:ext cx="15240000" cy="1437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8"/>
              </a:lnSpc>
            </a:pPr>
            <a:r>
              <a:rPr lang="en-US" sz="5400" b="true">
                <a:solidFill>
                  <a:srgbClr val="0B1A2B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Cuatro pilares que</a:t>
            </a:r>
          </a:p>
          <a:p>
            <a:pPr algn="l">
              <a:lnSpc>
                <a:spcPts val="5508"/>
              </a:lnSpc>
            </a:pPr>
            <a:r>
              <a:rPr lang="en-US" sz="5400" b="true">
                <a:solidFill>
                  <a:srgbClr val="0B1A2B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sostienen la propuesta.</a:t>
            </a:r>
          </a:p>
        </p:txBody>
      </p:sp>
      <p:sp>
        <p:nvSpPr>
          <p:cNvPr name="AutoShape 13" id="13"/>
          <p:cNvSpPr/>
          <p:nvPr/>
        </p:nvSpPr>
        <p:spPr>
          <a:xfrm>
            <a:off x="952500" y="4191000"/>
            <a:ext cx="0" cy="2095500"/>
          </a:xfrm>
          <a:prstGeom prst="line">
            <a:avLst/>
          </a:prstGeom>
          <a:ln cap="flat" w="28575">
            <a:solidFill>
              <a:srgbClr val="E8443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9334500" y="4191000"/>
            <a:ext cx="0" cy="2095500"/>
          </a:xfrm>
          <a:prstGeom prst="line">
            <a:avLst/>
          </a:prstGeom>
          <a:ln cap="flat" w="28575">
            <a:solidFill>
              <a:srgbClr val="E8443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952500" y="6572250"/>
            <a:ext cx="0" cy="2095500"/>
          </a:xfrm>
          <a:prstGeom prst="line">
            <a:avLst/>
          </a:prstGeom>
          <a:ln cap="flat" w="28575">
            <a:solidFill>
              <a:srgbClr val="E8443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9334500" y="6572250"/>
            <a:ext cx="0" cy="2095500"/>
          </a:xfrm>
          <a:prstGeom prst="line">
            <a:avLst/>
          </a:prstGeom>
          <a:ln cap="flat" w="28575">
            <a:solidFill>
              <a:srgbClr val="E8443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7" id="17"/>
          <p:cNvSpPr txBox="true"/>
          <p:nvPr/>
        </p:nvSpPr>
        <p:spPr>
          <a:xfrm rot="0">
            <a:off x="1181100" y="4152900"/>
            <a:ext cx="7620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5C6B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81100" y="4552950"/>
            <a:ext cx="762000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5"/>
              </a:lnSpc>
            </a:pPr>
            <a:r>
              <a:rPr lang="en-US" sz="2550" b="true">
                <a:solidFill>
                  <a:srgbClr val="0B1A2B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Relevancia social y técnica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81100" y="5191125"/>
            <a:ext cx="7620000" cy="585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650">
                <a:solidFill>
                  <a:srgbClr val="0B1A2B"/>
                </a:solidFill>
                <a:latin typeface="Inter"/>
                <a:ea typeface="Inter"/>
                <a:cs typeface="Inter"/>
                <a:sym typeface="Inter"/>
              </a:rPr>
              <a:t>Aborda una necesidad real de servicios públicos y privados con impacto directo en usuarios.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563100" y="4152900"/>
            <a:ext cx="7620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5C6B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563100" y="4552950"/>
            <a:ext cx="762000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5"/>
              </a:lnSpc>
            </a:pPr>
            <a:r>
              <a:rPr lang="en-US" sz="2550" b="true">
                <a:solidFill>
                  <a:srgbClr val="0B1A2B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Perfil de egreso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563100" y="5191125"/>
            <a:ext cx="7620000" cy="585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650">
                <a:solidFill>
                  <a:srgbClr val="0B1A2B"/>
                </a:solidFill>
                <a:latin typeface="Inter"/>
                <a:ea typeface="Inter"/>
                <a:cs typeface="Inter"/>
                <a:sym typeface="Inter"/>
              </a:rPr>
              <a:t>Alineado a competencias de Ingeniería en Informática: análisis, diseño y desarrollo de software.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81100" y="6534150"/>
            <a:ext cx="7620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5C6B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81100" y="6934200"/>
            <a:ext cx="762000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5"/>
              </a:lnSpc>
            </a:pPr>
            <a:r>
              <a:rPr lang="en-US" sz="2550" b="true">
                <a:solidFill>
                  <a:srgbClr val="0B1A2B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Interés profesional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81100" y="7572375"/>
            <a:ext cx="7620000" cy="585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650">
                <a:solidFill>
                  <a:srgbClr val="0B1A2B"/>
                </a:solidFill>
                <a:latin typeface="Inter"/>
                <a:ea typeface="Inter"/>
                <a:cs typeface="Inter"/>
                <a:sym typeface="Inter"/>
              </a:rPr>
              <a:t>Consolida competencias en arquitectura, seguridad y experiencia de usuario del equipo.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563100" y="6534150"/>
            <a:ext cx="7620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5C6B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563100" y="6934200"/>
            <a:ext cx="762000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5"/>
              </a:lnSpc>
            </a:pPr>
            <a:r>
              <a:rPr lang="en-US" sz="2550" b="true">
                <a:solidFill>
                  <a:srgbClr val="0B1A2B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Factibilidad técnica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563100" y="7572375"/>
            <a:ext cx="7620000" cy="585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650">
                <a:solidFill>
                  <a:srgbClr val="0B1A2B"/>
                </a:solidFill>
                <a:latin typeface="Inter"/>
                <a:ea typeface="Inter"/>
                <a:cs typeface="Inter"/>
                <a:sym typeface="Inter"/>
              </a:rPr>
              <a:t>Alcance modular alcanzable en el semestre con stack maduro y prácticas ágiles.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0B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00" y="457200"/>
            <a:ext cx="57150" cy="266700"/>
            <a:chOff x="0" y="0"/>
            <a:chExt cx="76200" cy="35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6200" cy="355600"/>
            </a:xfrm>
            <a:custGeom>
              <a:avLst/>
              <a:gdLst/>
              <a:ahLst/>
              <a:cxnLst/>
              <a:rect r="r" b="b" t="t" l="l"/>
              <a:pathLst>
                <a:path h="355600" w="76200">
                  <a:moveTo>
                    <a:pt x="0" y="0"/>
                  </a:moveTo>
                  <a:lnTo>
                    <a:pt x="76200" y="0"/>
                  </a:lnTo>
                  <a:lnTo>
                    <a:pt x="76200" y="35560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E84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6200" cy="393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162050" y="466725"/>
            <a:ext cx="57150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240">
                <a:solidFill>
                  <a:srgbClr val="8FA1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CITAJUSTA · FASE 1 / 07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668000" y="466725"/>
            <a:ext cx="66675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 spc="24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Objetivo general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52500" y="9696450"/>
            <a:ext cx="114300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210">
                <a:solidFill>
                  <a:srgbClr val="8FA1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DUOC UC · INGENIERÍA EN INFORMÁTICA · CAPSTONE 2026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430500" y="9696450"/>
            <a:ext cx="19050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70"/>
              </a:lnSpc>
            </a:pPr>
            <a:r>
              <a:rPr lang="en-US" sz="1050" spc="210">
                <a:solidFill>
                  <a:srgbClr val="8FA1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07</a:t>
            </a:r>
          </a:p>
        </p:txBody>
      </p:sp>
      <p:sp>
        <p:nvSpPr>
          <p:cNvPr name="AutoShape 9" id="9"/>
          <p:cNvSpPr/>
          <p:nvPr/>
        </p:nvSpPr>
        <p:spPr>
          <a:xfrm>
            <a:off x="952500" y="857250"/>
            <a:ext cx="16383000" cy="0"/>
          </a:xfrm>
          <a:prstGeom prst="line">
            <a:avLst/>
          </a:prstGeom>
          <a:ln cap="flat" w="9525">
            <a:solidFill>
              <a:srgbClr val="22354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952500" y="9544050"/>
            <a:ext cx="16383000" cy="0"/>
          </a:xfrm>
          <a:prstGeom prst="line">
            <a:avLst/>
          </a:prstGeom>
          <a:ln cap="flat" w="9525">
            <a:solidFill>
              <a:srgbClr val="22354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952500" y="1390650"/>
            <a:ext cx="47625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25">
                <a:solidFill>
                  <a:srgbClr val="FFB3A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06 · OBJETIVO GENERAL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2500" y="2257425"/>
            <a:ext cx="1905000" cy="2428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0"/>
              </a:lnSpc>
            </a:pPr>
            <a:r>
              <a:rPr lang="en-US" sz="19500">
                <a:solidFill>
                  <a:srgbClr val="E8443A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“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52500" y="3714750"/>
            <a:ext cx="16383000" cy="2680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39"/>
              </a:lnSpc>
            </a:pPr>
            <a:r>
              <a:rPr lang="en-US" sz="5100" b="true">
                <a:solidFill>
                  <a:srgbClr val="C9D3DD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Desarrollar una </a:t>
            </a:r>
            <a:r>
              <a:rPr lang="en-US" sz="5100" b="true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plataforma tecnológica</a:t>
            </a:r>
            <a:r>
              <a:rPr lang="en-US" sz="5100" b="true">
                <a:solidFill>
                  <a:srgbClr val="C9D3DD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 que optimice la gestión de citas, recuperando y reasignando </a:t>
            </a:r>
            <a:r>
              <a:rPr lang="en-US" sz="5100" b="true">
                <a:solidFill>
                  <a:srgbClr val="E8443A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automáticamente</a:t>
            </a:r>
            <a:r>
              <a:rPr lang="en-US" sz="5100" b="true">
                <a:solidFill>
                  <a:srgbClr val="C9D3DD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 los cupos liberados por cancelaciones e inasistencias.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52500" y="8362950"/>
            <a:ext cx="5715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405">
                <a:solidFill>
                  <a:srgbClr val="8FA1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— PROYECTO CITAJUSTA · FASE 1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00" y="457200"/>
            <a:ext cx="57150" cy="266700"/>
            <a:chOff x="0" y="0"/>
            <a:chExt cx="76200" cy="35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6200" cy="355600"/>
            </a:xfrm>
            <a:custGeom>
              <a:avLst/>
              <a:gdLst/>
              <a:ahLst/>
              <a:cxnLst/>
              <a:rect r="r" b="b" t="t" l="l"/>
              <a:pathLst>
                <a:path h="355600" w="76200">
                  <a:moveTo>
                    <a:pt x="0" y="0"/>
                  </a:moveTo>
                  <a:lnTo>
                    <a:pt x="76200" y="0"/>
                  </a:lnTo>
                  <a:lnTo>
                    <a:pt x="76200" y="35560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E84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6200" cy="393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162050" y="466725"/>
            <a:ext cx="57150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240">
                <a:solidFill>
                  <a:srgbClr val="5C6B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CITAJUSTA · FASE 1 / 08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668000" y="466725"/>
            <a:ext cx="66675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 spc="240">
                <a:solidFill>
                  <a:srgbClr val="0B1A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Objetivos específicos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52500" y="9696450"/>
            <a:ext cx="114300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210">
                <a:solidFill>
                  <a:srgbClr val="5C6B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DUOC UC · INGENIERÍA EN INFORMÁTICA · CAPSTONE 2026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430500" y="9696450"/>
            <a:ext cx="19050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70"/>
              </a:lnSpc>
            </a:pPr>
            <a:r>
              <a:rPr lang="en-US" sz="1050" spc="210">
                <a:solidFill>
                  <a:srgbClr val="5C6B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08</a:t>
            </a:r>
          </a:p>
        </p:txBody>
      </p:sp>
      <p:sp>
        <p:nvSpPr>
          <p:cNvPr name="AutoShape 9" id="9"/>
          <p:cNvSpPr/>
          <p:nvPr/>
        </p:nvSpPr>
        <p:spPr>
          <a:xfrm>
            <a:off x="952500" y="857250"/>
            <a:ext cx="16383000" cy="0"/>
          </a:xfrm>
          <a:prstGeom prst="line">
            <a:avLst/>
          </a:prstGeom>
          <a:ln cap="flat" w="9525">
            <a:solidFill>
              <a:srgbClr val="D6DDE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952500" y="9544050"/>
            <a:ext cx="16383000" cy="0"/>
          </a:xfrm>
          <a:prstGeom prst="line">
            <a:avLst/>
          </a:prstGeom>
          <a:ln cap="flat" w="9525">
            <a:solidFill>
              <a:srgbClr val="D6DDE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952500" y="1200150"/>
            <a:ext cx="47625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25">
                <a:solidFill>
                  <a:srgbClr val="E8443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07 · OBJETIVOS ESPECÍFICOS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2500" y="1695450"/>
            <a:ext cx="15240000" cy="742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8"/>
              </a:lnSpc>
            </a:pPr>
            <a:r>
              <a:rPr lang="en-US" sz="5400" b="true">
                <a:solidFill>
                  <a:srgbClr val="0B1A2B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Cuatro frentes de trabajo.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52500" y="3048000"/>
            <a:ext cx="3952875" cy="4572000"/>
            <a:chOff x="0" y="0"/>
            <a:chExt cx="5270500" cy="6096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2705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5270500">
                  <a:moveTo>
                    <a:pt x="0" y="0"/>
                  </a:moveTo>
                  <a:lnTo>
                    <a:pt x="5270500" y="0"/>
                  </a:lnTo>
                  <a:lnTo>
                    <a:pt x="5270500" y="6096000"/>
                  </a:lnTo>
                  <a:lnTo>
                    <a:pt x="0" y="6096000"/>
                  </a:lnTo>
                  <a:close/>
                </a:path>
              </a:pathLst>
            </a:custGeom>
            <a:solidFill>
              <a:srgbClr val="0B1A2B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5270500" cy="613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52500" y="3048000"/>
            <a:ext cx="3952875" cy="57150"/>
            <a:chOff x="0" y="0"/>
            <a:chExt cx="5270500" cy="76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270500" cy="76200"/>
            </a:xfrm>
            <a:custGeom>
              <a:avLst/>
              <a:gdLst/>
              <a:ahLst/>
              <a:cxnLst/>
              <a:rect r="r" b="b" t="t" l="l"/>
              <a:pathLst>
                <a:path h="76200" w="5270500">
                  <a:moveTo>
                    <a:pt x="0" y="0"/>
                  </a:moveTo>
                  <a:lnTo>
                    <a:pt x="5270500" y="0"/>
                  </a:lnTo>
                  <a:lnTo>
                    <a:pt x="52705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E84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5270500" cy="11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095875" y="3048000"/>
            <a:ext cx="3952875" cy="4572000"/>
            <a:chOff x="0" y="0"/>
            <a:chExt cx="5270500" cy="6096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2705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5270500">
                  <a:moveTo>
                    <a:pt x="0" y="0"/>
                  </a:moveTo>
                  <a:lnTo>
                    <a:pt x="5270500" y="0"/>
                  </a:lnTo>
                  <a:lnTo>
                    <a:pt x="5270500" y="6096000"/>
                  </a:lnTo>
                  <a:lnTo>
                    <a:pt x="0" y="6096000"/>
                  </a:lnTo>
                  <a:close/>
                </a:path>
              </a:pathLst>
            </a:custGeom>
            <a:solidFill>
              <a:srgbClr val="0B1A2B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5270500" cy="613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095875" y="3048000"/>
            <a:ext cx="3952875" cy="57150"/>
            <a:chOff x="0" y="0"/>
            <a:chExt cx="5270500" cy="762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270500" cy="76200"/>
            </a:xfrm>
            <a:custGeom>
              <a:avLst/>
              <a:gdLst/>
              <a:ahLst/>
              <a:cxnLst/>
              <a:rect r="r" b="b" t="t" l="l"/>
              <a:pathLst>
                <a:path h="76200" w="5270500">
                  <a:moveTo>
                    <a:pt x="0" y="0"/>
                  </a:moveTo>
                  <a:lnTo>
                    <a:pt x="5270500" y="0"/>
                  </a:lnTo>
                  <a:lnTo>
                    <a:pt x="52705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E84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5270500" cy="11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239250" y="3048000"/>
            <a:ext cx="3952875" cy="4572000"/>
            <a:chOff x="0" y="0"/>
            <a:chExt cx="5270500" cy="6096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2705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5270500">
                  <a:moveTo>
                    <a:pt x="0" y="0"/>
                  </a:moveTo>
                  <a:lnTo>
                    <a:pt x="5270500" y="0"/>
                  </a:lnTo>
                  <a:lnTo>
                    <a:pt x="5270500" y="6096000"/>
                  </a:lnTo>
                  <a:lnTo>
                    <a:pt x="0" y="6096000"/>
                  </a:lnTo>
                  <a:close/>
                </a:path>
              </a:pathLst>
            </a:custGeom>
            <a:solidFill>
              <a:srgbClr val="0B1A2B"/>
            </a:soli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5270500" cy="613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239250" y="3048000"/>
            <a:ext cx="3952875" cy="57150"/>
            <a:chOff x="0" y="0"/>
            <a:chExt cx="5270500" cy="762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270500" cy="76200"/>
            </a:xfrm>
            <a:custGeom>
              <a:avLst/>
              <a:gdLst/>
              <a:ahLst/>
              <a:cxnLst/>
              <a:rect r="r" b="b" t="t" l="l"/>
              <a:pathLst>
                <a:path h="76200" w="5270500">
                  <a:moveTo>
                    <a:pt x="0" y="0"/>
                  </a:moveTo>
                  <a:lnTo>
                    <a:pt x="5270500" y="0"/>
                  </a:lnTo>
                  <a:lnTo>
                    <a:pt x="52705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E84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5270500" cy="11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3382625" y="3048000"/>
            <a:ext cx="3952875" cy="4572000"/>
            <a:chOff x="0" y="0"/>
            <a:chExt cx="5270500" cy="60960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2705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5270500">
                  <a:moveTo>
                    <a:pt x="0" y="0"/>
                  </a:moveTo>
                  <a:lnTo>
                    <a:pt x="5270500" y="0"/>
                  </a:lnTo>
                  <a:lnTo>
                    <a:pt x="5270500" y="6096000"/>
                  </a:lnTo>
                  <a:lnTo>
                    <a:pt x="0" y="6096000"/>
                  </a:lnTo>
                  <a:close/>
                </a:path>
              </a:pathLst>
            </a:custGeom>
            <a:solidFill>
              <a:srgbClr val="0B1A2B"/>
            </a:solidFill>
            <a:ln cap="sq">
              <a:noFill/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5270500" cy="613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3382625" y="3048000"/>
            <a:ext cx="3952875" cy="57150"/>
            <a:chOff x="0" y="0"/>
            <a:chExt cx="5270500" cy="762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270500" cy="76200"/>
            </a:xfrm>
            <a:custGeom>
              <a:avLst/>
              <a:gdLst/>
              <a:ahLst/>
              <a:cxnLst/>
              <a:rect r="r" b="b" t="t" l="l"/>
              <a:pathLst>
                <a:path h="76200" w="5270500">
                  <a:moveTo>
                    <a:pt x="0" y="0"/>
                  </a:moveTo>
                  <a:lnTo>
                    <a:pt x="5270500" y="0"/>
                  </a:lnTo>
                  <a:lnTo>
                    <a:pt x="52705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E84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5270500" cy="11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257300" y="3390900"/>
            <a:ext cx="19050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300">
                <a:solidFill>
                  <a:srgbClr val="FFB3A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OE1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57300" y="3933825"/>
            <a:ext cx="3343275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000" b="true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Diseño de plataforma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57300" y="5476875"/>
            <a:ext cx="3343275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00">
                <a:solidFill>
                  <a:srgbClr val="C9D3DD"/>
                </a:solidFill>
                <a:latin typeface="Inter"/>
                <a:ea typeface="Inter"/>
                <a:cs typeface="Inter"/>
                <a:sym typeface="Inter"/>
              </a:rPr>
              <a:t>Definir arquitectura web y de escritorio con lógica compartida y experiencia coherente.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5400675" y="3390900"/>
            <a:ext cx="19050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300">
                <a:solidFill>
                  <a:srgbClr val="FFB3A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OE2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5400675" y="3933825"/>
            <a:ext cx="3343275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000" b="true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Detección y reasignación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5400675" y="5476875"/>
            <a:ext cx="3343275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00">
                <a:solidFill>
                  <a:srgbClr val="C9D3DD"/>
                </a:solidFill>
                <a:latin typeface="Inter"/>
                <a:ea typeface="Inter"/>
                <a:cs typeface="Inter"/>
                <a:sym typeface="Inter"/>
              </a:rPr>
              <a:t>Implementar detección automática de cupos y motor de reasignación en tiempo real.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544050" y="3390900"/>
            <a:ext cx="19050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300">
                <a:solidFill>
                  <a:srgbClr val="FFB3A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OE3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544050" y="3933825"/>
            <a:ext cx="3343275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000" b="true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Priorización y ofertas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544050" y="5476875"/>
            <a:ext cx="3343275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00">
                <a:solidFill>
                  <a:srgbClr val="C9D3DD"/>
                </a:solidFill>
                <a:latin typeface="Inter"/>
                <a:ea typeface="Inter"/>
                <a:cs typeface="Inter"/>
                <a:sym typeface="Inter"/>
              </a:rPr>
              <a:t>Mecanismos de priorización de espera y ofertas temporales con expiración controlada.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3687425" y="3390900"/>
            <a:ext cx="19050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300">
                <a:solidFill>
                  <a:srgbClr val="FFB3A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OE4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3687425" y="3933825"/>
            <a:ext cx="3343275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000" b="true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Seguridad y validación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3687425" y="5476875"/>
            <a:ext cx="3343275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00">
                <a:solidFill>
                  <a:srgbClr val="C9D3DD"/>
                </a:solidFill>
                <a:latin typeface="Inter"/>
                <a:ea typeface="Inter"/>
                <a:cs typeface="Inter"/>
                <a:sym typeface="Inter"/>
              </a:rPr>
              <a:t>Integrar seguridad, trazabilidad y pruebas automatizadas de extremo a extremo.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00" y="457200"/>
            <a:ext cx="57150" cy="266700"/>
            <a:chOff x="0" y="0"/>
            <a:chExt cx="76200" cy="35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6200" cy="355600"/>
            </a:xfrm>
            <a:custGeom>
              <a:avLst/>
              <a:gdLst/>
              <a:ahLst/>
              <a:cxnLst/>
              <a:rect r="r" b="b" t="t" l="l"/>
              <a:pathLst>
                <a:path h="355600" w="76200">
                  <a:moveTo>
                    <a:pt x="0" y="0"/>
                  </a:moveTo>
                  <a:lnTo>
                    <a:pt x="76200" y="0"/>
                  </a:lnTo>
                  <a:lnTo>
                    <a:pt x="76200" y="35560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E84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6200" cy="393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162050" y="466725"/>
            <a:ext cx="57150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240">
                <a:solidFill>
                  <a:srgbClr val="5C6B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CITAJUSTA · FASE 1 / 09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668000" y="466725"/>
            <a:ext cx="66675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 spc="240">
                <a:solidFill>
                  <a:srgbClr val="0B1A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Metodología Scrum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52500" y="9696450"/>
            <a:ext cx="114300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210">
                <a:solidFill>
                  <a:srgbClr val="5C6B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DUOC UC · INGENIERÍA EN INFORMÁTICA · CAPSTONE 2026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430500" y="9696450"/>
            <a:ext cx="19050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70"/>
              </a:lnSpc>
            </a:pPr>
            <a:r>
              <a:rPr lang="en-US" sz="1050" spc="210">
                <a:solidFill>
                  <a:srgbClr val="5C6B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09</a:t>
            </a:r>
          </a:p>
        </p:txBody>
      </p:sp>
      <p:sp>
        <p:nvSpPr>
          <p:cNvPr name="AutoShape 9" id="9"/>
          <p:cNvSpPr/>
          <p:nvPr/>
        </p:nvSpPr>
        <p:spPr>
          <a:xfrm>
            <a:off x="952500" y="857250"/>
            <a:ext cx="16383000" cy="0"/>
          </a:xfrm>
          <a:prstGeom prst="line">
            <a:avLst/>
          </a:prstGeom>
          <a:ln cap="flat" w="9525">
            <a:solidFill>
              <a:srgbClr val="D6DDE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952500" y="9544050"/>
            <a:ext cx="16383000" cy="0"/>
          </a:xfrm>
          <a:prstGeom prst="line">
            <a:avLst/>
          </a:prstGeom>
          <a:ln cap="flat" w="9525">
            <a:solidFill>
              <a:srgbClr val="D6DDE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952500" y="1200150"/>
            <a:ext cx="38100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25">
                <a:solidFill>
                  <a:srgbClr val="E8443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08 · METODOLOGÍA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2500" y="1695450"/>
            <a:ext cx="8572500" cy="1437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8"/>
              </a:lnSpc>
            </a:pPr>
            <a:r>
              <a:rPr lang="en-US" sz="5400" b="true">
                <a:solidFill>
                  <a:srgbClr val="0B1A2B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Scrum: iteración,</a:t>
            </a:r>
          </a:p>
          <a:p>
            <a:pPr algn="l">
              <a:lnSpc>
                <a:spcPts val="5508"/>
              </a:lnSpc>
            </a:pPr>
            <a:r>
              <a:rPr lang="en-US" sz="5400" b="true">
                <a:solidFill>
                  <a:srgbClr val="0B1A2B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foco y evidencia.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52500" y="3762375"/>
            <a:ext cx="7429500" cy="881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650">
                <a:solidFill>
                  <a:srgbClr val="0B1A2B"/>
                </a:solidFill>
                <a:latin typeface="Inter"/>
                <a:ea typeface="Inter"/>
                <a:cs typeface="Inter"/>
                <a:sym typeface="Inter"/>
              </a:rPr>
              <a:t>Organización del trabajo en sprints con planificación, desarrollo, seguimiento, revisión y ajuste continuo. Roles y responsabilidades definidas dentro del equipo.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0858500" y="3048000"/>
            <a:ext cx="4953000" cy="4953000"/>
            <a:chOff x="0" y="0"/>
            <a:chExt cx="6604000" cy="6604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604000" cy="6604000"/>
            </a:xfrm>
            <a:custGeom>
              <a:avLst/>
              <a:gdLst/>
              <a:ahLst/>
              <a:cxnLst/>
              <a:rect r="r" b="b" t="t" l="l"/>
              <a:pathLst>
                <a:path h="6604000" w="6604000">
                  <a:moveTo>
                    <a:pt x="3302000" y="0"/>
                  </a:moveTo>
                  <a:cubicBezTo>
                    <a:pt x="5125644" y="0"/>
                    <a:pt x="6604000" y="1478356"/>
                    <a:pt x="6604000" y="3302000"/>
                  </a:cubicBezTo>
                  <a:cubicBezTo>
                    <a:pt x="6604000" y="5125644"/>
                    <a:pt x="5125644" y="6604000"/>
                    <a:pt x="3302000" y="6604000"/>
                  </a:cubicBezTo>
                  <a:cubicBezTo>
                    <a:pt x="1478356" y="6604000"/>
                    <a:pt x="0" y="5125644"/>
                    <a:pt x="0" y="3302000"/>
                  </a:cubicBezTo>
                  <a:cubicBezTo>
                    <a:pt x="0" y="1478356"/>
                    <a:pt x="1478356" y="0"/>
                    <a:pt x="3302000" y="0"/>
                  </a:cubicBezTo>
                  <a:close/>
                </a:path>
              </a:pathLst>
            </a:custGeom>
            <a:ln w="19050" cap="sq">
              <a:solidFill>
                <a:srgbClr val="0B1A2B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6604000" cy="664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201650" y="2914650"/>
            <a:ext cx="266700" cy="266700"/>
            <a:chOff x="0" y="0"/>
            <a:chExt cx="355600" cy="3556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55600" cy="355600"/>
            </a:xfrm>
            <a:custGeom>
              <a:avLst/>
              <a:gdLst/>
              <a:ahLst/>
              <a:cxnLst/>
              <a:rect r="r" b="b" t="t" l="l"/>
              <a:pathLst>
                <a:path h="355600" w="355600">
                  <a:moveTo>
                    <a:pt x="177800" y="0"/>
                  </a:moveTo>
                  <a:cubicBezTo>
                    <a:pt x="275996" y="0"/>
                    <a:pt x="355600" y="79604"/>
                    <a:pt x="355600" y="177800"/>
                  </a:cubicBezTo>
                  <a:cubicBezTo>
                    <a:pt x="355600" y="275996"/>
                    <a:pt x="275996" y="355600"/>
                    <a:pt x="177800" y="355600"/>
                  </a:cubicBezTo>
                  <a:cubicBezTo>
                    <a:pt x="79604" y="355600"/>
                    <a:pt x="0" y="275996"/>
                    <a:pt x="0" y="177800"/>
                  </a:cubicBez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E84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355600" cy="393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5678150" y="5391150"/>
            <a:ext cx="266700" cy="266700"/>
            <a:chOff x="0" y="0"/>
            <a:chExt cx="355600" cy="3556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55600" cy="355600"/>
            </a:xfrm>
            <a:custGeom>
              <a:avLst/>
              <a:gdLst/>
              <a:ahLst/>
              <a:cxnLst/>
              <a:rect r="r" b="b" t="t" l="l"/>
              <a:pathLst>
                <a:path h="355600" w="355600">
                  <a:moveTo>
                    <a:pt x="177800" y="0"/>
                  </a:moveTo>
                  <a:cubicBezTo>
                    <a:pt x="275996" y="0"/>
                    <a:pt x="355600" y="79604"/>
                    <a:pt x="355600" y="177800"/>
                  </a:cubicBezTo>
                  <a:cubicBezTo>
                    <a:pt x="355600" y="275996"/>
                    <a:pt x="275996" y="355600"/>
                    <a:pt x="177800" y="355600"/>
                  </a:cubicBezTo>
                  <a:cubicBezTo>
                    <a:pt x="79604" y="355600"/>
                    <a:pt x="0" y="275996"/>
                    <a:pt x="0" y="177800"/>
                  </a:cubicBez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E84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355600" cy="393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3201650" y="7867650"/>
            <a:ext cx="266700" cy="266700"/>
            <a:chOff x="0" y="0"/>
            <a:chExt cx="355600" cy="3556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55600" cy="355600"/>
            </a:xfrm>
            <a:custGeom>
              <a:avLst/>
              <a:gdLst/>
              <a:ahLst/>
              <a:cxnLst/>
              <a:rect r="r" b="b" t="t" l="l"/>
              <a:pathLst>
                <a:path h="355600" w="355600">
                  <a:moveTo>
                    <a:pt x="177800" y="0"/>
                  </a:moveTo>
                  <a:cubicBezTo>
                    <a:pt x="275996" y="0"/>
                    <a:pt x="355600" y="79604"/>
                    <a:pt x="355600" y="177800"/>
                  </a:cubicBezTo>
                  <a:cubicBezTo>
                    <a:pt x="355600" y="275996"/>
                    <a:pt x="275996" y="355600"/>
                    <a:pt x="177800" y="355600"/>
                  </a:cubicBezTo>
                  <a:cubicBezTo>
                    <a:pt x="79604" y="355600"/>
                    <a:pt x="0" y="275996"/>
                    <a:pt x="0" y="177800"/>
                  </a:cubicBez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E84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355600" cy="393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725150" y="5391150"/>
            <a:ext cx="266700" cy="266700"/>
            <a:chOff x="0" y="0"/>
            <a:chExt cx="355600" cy="3556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55600" cy="355600"/>
            </a:xfrm>
            <a:custGeom>
              <a:avLst/>
              <a:gdLst/>
              <a:ahLst/>
              <a:cxnLst/>
              <a:rect r="r" b="b" t="t" l="l"/>
              <a:pathLst>
                <a:path h="355600" w="355600">
                  <a:moveTo>
                    <a:pt x="177800" y="0"/>
                  </a:moveTo>
                  <a:cubicBezTo>
                    <a:pt x="275996" y="0"/>
                    <a:pt x="355600" y="79604"/>
                    <a:pt x="355600" y="177800"/>
                  </a:cubicBezTo>
                  <a:cubicBezTo>
                    <a:pt x="355600" y="275996"/>
                    <a:pt x="275996" y="355600"/>
                    <a:pt x="177800" y="355600"/>
                  </a:cubicBezTo>
                  <a:cubicBezTo>
                    <a:pt x="79604" y="355600"/>
                    <a:pt x="0" y="275996"/>
                    <a:pt x="0" y="177800"/>
                  </a:cubicBez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E84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355600" cy="393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2382500" y="2552700"/>
            <a:ext cx="1905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350" spc="270">
                <a:solidFill>
                  <a:srgbClr val="0B1A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PLANIFICAR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6002000" y="5391150"/>
            <a:ext cx="1905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270">
                <a:solidFill>
                  <a:srgbClr val="0B1A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DESARROLLAR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382500" y="8191500"/>
            <a:ext cx="1905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350" spc="270">
                <a:solidFill>
                  <a:srgbClr val="0B1A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REVISAR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763000" y="5391150"/>
            <a:ext cx="1905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 spc="270">
                <a:solidFill>
                  <a:srgbClr val="0B1A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AJUSTAR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382500" y="5372100"/>
            <a:ext cx="1905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b="true" sz="1650" spc="495">
                <a:solidFill>
                  <a:srgbClr val="E8443A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SPRINT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00" y="457200"/>
            <a:ext cx="57150" cy="266700"/>
            <a:chOff x="0" y="0"/>
            <a:chExt cx="76200" cy="35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6200" cy="355600"/>
            </a:xfrm>
            <a:custGeom>
              <a:avLst/>
              <a:gdLst/>
              <a:ahLst/>
              <a:cxnLst/>
              <a:rect r="r" b="b" t="t" l="l"/>
              <a:pathLst>
                <a:path h="355600" w="76200">
                  <a:moveTo>
                    <a:pt x="0" y="0"/>
                  </a:moveTo>
                  <a:lnTo>
                    <a:pt x="76200" y="0"/>
                  </a:lnTo>
                  <a:lnTo>
                    <a:pt x="76200" y="35560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E84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6200" cy="393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162050" y="466725"/>
            <a:ext cx="57150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240">
                <a:solidFill>
                  <a:srgbClr val="5C6B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CITAJUSTA · FASE 1 / 10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668000" y="466725"/>
            <a:ext cx="66675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 spc="240">
                <a:solidFill>
                  <a:srgbClr val="0B1A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Ciclo Scrum · 8 sprints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52500" y="9696450"/>
            <a:ext cx="114300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210">
                <a:solidFill>
                  <a:srgbClr val="5C6B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DUOC UC · INGENIERÍA EN INFORMÁTICA · CAPSTONE 2026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430500" y="9696450"/>
            <a:ext cx="19050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70"/>
              </a:lnSpc>
            </a:pPr>
            <a:r>
              <a:rPr lang="en-US" sz="1050" spc="210">
                <a:solidFill>
                  <a:srgbClr val="5C6B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</a:t>
            </a:r>
          </a:p>
        </p:txBody>
      </p:sp>
      <p:sp>
        <p:nvSpPr>
          <p:cNvPr name="AutoShape 9" id="9"/>
          <p:cNvSpPr/>
          <p:nvPr/>
        </p:nvSpPr>
        <p:spPr>
          <a:xfrm>
            <a:off x="952500" y="857250"/>
            <a:ext cx="16383000" cy="0"/>
          </a:xfrm>
          <a:prstGeom prst="line">
            <a:avLst/>
          </a:prstGeom>
          <a:ln cap="flat" w="9525">
            <a:solidFill>
              <a:srgbClr val="D6DDE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952500" y="9544050"/>
            <a:ext cx="16383000" cy="0"/>
          </a:xfrm>
          <a:prstGeom prst="line">
            <a:avLst/>
          </a:prstGeom>
          <a:ln cap="flat" w="9525">
            <a:solidFill>
              <a:srgbClr val="D6DDE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952500" y="1200150"/>
            <a:ext cx="38100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25">
                <a:solidFill>
                  <a:srgbClr val="E8443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09 · SPRINTS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2500" y="1695450"/>
            <a:ext cx="15240000" cy="742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8"/>
              </a:lnSpc>
            </a:pPr>
            <a:r>
              <a:rPr lang="en-US" sz="5400" b="true">
                <a:solidFill>
                  <a:srgbClr val="0B1A2B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Ocho sprints, un proyecto.</a:t>
            </a:r>
          </a:p>
        </p:txBody>
      </p:sp>
      <p:sp>
        <p:nvSpPr>
          <p:cNvPr name="AutoShape 13" id="13"/>
          <p:cNvSpPr/>
          <p:nvPr/>
        </p:nvSpPr>
        <p:spPr>
          <a:xfrm>
            <a:off x="952500" y="5905500"/>
            <a:ext cx="16383000" cy="0"/>
          </a:xfrm>
          <a:prstGeom prst="line">
            <a:avLst/>
          </a:prstGeom>
          <a:ln cap="flat" w="19050">
            <a:solidFill>
              <a:srgbClr val="D6DDE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1862138" y="5791200"/>
            <a:ext cx="228600" cy="228600"/>
            <a:chOff x="0" y="0"/>
            <a:chExt cx="304800" cy="304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152400" y="0"/>
                  </a:moveTo>
                  <a:cubicBezTo>
                    <a:pt x="236568" y="0"/>
                    <a:pt x="304800" y="68232"/>
                    <a:pt x="304800" y="152400"/>
                  </a:cubicBezTo>
                  <a:cubicBezTo>
                    <a:pt x="304800" y="236568"/>
                    <a:pt x="236568" y="304800"/>
                    <a:pt x="152400" y="304800"/>
                  </a:cubicBezTo>
                  <a:cubicBezTo>
                    <a:pt x="68232" y="304800"/>
                    <a:pt x="0" y="236568"/>
                    <a:pt x="0" y="152400"/>
                  </a:cubicBez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E84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304800" cy="34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910012" y="5791200"/>
            <a:ext cx="228600" cy="228600"/>
            <a:chOff x="0" y="0"/>
            <a:chExt cx="304800" cy="304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152400" y="0"/>
                  </a:moveTo>
                  <a:cubicBezTo>
                    <a:pt x="236568" y="0"/>
                    <a:pt x="304800" y="68232"/>
                    <a:pt x="304800" y="152400"/>
                  </a:cubicBezTo>
                  <a:cubicBezTo>
                    <a:pt x="304800" y="236568"/>
                    <a:pt x="236568" y="304800"/>
                    <a:pt x="152400" y="304800"/>
                  </a:cubicBezTo>
                  <a:cubicBezTo>
                    <a:pt x="68232" y="304800"/>
                    <a:pt x="0" y="236568"/>
                    <a:pt x="0" y="152400"/>
                  </a:cubicBez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0B1A2B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304800" cy="34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957888" y="5791200"/>
            <a:ext cx="228600" cy="228600"/>
            <a:chOff x="0" y="0"/>
            <a:chExt cx="304800" cy="304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152400" y="0"/>
                  </a:moveTo>
                  <a:cubicBezTo>
                    <a:pt x="236568" y="0"/>
                    <a:pt x="304800" y="68232"/>
                    <a:pt x="304800" y="152400"/>
                  </a:cubicBezTo>
                  <a:cubicBezTo>
                    <a:pt x="304800" y="236568"/>
                    <a:pt x="236568" y="304800"/>
                    <a:pt x="152400" y="304800"/>
                  </a:cubicBezTo>
                  <a:cubicBezTo>
                    <a:pt x="68232" y="304800"/>
                    <a:pt x="0" y="236568"/>
                    <a:pt x="0" y="152400"/>
                  </a:cubicBez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0B1A2B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304800" cy="34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005762" y="5791200"/>
            <a:ext cx="228600" cy="228600"/>
            <a:chOff x="0" y="0"/>
            <a:chExt cx="304800" cy="304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152400" y="0"/>
                  </a:moveTo>
                  <a:cubicBezTo>
                    <a:pt x="236568" y="0"/>
                    <a:pt x="304800" y="68232"/>
                    <a:pt x="304800" y="152400"/>
                  </a:cubicBezTo>
                  <a:cubicBezTo>
                    <a:pt x="304800" y="236568"/>
                    <a:pt x="236568" y="304800"/>
                    <a:pt x="152400" y="304800"/>
                  </a:cubicBezTo>
                  <a:cubicBezTo>
                    <a:pt x="68232" y="304800"/>
                    <a:pt x="0" y="236568"/>
                    <a:pt x="0" y="152400"/>
                  </a:cubicBez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0B1A2B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304800" cy="34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053638" y="5791200"/>
            <a:ext cx="228600" cy="228600"/>
            <a:chOff x="0" y="0"/>
            <a:chExt cx="304800" cy="304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152400" y="0"/>
                  </a:moveTo>
                  <a:cubicBezTo>
                    <a:pt x="236568" y="0"/>
                    <a:pt x="304800" y="68232"/>
                    <a:pt x="304800" y="152400"/>
                  </a:cubicBezTo>
                  <a:cubicBezTo>
                    <a:pt x="304800" y="236568"/>
                    <a:pt x="236568" y="304800"/>
                    <a:pt x="152400" y="304800"/>
                  </a:cubicBezTo>
                  <a:cubicBezTo>
                    <a:pt x="68232" y="304800"/>
                    <a:pt x="0" y="236568"/>
                    <a:pt x="0" y="152400"/>
                  </a:cubicBez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0B1A2B"/>
            </a:solidFill>
            <a:ln cap="sq">
              <a:noFill/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304800" cy="34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2101512" y="5791200"/>
            <a:ext cx="228600" cy="228600"/>
            <a:chOff x="0" y="0"/>
            <a:chExt cx="304800" cy="304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152400" y="0"/>
                  </a:moveTo>
                  <a:cubicBezTo>
                    <a:pt x="236568" y="0"/>
                    <a:pt x="304800" y="68232"/>
                    <a:pt x="304800" y="152400"/>
                  </a:cubicBezTo>
                  <a:cubicBezTo>
                    <a:pt x="304800" y="236568"/>
                    <a:pt x="236568" y="304800"/>
                    <a:pt x="152400" y="304800"/>
                  </a:cubicBezTo>
                  <a:cubicBezTo>
                    <a:pt x="68232" y="304800"/>
                    <a:pt x="0" y="236568"/>
                    <a:pt x="0" y="152400"/>
                  </a:cubicBez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0B1A2B"/>
            </a:solidFill>
            <a:ln cap="sq">
              <a:noFill/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304800" cy="34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4149388" y="5791200"/>
            <a:ext cx="228600" cy="228600"/>
            <a:chOff x="0" y="0"/>
            <a:chExt cx="304800" cy="304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152400" y="0"/>
                  </a:moveTo>
                  <a:cubicBezTo>
                    <a:pt x="236568" y="0"/>
                    <a:pt x="304800" y="68232"/>
                    <a:pt x="304800" y="152400"/>
                  </a:cubicBezTo>
                  <a:cubicBezTo>
                    <a:pt x="304800" y="236568"/>
                    <a:pt x="236568" y="304800"/>
                    <a:pt x="152400" y="304800"/>
                  </a:cubicBezTo>
                  <a:cubicBezTo>
                    <a:pt x="68232" y="304800"/>
                    <a:pt x="0" y="236568"/>
                    <a:pt x="0" y="152400"/>
                  </a:cubicBez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0B1A2B"/>
            </a:solidFill>
            <a:ln cap="sq">
              <a:noFill/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304800" cy="34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6197262" y="5791200"/>
            <a:ext cx="228600" cy="228600"/>
            <a:chOff x="0" y="0"/>
            <a:chExt cx="304800" cy="304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152400" y="0"/>
                  </a:moveTo>
                  <a:cubicBezTo>
                    <a:pt x="236568" y="0"/>
                    <a:pt x="304800" y="68232"/>
                    <a:pt x="304800" y="152400"/>
                  </a:cubicBezTo>
                  <a:cubicBezTo>
                    <a:pt x="304800" y="236568"/>
                    <a:pt x="236568" y="304800"/>
                    <a:pt x="152400" y="304800"/>
                  </a:cubicBezTo>
                  <a:cubicBezTo>
                    <a:pt x="68232" y="304800"/>
                    <a:pt x="0" y="236568"/>
                    <a:pt x="0" y="152400"/>
                  </a:cubicBez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0B1A2B"/>
            </a:solidFill>
            <a:ln cap="sq">
              <a:noFill/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304800" cy="34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1404938" y="4895850"/>
            <a:ext cx="1143000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 b="true">
                <a:solidFill>
                  <a:srgbClr val="E8443A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S1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66800" y="6200775"/>
            <a:ext cx="1819275" cy="211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5"/>
              </a:lnSpc>
            </a:pPr>
            <a:r>
              <a:rPr lang="en-US" sz="1350">
                <a:solidFill>
                  <a:srgbClr val="0B1A2B"/>
                </a:solidFill>
                <a:latin typeface="Inter"/>
                <a:ea typeface="Inter"/>
                <a:cs typeface="Inter"/>
                <a:sym typeface="Inter"/>
              </a:rPr>
              <a:t>Análisis y arquitectura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3452812" y="4895850"/>
            <a:ext cx="1143000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 b="true">
                <a:solidFill>
                  <a:srgbClr val="E8443A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S2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3114675" y="6200775"/>
            <a:ext cx="1819275" cy="211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5"/>
              </a:lnSpc>
            </a:pPr>
            <a:r>
              <a:rPr lang="en-US" sz="1350">
                <a:solidFill>
                  <a:srgbClr val="0B1A2B"/>
                </a:solidFill>
                <a:latin typeface="Inter"/>
                <a:ea typeface="Inter"/>
                <a:cs typeface="Inter"/>
                <a:sym typeface="Inter"/>
              </a:rPr>
              <a:t>Configuración técnica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5500688" y="4895850"/>
            <a:ext cx="1143000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 b="true">
                <a:solidFill>
                  <a:srgbClr val="E8443A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S3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5162550" y="6200775"/>
            <a:ext cx="1819275" cy="211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5"/>
              </a:lnSpc>
            </a:pPr>
            <a:r>
              <a:rPr lang="en-US" sz="1350">
                <a:solidFill>
                  <a:srgbClr val="0B1A2B"/>
                </a:solidFill>
                <a:latin typeface="Inter"/>
                <a:ea typeface="Inter"/>
                <a:cs typeface="Inter"/>
                <a:sym typeface="Inter"/>
              </a:rPr>
              <a:t>Seguridad y usuarios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7548562" y="4895850"/>
            <a:ext cx="1143000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 b="true">
                <a:solidFill>
                  <a:srgbClr val="E8443A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S4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7210425" y="6200775"/>
            <a:ext cx="1819275" cy="211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5"/>
              </a:lnSpc>
            </a:pPr>
            <a:r>
              <a:rPr lang="en-US" sz="1350">
                <a:solidFill>
                  <a:srgbClr val="0B1A2B"/>
                </a:solidFill>
                <a:latin typeface="Inter"/>
                <a:ea typeface="Inter"/>
                <a:cs typeface="Inter"/>
                <a:sym typeface="Inter"/>
              </a:rPr>
              <a:t>Agenda base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9596438" y="4895850"/>
            <a:ext cx="1143000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 b="true">
                <a:solidFill>
                  <a:srgbClr val="E8443A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S5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9258300" y="6200775"/>
            <a:ext cx="1819275" cy="211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5"/>
              </a:lnSpc>
            </a:pPr>
            <a:r>
              <a:rPr lang="en-US" sz="1350">
                <a:solidFill>
                  <a:srgbClr val="0B1A2B"/>
                </a:solidFill>
                <a:latin typeface="Inter"/>
                <a:ea typeface="Inter"/>
                <a:cs typeface="Inter"/>
                <a:sym typeface="Inter"/>
              </a:rPr>
              <a:t>Citas y lista de espera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1644312" y="4895850"/>
            <a:ext cx="1143000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 b="true">
                <a:solidFill>
                  <a:srgbClr val="E8443A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S6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1306175" y="6200775"/>
            <a:ext cx="1819275" cy="211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5"/>
              </a:lnSpc>
            </a:pPr>
            <a:r>
              <a:rPr lang="en-US" sz="1350">
                <a:solidFill>
                  <a:srgbClr val="0B1A2B"/>
                </a:solidFill>
                <a:latin typeface="Inter"/>
                <a:ea typeface="Inter"/>
                <a:cs typeface="Inter"/>
                <a:sym typeface="Inter"/>
              </a:rPr>
              <a:t>Motor de reasignación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3692188" y="4895850"/>
            <a:ext cx="1143000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 b="true">
                <a:solidFill>
                  <a:srgbClr val="E8443A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S7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3354050" y="6200775"/>
            <a:ext cx="1819275" cy="211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5"/>
              </a:lnSpc>
            </a:pPr>
            <a:r>
              <a:rPr lang="en-US" sz="1350">
                <a:solidFill>
                  <a:srgbClr val="0B1A2B"/>
                </a:solidFill>
                <a:latin typeface="Inter"/>
                <a:ea typeface="Inter"/>
                <a:cs typeface="Inter"/>
                <a:sym typeface="Inter"/>
              </a:rPr>
              <a:t>Reportes y escritorio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5740062" y="4895850"/>
            <a:ext cx="1143000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 b="true">
                <a:solidFill>
                  <a:srgbClr val="E8443A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S8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5401925" y="6200775"/>
            <a:ext cx="1819275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5"/>
              </a:lnSpc>
            </a:pPr>
            <a:r>
              <a:rPr lang="en-US" sz="1350">
                <a:solidFill>
                  <a:srgbClr val="0B1A2B"/>
                </a:solidFill>
                <a:latin typeface="Inter"/>
                <a:ea typeface="Inter"/>
                <a:cs typeface="Inter"/>
                <a:sym typeface="Inter"/>
              </a:rPr>
              <a:t>Cierre, pruebas y documentación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952500" y="8543925"/>
            <a:ext cx="163830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spc="360">
                <a:solidFill>
                  <a:srgbClr val="5C6B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18 SEMANAS · 8 SPRINTS · 3 FASES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00" y="457200"/>
            <a:ext cx="57150" cy="266700"/>
            <a:chOff x="0" y="0"/>
            <a:chExt cx="76200" cy="35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6200" cy="355600"/>
            </a:xfrm>
            <a:custGeom>
              <a:avLst/>
              <a:gdLst/>
              <a:ahLst/>
              <a:cxnLst/>
              <a:rect r="r" b="b" t="t" l="l"/>
              <a:pathLst>
                <a:path h="355600" w="76200">
                  <a:moveTo>
                    <a:pt x="0" y="0"/>
                  </a:moveTo>
                  <a:lnTo>
                    <a:pt x="76200" y="0"/>
                  </a:lnTo>
                  <a:lnTo>
                    <a:pt x="76200" y="35560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E84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6200" cy="393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162050" y="466725"/>
            <a:ext cx="57150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240">
                <a:solidFill>
                  <a:srgbClr val="5C6B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CITAJUSTA · FASE 1 / 11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668000" y="466725"/>
            <a:ext cx="66675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 spc="240">
                <a:solidFill>
                  <a:srgbClr val="0B1A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Plan de trabajo general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52500" y="9696450"/>
            <a:ext cx="114300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210">
                <a:solidFill>
                  <a:srgbClr val="5C6B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DUOC UC · INGENIERÍA EN INFORMÁTICA · CAPSTONE 2026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430500" y="9696450"/>
            <a:ext cx="19050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70"/>
              </a:lnSpc>
            </a:pPr>
            <a:r>
              <a:rPr lang="en-US" sz="1050" spc="210">
                <a:solidFill>
                  <a:srgbClr val="5C6B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11</a:t>
            </a:r>
          </a:p>
        </p:txBody>
      </p:sp>
      <p:sp>
        <p:nvSpPr>
          <p:cNvPr name="AutoShape 9" id="9"/>
          <p:cNvSpPr/>
          <p:nvPr/>
        </p:nvSpPr>
        <p:spPr>
          <a:xfrm>
            <a:off x="952500" y="857250"/>
            <a:ext cx="16383000" cy="0"/>
          </a:xfrm>
          <a:prstGeom prst="line">
            <a:avLst/>
          </a:prstGeom>
          <a:ln cap="flat" w="9525">
            <a:solidFill>
              <a:srgbClr val="D6DDE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952500" y="9544050"/>
            <a:ext cx="16383000" cy="0"/>
          </a:xfrm>
          <a:prstGeom prst="line">
            <a:avLst/>
          </a:prstGeom>
          <a:ln cap="flat" w="9525">
            <a:solidFill>
              <a:srgbClr val="D6DDE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952500" y="1200150"/>
            <a:ext cx="47625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25">
                <a:solidFill>
                  <a:srgbClr val="E8443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 · PLAN 18 SEMANAS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2500" y="1695450"/>
            <a:ext cx="15240000" cy="1437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8"/>
              </a:lnSpc>
            </a:pPr>
            <a:r>
              <a:rPr lang="en-US" sz="5400" b="true">
                <a:solidFill>
                  <a:srgbClr val="0B1A2B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Tres fases, un flujo</a:t>
            </a:r>
          </a:p>
          <a:p>
            <a:pPr algn="l">
              <a:lnSpc>
                <a:spcPts val="5508"/>
              </a:lnSpc>
            </a:pPr>
            <a:r>
              <a:rPr lang="en-US" sz="5400" b="true">
                <a:solidFill>
                  <a:srgbClr val="0B1A2B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de entrega continua.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52500" y="4191000"/>
            <a:ext cx="5334000" cy="4953000"/>
            <a:chOff x="0" y="0"/>
            <a:chExt cx="7112000" cy="6604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112000" cy="6604000"/>
            </a:xfrm>
            <a:custGeom>
              <a:avLst/>
              <a:gdLst/>
              <a:ahLst/>
              <a:cxnLst/>
              <a:rect r="r" b="b" t="t" l="l"/>
              <a:pathLst>
                <a:path h="6604000" w="7112000">
                  <a:moveTo>
                    <a:pt x="0" y="0"/>
                  </a:moveTo>
                  <a:lnTo>
                    <a:pt x="7112000" y="0"/>
                  </a:lnTo>
                  <a:lnTo>
                    <a:pt x="7112000" y="6604000"/>
                  </a:lnTo>
                  <a:lnTo>
                    <a:pt x="0" y="6604000"/>
                  </a:lnTo>
                  <a:close/>
                </a:path>
              </a:pathLst>
            </a:custGeom>
            <a:solidFill>
              <a:srgbClr val="F4F6F8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7112000" cy="664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52500" y="4191000"/>
            <a:ext cx="5334000" cy="76200"/>
            <a:chOff x="0" y="0"/>
            <a:chExt cx="7112000" cy="1016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112000" cy="101600"/>
            </a:xfrm>
            <a:custGeom>
              <a:avLst/>
              <a:gdLst/>
              <a:ahLst/>
              <a:cxnLst/>
              <a:rect r="r" b="b" t="t" l="l"/>
              <a:pathLst>
                <a:path h="101600" w="7112000">
                  <a:moveTo>
                    <a:pt x="0" y="0"/>
                  </a:moveTo>
                  <a:lnTo>
                    <a:pt x="7112000" y="0"/>
                  </a:lnTo>
                  <a:lnTo>
                    <a:pt x="7112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E84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71120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477000" y="4191000"/>
            <a:ext cx="5334000" cy="4953000"/>
            <a:chOff x="0" y="0"/>
            <a:chExt cx="7112000" cy="6604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112000" cy="6604000"/>
            </a:xfrm>
            <a:custGeom>
              <a:avLst/>
              <a:gdLst/>
              <a:ahLst/>
              <a:cxnLst/>
              <a:rect r="r" b="b" t="t" l="l"/>
              <a:pathLst>
                <a:path h="6604000" w="7112000">
                  <a:moveTo>
                    <a:pt x="0" y="0"/>
                  </a:moveTo>
                  <a:lnTo>
                    <a:pt x="7112000" y="0"/>
                  </a:lnTo>
                  <a:lnTo>
                    <a:pt x="7112000" y="6604000"/>
                  </a:lnTo>
                  <a:lnTo>
                    <a:pt x="0" y="6604000"/>
                  </a:lnTo>
                  <a:close/>
                </a:path>
              </a:pathLst>
            </a:custGeom>
            <a:solidFill>
              <a:srgbClr val="F4F6F8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7112000" cy="664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477000" y="4191000"/>
            <a:ext cx="5334000" cy="76200"/>
            <a:chOff x="0" y="0"/>
            <a:chExt cx="7112000" cy="1016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112000" cy="101600"/>
            </a:xfrm>
            <a:custGeom>
              <a:avLst/>
              <a:gdLst/>
              <a:ahLst/>
              <a:cxnLst/>
              <a:rect r="r" b="b" t="t" l="l"/>
              <a:pathLst>
                <a:path h="101600" w="7112000">
                  <a:moveTo>
                    <a:pt x="0" y="0"/>
                  </a:moveTo>
                  <a:lnTo>
                    <a:pt x="7112000" y="0"/>
                  </a:lnTo>
                  <a:lnTo>
                    <a:pt x="7112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1F7AE0"/>
            </a:solidFill>
            <a:ln cap="sq">
              <a:noFill/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71120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001500" y="4191000"/>
            <a:ext cx="5334000" cy="4953000"/>
            <a:chOff x="0" y="0"/>
            <a:chExt cx="7112000" cy="6604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112000" cy="6604000"/>
            </a:xfrm>
            <a:custGeom>
              <a:avLst/>
              <a:gdLst/>
              <a:ahLst/>
              <a:cxnLst/>
              <a:rect r="r" b="b" t="t" l="l"/>
              <a:pathLst>
                <a:path h="6604000" w="7112000">
                  <a:moveTo>
                    <a:pt x="0" y="0"/>
                  </a:moveTo>
                  <a:lnTo>
                    <a:pt x="7112000" y="0"/>
                  </a:lnTo>
                  <a:lnTo>
                    <a:pt x="7112000" y="6604000"/>
                  </a:lnTo>
                  <a:lnTo>
                    <a:pt x="0" y="6604000"/>
                  </a:lnTo>
                  <a:close/>
                </a:path>
              </a:pathLst>
            </a:custGeom>
            <a:solidFill>
              <a:srgbClr val="F4F6F8"/>
            </a:soli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7112000" cy="664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001500" y="4191000"/>
            <a:ext cx="5334000" cy="76200"/>
            <a:chOff x="0" y="0"/>
            <a:chExt cx="7112000" cy="1016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112000" cy="101600"/>
            </a:xfrm>
            <a:custGeom>
              <a:avLst/>
              <a:gdLst/>
              <a:ahLst/>
              <a:cxnLst/>
              <a:rect r="r" b="b" t="t" l="l"/>
              <a:pathLst>
                <a:path h="101600" w="7112000">
                  <a:moveTo>
                    <a:pt x="0" y="0"/>
                  </a:moveTo>
                  <a:lnTo>
                    <a:pt x="7112000" y="0"/>
                  </a:lnTo>
                  <a:lnTo>
                    <a:pt x="7112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FA27A"/>
            </a:solidFill>
            <a:ln cap="sq">
              <a:noFill/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71120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257300" y="4533900"/>
            <a:ext cx="47244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450">
                <a:solidFill>
                  <a:srgbClr val="E8443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FASE 1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57300" y="4876800"/>
            <a:ext cx="47244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5C6B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Semanas 1 – 6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57300" y="5562600"/>
            <a:ext cx="4724400" cy="441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7"/>
              </a:lnSpc>
            </a:pPr>
            <a:r>
              <a:rPr lang="en-US" sz="3150" b="true">
                <a:solidFill>
                  <a:srgbClr val="0B1A2B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Análisis, planificación y diseño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57300" y="7000875"/>
            <a:ext cx="4724400" cy="585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650">
                <a:solidFill>
                  <a:srgbClr val="0B1A2B"/>
                </a:solidFill>
                <a:latin typeface="Inter"/>
                <a:ea typeface="Inter"/>
                <a:cs typeface="Inter"/>
                <a:sym typeface="Inter"/>
              </a:rPr>
              <a:t>Definición de alcance, arquitectura, backlog inicial y prototipos de interfaz.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781800" y="4533900"/>
            <a:ext cx="47244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450">
                <a:solidFill>
                  <a:srgbClr val="1F7AE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FASE 2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781800" y="4876800"/>
            <a:ext cx="47244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5C6B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Semanas 7 – 12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781800" y="5562600"/>
            <a:ext cx="4724400" cy="441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7"/>
              </a:lnSpc>
            </a:pPr>
            <a:r>
              <a:rPr lang="en-US" sz="3150" b="true">
                <a:solidFill>
                  <a:srgbClr val="0B1A2B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Desarrollo integral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6781800" y="7000875"/>
            <a:ext cx="4724400" cy="585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650">
                <a:solidFill>
                  <a:srgbClr val="0B1A2B"/>
                </a:solidFill>
                <a:latin typeface="Inter"/>
                <a:ea typeface="Inter"/>
                <a:cs typeface="Inter"/>
                <a:sym typeface="Inter"/>
              </a:rPr>
              <a:t>Construcción de web, escritorio y motor de reasignación con integración continua.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306300" y="4533900"/>
            <a:ext cx="47244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450">
                <a:solidFill>
                  <a:srgbClr val="2FA2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FASE 3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306300" y="4876800"/>
            <a:ext cx="47244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5C6B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Semanas 13 – 18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306300" y="5562600"/>
            <a:ext cx="4724400" cy="441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7"/>
              </a:lnSpc>
            </a:pPr>
            <a:r>
              <a:rPr lang="en-US" sz="3150" b="true">
                <a:solidFill>
                  <a:srgbClr val="0B1A2B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Integración y validación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306300" y="7000875"/>
            <a:ext cx="4724400" cy="585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650">
                <a:solidFill>
                  <a:srgbClr val="0B1A2B"/>
                </a:solidFill>
                <a:latin typeface="Inter"/>
                <a:ea typeface="Inter"/>
                <a:cs typeface="Inter"/>
                <a:sym typeface="Inter"/>
              </a:rPr>
              <a:t>Seguridad, pruebas E2E, documentación final y despliegue reproducible.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00" y="457200"/>
            <a:ext cx="57150" cy="266700"/>
            <a:chOff x="0" y="0"/>
            <a:chExt cx="76200" cy="35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6200" cy="355600"/>
            </a:xfrm>
            <a:custGeom>
              <a:avLst/>
              <a:gdLst/>
              <a:ahLst/>
              <a:cxnLst/>
              <a:rect r="r" b="b" t="t" l="l"/>
              <a:pathLst>
                <a:path h="355600" w="76200">
                  <a:moveTo>
                    <a:pt x="0" y="0"/>
                  </a:moveTo>
                  <a:lnTo>
                    <a:pt x="76200" y="0"/>
                  </a:lnTo>
                  <a:lnTo>
                    <a:pt x="76200" y="35560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E84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6200" cy="393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162050" y="466725"/>
            <a:ext cx="57150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240">
                <a:solidFill>
                  <a:srgbClr val="5C6B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CITAJUSTA · FASE 1 / 12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668000" y="466725"/>
            <a:ext cx="66675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 spc="240">
                <a:solidFill>
                  <a:srgbClr val="0B1A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Detalle de fases y actividades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52500" y="9696450"/>
            <a:ext cx="114300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210">
                <a:solidFill>
                  <a:srgbClr val="5C6B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DUOC UC · INGENIERÍA EN INFORMÁTICA · CAPSTONE 2026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430500" y="9696450"/>
            <a:ext cx="19050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70"/>
              </a:lnSpc>
            </a:pPr>
            <a:r>
              <a:rPr lang="en-US" sz="1050" spc="210">
                <a:solidFill>
                  <a:srgbClr val="5C6B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12</a:t>
            </a:r>
          </a:p>
        </p:txBody>
      </p:sp>
      <p:sp>
        <p:nvSpPr>
          <p:cNvPr name="AutoShape 9" id="9"/>
          <p:cNvSpPr/>
          <p:nvPr/>
        </p:nvSpPr>
        <p:spPr>
          <a:xfrm>
            <a:off x="952500" y="857250"/>
            <a:ext cx="16383000" cy="0"/>
          </a:xfrm>
          <a:prstGeom prst="line">
            <a:avLst/>
          </a:prstGeom>
          <a:ln cap="flat" w="9525">
            <a:solidFill>
              <a:srgbClr val="D6DDE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952500" y="9544050"/>
            <a:ext cx="16383000" cy="0"/>
          </a:xfrm>
          <a:prstGeom prst="line">
            <a:avLst/>
          </a:prstGeom>
          <a:ln cap="flat" w="9525">
            <a:solidFill>
              <a:srgbClr val="D6DDE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952500" y="1200150"/>
            <a:ext cx="38100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25">
                <a:solidFill>
                  <a:srgbClr val="E8443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11 · DETALLE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2500" y="1695450"/>
            <a:ext cx="15240000" cy="742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8"/>
              </a:lnSpc>
            </a:pPr>
            <a:r>
              <a:rPr lang="en-US" sz="5400" b="true">
                <a:solidFill>
                  <a:srgbClr val="0B1A2B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Distribución semanal de tareas.</a:t>
            </a:r>
          </a:p>
        </p:txBody>
      </p:sp>
      <p:sp>
        <p:nvSpPr>
          <p:cNvPr name="AutoShape 13" id="13"/>
          <p:cNvSpPr/>
          <p:nvPr/>
        </p:nvSpPr>
        <p:spPr>
          <a:xfrm>
            <a:off x="952500" y="3238500"/>
            <a:ext cx="16383000" cy="0"/>
          </a:xfrm>
          <a:prstGeom prst="line">
            <a:avLst/>
          </a:prstGeom>
          <a:ln cap="flat" w="9525">
            <a:solidFill>
              <a:srgbClr val="D6DDE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952500" y="4152900"/>
            <a:ext cx="16383000" cy="0"/>
          </a:xfrm>
          <a:prstGeom prst="line">
            <a:avLst/>
          </a:prstGeom>
          <a:ln cap="flat" w="9525">
            <a:solidFill>
              <a:srgbClr val="D6DDE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952500" y="5067300"/>
            <a:ext cx="16383000" cy="0"/>
          </a:xfrm>
          <a:prstGeom prst="line">
            <a:avLst/>
          </a:prstGeom>
          <a:ln cap="flat" w="9525">
            <a:solidFill>
              <a:srgbClr val="D6DDE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952500" y="5981700"/>
            <a:ext cx="16383000" cy="0"/>
          </a:xfrm>
          <a:prstGeom prst="line">
            <a:avLst/>
          </a:prstGeom>
          <a:ln cap="flat" w="9525">
            <a:solidFill>
              <a:srgbClr val="D6DDE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952500" y="6896100"/>
            <a:ext cx="16383000" cy="0"/>
          </a:xfrm>
          <a:prstGeom prst="line">
            <a:avLst/>
          </a:prstGeom>
          <a:ln cap="flat" w="9525">
            <a:solidFill>
              <a:srgbClr val="D6DDE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952500" y="7810500"/>
            <a:ext cx="16383000" cy="0"/>
          </a:xfrm>
          <a:prstGeom prst="line">
            <a:avLst/>
          </a:prstGeom>
          <a:ln cap="flat" w="9525">
            <a:solidFill>
              <a:srgbClr val="D6DDE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>
            <a:off x="952500" y="8724900"/>
            <a:ext cx="16383000" cy="0"/>
          </a:xfrm>
          <a:prstGeom prst="line">
            <a:avLst/>
          </a:prstGeom>
          <a:ln cap="flat" w="9525">
            <a:solidFill>
              <a:srgbClr val="D6DDE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0" id="20"/>
          <p:cNvSpPr txBox="true"/>
          <p:nvPr/>
        </p:nvSpPr>
        <p:spPr>
          <a:xfrm rot="0">
            <a:off x="952500" y="3390900"/>
            <a:ext cx="1905000" cy="33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spc="292">
                <a:solidFill>
                  <a:srgbClr val="E8443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 1–2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238500" y="3343275"/>
            <a:ext cx="476250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0B1A2B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Análisis y planificación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382000" y="3419475"/>
            <a:ext cx="8953500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650">
                <a:solidFill>
                  <a:srgbClr val="0B1A2B"/>
                </a:solidFill>
                <a:latin typeface="Inter"/>
                <a:ea typeface="Inter"/>
                <a:cs typeface="Inter"/>
                <a:sym typeface="Inter"/>
              </a:rPr>
              <a:t>Requisitos, historias de usuario, backlog inicial y arquitectura preliminar.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52500" y="4305300"/>
            <a:ext cx="1905000" cy="33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spc="292">
                <a:solidFill>
                  <a:srgbClr val="E8443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 3–4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238500" y="4257675"/>
            <a:ext cx="476250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0B1A2B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Diseño técnico y UX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382000" y="4333875"/>
            <a:ext cx="8953500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650">
                <a:solidFill>
                  <a:srgbClr val="0B1A2B"/>
                </a:solidFill>
                <a:latin typeface="Inter"/>
                <a:ea typeface="Inter"/>
                <a:cs typeface="Inter"/>
                <a:sym typeface="Inter"/>
              </a:rPr>
              <a:t>Modelado de datos, wireframes, prototipos y validación con stakeholders.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52500" y="5219700"/>
            <a:ext cx="1905000" cy="33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spc="292">
                <a:solidFill>
                  <a:srgbClr val="E8443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 5–8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238500" y="5172075"/>
            <a:ext cx="476250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0B1A2B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Desarrollo web y API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382000" y="5248275"/>
            <a:ext cx="8953500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650">
                <a:solidFill>
                  <a:srgbClr val="0B1A2B"/>
                </a:solidFill>
                <a:latin typeface="Inter"/>
                <a:ea typeface="Inter"/>
                <a:cs typeface="Inter"/>
                <a:sym typeface="Inter"/>
              </a:rPr>
              <a:t>Frontend web, capa de servicios, autenticación y catálogos base.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52500" y="6134100"/>
            <a:ext cx="1905000" cy="33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spc="292">
                <a:solidFill>
                  <a:srgbClr val="E8443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 9–12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238500" y="6086475"/>
            <a:ext cx="476250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0B1A2B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Escritorio y motor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382000" y="6162675"/>
            <a:ext cx="8953500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650">
                <a:solidFill>
                  <a:srgbClr val="0B1A2B"/>
                </a:solidFill>
                <a:latin typeface="Inter"/>
                <a:ea typeface="Inter"/>
                <a:cs typeface="Inter"/>
                <a:sym typeface="Inter"/>
              </a:rPr>
              <a:t>Cliente Tauri y motor de detección/reasignación con priorización.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52500" y="7048500"/>
            <a:ext cx="1905000" cy="33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spc="292">
                <a:solidFill>
                  <a:srgbClr val="E8443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 13–16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3238500" y="7000875"/>
            <a:ext cx="476250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0B1A2B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Integración y pruebas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382000" y="7077075"/>
            <a:ext cx="8953500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650">
                <a:solidFill>
                  <a:srgbClr val="0B1A2B"/>
                </a:solidFill>
                <a:latin typeface="Inter"/>
                <a:ea typeface="Inter"/>
                <a:cs typeface="Inter"/>
                <a:sym typeface="Inter"/>
              </a:rPr>
              <a:t>Pruebas unitarias, E2E, endurecimiento de seguridad y auditoría.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52500" y="7962900"/>
            <a:ext cx="1905000" cy="33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spc="292">
                <a:solidFill>
                  <a:srgbClr val="E8443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 17–18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238500" y="7915275"/>
            <a:ext cx="476250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0B1A2B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Cierre y documentación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8382000" y="7991475"/>
            <a:ext cx="8953500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650">
                <a:solidFill>
                  <a:srgbClr val="0B1A2B"/>
                </a:solidFill>
                <a:latin typeface="Inter"/>
                <a:ea typeface="Inter"/>
                <a:cs typeface="Inter"/>
                <a:sym typeface="Inter"/>
              </a:rPr>
              <a:t>Despliegue final, entrega documental y presentación del proyecto.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00" y="457200"/>
            <a:ext cx="57150" cy="266700"/>
            <a:chOff x="0" y="0"/>
            <a:chExt cx="76200" cy="35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6200" cy="355600"/>
            </a:xfrm>
            <a:custGeom>
              <a:avLst/>
              <a:gdLst/>
              <a:ahLst/>
              <a:cxnLst/>
              <a:rect r="r" b="b" t="t" l="l"/>
              <a:pathLst>
                <a:path h="355600" w="76200">
                  <a:moveTo>
                    <a:pt x="0" y="0"/>
                  </a:moveTo>
                  <a:lnTo>
                    <a:pt x="76200" y="0"/>
                  </a:lnTo>
                  <a:lnTo>
                    <a:pt x="76200" y="35560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E84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6200" cy="393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162050" y="466725"/>
            <a:ext cx="57150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240">
                <a:solidFill>
                  <a:srgbClr val="5C6B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CITAJUSTA · FASE 1 / 13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668000" y="466725"/>
            <a:ext cx="66675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 spc="240">
                <a:solidFill>
                  <a:srgbClr val="0B1A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Carta Gantt del proyecto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52500" y="9696450"/>
            <a:ext cx="114300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210">
                <a:solidFill>
                  <a:srgbClr val="5C6B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DUOC UC · INGENIERÍA EN INFORMÁTICA · CAPSTONE 2026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430500" y="9696450"/>
            <a:ext cx="19050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70"/>
              </a:lnSpc>
            </a:pPr>
            <a:r>
              <a:rPr lang="en-US" sz="1050" spc="210">
                <a:solidFill>
                  <a:srgbClr val="5C6B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13</a:t>
            </a:r>
          </a:p>
        </p:txBody>
      </p:sp>
      <p:sp>
        <p:nvSpPr>
          <p:cNvPr name="AutoShape 9" id="9"/>
          <p:cNvSpPr/>
          <p:nvPr/>
        </p:nvSpPr>
        <p:spPr>
          <a:xfrm>
            <a:off x="952500" y="857250"/>
            <a:ext cx="16383000" cy="0"/>
          </a:xfrm>
          <a:prstGeom prst="line">
            <a:avLst/>
          </a:prstGeom>
          <a:ln cap="flat" w="9525">
            <a:solidFill>
              <a:srgbClr val="D6DDE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952500" y="9544050"/>
            <a:ext cx="16383000" cy="0"/>
          </a:xfrm>
          <a:prstGeom prst="line">
            <a:avLst/>
          </a:prstGeom>
          <a:ln cap="flat" w="9525">
            <a:solidFill>
              <a:srgbClr val="D6DDE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952500" y="1200150"/>
            <a:ext cx="38100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25">
                <a:solidFill>
                  <a:srgbClr val="E8443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12 · CRONOGRAMA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2500" y="1695450"/>
            <a:ext cx="15240000" cy="742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8"/>
              </a:lnSpc>
            </a:pPr>
            <a:r>
              <a:rPr lang="en-US" sz="5400" b="true">
                <a:solidFill>
                  <a:srgbClr val="0B1A2B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Carta Gantt · 18 semanas.</a:t>
            </a:r>
          </a:p>
        </p:txBody>
      </p:sp>
      <p:sp>
        <p:nvSpPr>
          <p:cNvPr name="AutoShape 13" id="13"/>
          <p:cNvSpPr/>
          <p:nvPr/>
        </p:nvSpPr>
        <p:spPr>
          <a:xfrm>
            <a:off x="4921250" y="3429000"/>
            <a:ext cx="0" cy="4457700"/>
          </a:xfrm>
          <a:prstGeom prst="line">
            <a:avLst/>
          </a:prstGeom>
          <a:ln cap="flat" w="9525">
            <a:solidFill>
              <a:srgbClr val="EEF1F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5651500" y="3429000"/>
            <a:ext cx="0" cy="4457700"/>
          </a:xfrm>
          <a:prstGeom prst="line">
            <a:avLst/>
          </a:prstGeom>
          <a:ln cap="flat" w="9525">
            <a:solidFill>
              <a:srgbClr val="EEF1F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6381750" y="3429000"/>
            <a:ext cx="0" cy="4457700"/>
          </a:xfrm>
          <a:prstGeom prst="line">
            <a:avLst/>
          </a:prstGeom>
          <a:ln cap="flat" w="9525">
            <a:solidFill>
              <a:srgbClr val="EEF1F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7112000" y="3429000"/>
            <a:ext cx="0" cy="4457700"/>
          </a:xfrm>
          <a:prstGeom prst="line">
            <a:avLst/>
          </a:prstGeom>
          <a:ln cap="flat" w="9525">
            <a:solidFill>
              <a:srgbClr val="EEF1F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7842250" y="3429000"/>
            <a:ext cx="0" cy="4457700"/>
          </a:xfrm>
          <a:prstGeom prst="line">
            <a:avLst/>
          </a:prstGeom>
          <a:ln cap="flat" w="9525">
            <a:solidFill>
              <a:srgbClr val="EEF1F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8572500" y="3429000"/>
            <a:ext cx="0" cy="4457700"/>
          </a:xfrm>
          <a:prstGeom prst="line">
            <a:avLst/>
          </a:prstGeom>
          <a:ln cap="flat" w="9525">
            <a:solidFill>
              <a:srgbClr val="EEF1F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>
            <a:off x="9302750" y="3429000"/>
            <a:ext cx="0" cy="4457700"/>
          </a:xfrm>
          <a:prstGeom prst="line">
            <a:avLst/>
          </a:prstGeom>
          <a:ln cap="flat" w="9525">
            <a:solidFill>
              <a:srgbClr val="EEF1F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>
            <a:off x="10033000" y="3429000"/>
            <a:ext cx="0" cy="4457700"/>
          </a:xfrm>
          <a:prstGeom prst="line">
            <a:avLst/>
          </a:prstGeom>
          <a:ln cap="flat" w="9525">
            <a:solidFill>
              <a:srgbClr val="EEF1F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>
            <a:off x="10763250" y="3429000"/>
            <a:ext cx="0" cy="4457700"/>
          </a:xfrm>
          <a:prstGeom prst="line">
            <a:avLst/>
          </a:prstGeom>
          <a:ln cap="flat" w="9525">
            <a:solidFill>
              <a:srgbClr val="EEF1F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>
            <a:off x="11493500" y="3429000"/>
            <a:ext cx="0" cy="4457700"/>
          </a:xfrm>
          <a:prstGeom prst="line">
            <a:avLst/>
          </a:prstGeom>
          <a:ln cap="flat" w="9525">
            <a:solidFill>
              <a:srgbClr val="EEF1F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>
            <a:off x="12223750" y="3429000"/>
            <a:ext cx="0" cy="4457700"/>
          </a:xfrm>
          <a:prstGeom prst="line">
            <a:avLst/>
          </a:prstGeom>
          <a:ln cap="flat" w="9525">
            <a:solidFill>
              <a:srgbClr val="EEF1F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>
            <a:off x="12954000" y="3429000"/>
            <a:ext cx="0" cy="4457700"/>
          </a:xfrm>
          <a:prstGeom prst="line">
            <a:avLst/>
          </a:prstGeom>
          <a:ln cap="flat" w="9525">
            <a:solidFill>
              <a:srgbClr val="EEF1F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>
            <a:off x="13684250" y="3429000"/>
            <a:ext cx="0" cy="4457700"/>
          </a:xfrm>
          <a:prstGeom prst="line">
            <a:avLst/>
          </a:prstGeom>
          <a:ln cap="flat" w="9525">
            <a:solidFill>
              <a:srgbClr val="EEF1F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>
            <a:off x="14414500" y="3429000"/>
            <a:ext cx="0" cy="4457700"/>
          </a:xfrm>
          <a:prstGeom prst="line">
            <a:avLst/>
          </a:prstGeom>
          <a:ln cap="flat" w="9525">
            <a:solidFill>
              <a:srgbClr val="EEF1F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>
            <a:off x="15144750" y="3429000"/>
            <a:ext cx="0" cy="4457700"/>
          </a:xfrm>
          <a:prstGeom prst="line">
            <a:avLst/>
          </a:prstGeom>
          <a:ln cap="flat" w="9525">
            <a:solidFill>
              <a:srgbClr val="EEF1F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>
            <a:off x="15875000" y="3429000"/>
            <a:ext cx="0" cy="4457700"/>
          </a:xfrm>
          <a:prstGeom prst="line">
            <a:avLst/>
          </a:prstGeom>
          <a:ln cap="flat" w="9525">
            <a:solidFill>
              <a:srgbClr val="EEF1F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>
            <a:off x="16605250" y="3429000"/>
            <a:ext cx="0" cy="4457700"/>
          </a:xfrm>
          <a:prstGeom prst="line">
            <a:avLst/>
          </a:prstGeom>
          <a:ln cap="flat" w="9525">
            <a:solidFill>
              <a:srgbClr val="EEF1F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0" id="30"/>
          <p:cNvSpPr txBox="true"/>
          <p:nvPr/>
        </p:nvSpPr>
        <p:spPr>
          <a:xfrm rot="0">
            <a:off x="4191000" y="3028950"/>
            <a:ext cx="73025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70"/>
              </a:lnSpc>
            </a:pPr>
            <a:r>
              <a:rPr lang="en-US" sz="1050">
                <a:solidFill>
                  <a:srgbClr val="5C6B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921250" y="3028950"/>
            <a:ext cx="73025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70"/>
              </a:lnSpc>
            </a:pPr>
            <a:r>
              <a:rPr lang="en-US" sz="1050">
                <a:solidFill>
                  <a:srgbClr val="5C6B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651500" y="3028950"/>
            <a:ext cx="73025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70"/>
              </a:lnSpc>
            </a:pPr>
            <a:r>
              <a:rPr lang="en-US" sz="1050">
                <a:solidFill>
                  <a:srgbClr val="5C6B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381750" y="3028950"/>
            <a:ext cx="73025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70"/>
              </a:lnSpc>
            </a:pPr>
            <a:r>
              <a:rPr lang="en-US" sz="1050">
                <a:solidFill>
                  <a:srgbClr val="5C6B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112000" y="3028950"/>
            <a:ext cx="73025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70"/>
              </a:lnSpc>
            </a:pPr>
            <a:r>
              <a:rPr lang="en-US" sz="1050">
                <a:solidFill>
                  <a:srgbClr val="5C6B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842250" y="3028950"/>
            <a:ext cx="73025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70"/>
              </a:lnSpc>
            </a:pPr>
            <a:r>
              <a:rPr lang="en-US" sz="1050">
                <a:solidFill>
                  <a:srgbClr val="5C6B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6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8572500" y="3028950"/>
            <a:ext cx="73025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70"/>
              </a:lnSpc>
            </a:pPr>
            <a:r>
              <a:rPr lang="en-US" sz="1050">
                <a:solidFill>
                  <a:srgbClr val="5C6B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7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302750" y="3028950"/>
            <a:ext cx="73025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70"/>
              </a:lnSpc>
            </a:pPr>
            <a:r>
              <a:rPr lang="en-US" sz="1050">
                <a:solidFill>
                  <a:srgbClr val="5C6B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8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033000" y="3028950"/>
            <a:ext cx="73025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70"/>
              </a:lnSpc>
            </a:pPr>
            <a:r>
              <a:rPr lang="en-US" sz="1050">
                <a:solidFill>
                  <a:srgbClr val="5C6B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9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763250" y="3028950"/>
            <a:ext cx="73025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70"/>
              </a:lnSpc>
            </a:pPr>
            <a:r>
              <a:rPr lang="en-US" sz="1050">
                <a:solidFill>
                  <a:srgbClr val="5C6B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1493500" y="3028950"/>
            <a:ext cx="73025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70"/>
              </a:lnSpc>
            </a:pPr>
            <a:r>
              <a:rPr lang="en-US" sz="1050">
                <a:solidFill>
                  <a:srgbClr val="5C6B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11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223750" y="3028950"/>
            <a:ext cx="73025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70"/>
              </a:lnSpc>
            </a:pPr>
            <a:r>
              <a:rPr lang="en-US" sz="1050">
                <a:solidFill>
                  <a:srgbClr val="5C6B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12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954000" y="3028950"/>
            <a:ext cx="73025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70"/>
              </a:lnSpc>
            </a:pPr>
            <a:r>
              <a:rPr lang="en-US" sz="1050">
                <a:solidFill>
                  <a:srgbClr val="5C6B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13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3684250" y="3028950"/>
            <a:ext cx="73025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70"/>
              </a:lnSpc>
            </a:pPr>
            <a:r>
              <a:rPr lang="en-US" sz="1050">
                <a:solidFill>
                  <a:srgbClr val="5C6B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14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4414500" y="3028950"/>
            <a:ext cx="73025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70"/>
              </a:lnSpc>
            </a:pPr>
            <a:r>
              <a:rPr lang="en-US" sz="1050">
                <a:solidFill>
                  <a:srgbClr val="5C6B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15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5144750" y="3028950"/>
            <a:ext cx="73025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70"/>
              </a:lnSpc>
            </a:pPr>
            <a:r>
              <a:rPr lang="en-US" sz="1050">
                <a:solidFill>
                  <a:srgbClr val="5C6B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16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5875000" y="3028950"/>
            <a:ext cx="73025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70"/>
              </a:lnSpc>
            </a:pPr>
            <a:r>
              <a:rPr lang="en-US" sz="1050">
                <a:solidFill>
                  <a:srgbClr val="5C6B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17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6605250" y="3028950"/>
            <a:ext cx="73025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70"/>
              </a:lnSpc>
            </a:pPr>
            <a:r>
              <a:rPr lang="en-US" sz="1050">
                <a:solidFill>
                  <a:srgbClr val="5C6B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18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4191000" y="2705100"/>
            <a:ext cx="4343400" cy="209550"/>
            <a:chOff x="0" y="0"/>
            <a:chExt cx="5791200" cy="2794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791200" cy="279400"/>
            </a:xfrm>
            <a:custGeom>
              <a:avLst/>
              <a:gdLst/>
              <a:ahLst/>
              <a:cxnLst/>
              <a:rect r="r" b="b" t="t" l="l"/>
              <a:pathLst>
                <a:path h="279400" w="5791200">
                  <a:moveTo>
                    <a:pt x="0" y="0"/>
                  </a:moveTo>
                  <a:lnTo>
                    <a:pt x="5791200" y="0"/>
                  </a:lnTo>
                  <a:lnTo>
                    <a:pt x="5791200" y="279400"/>
                  </a:lnTo>
                  <a:lnTo>
                    <a:pt x="0" y="279400"/>
                  </a:lnTo>
                  <a:close/>
                </a:path>
              </a:pathLst>
            </a:custGeom>
            <a:solidFill>
              <a:srgbClr val="E8443A">
                <a:alpha val="11765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5791200" cy="317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8572500" y="2705100"/>
            <a:ext cx="4343400" cy="209550"/>
            <a:chOff x="0" y="0"/>
            <a:chExt cx="5791200" cy="2794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791200" cy="279400"/>
            </a:xfrm>
            <a:custGeom>
              <a:avLst/>
              <a:gdLst/>
              <a:ahLst/>
              <a:cxnLst/>
              <a:rect r="r" b="b" t="t" l="l"/>
              <a:pathLst>
                <a:path h="279400" w="5791200">
                  <a:moveTo>
                    <a:pt x="0" y="0"/>
                  </a:moveTo>
                  <a:lnTo>
                    <a:pt x="5791200" y="0"/>
                  </a:lnTo>
                  <a:lnTo>
                    <a:pt x="5791200" y="279400"/>
                  </a:lnTo>
                  <a:lnTo>
                    <a:pt x="0" y="279400"/>
                  </a:lnTo>
                  <a:close/>
                </a:path>
              </a:pathLst>
            </a:custGeom>
            <a:solidFill>
              <a:srgbClr val="1F7AE0">
                <a:alpha val="11765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5791200" cy="317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2954000" y="2705100"/>
            <a:ext cx="4343400" cy="209550"/>
            <a:chOff x="0" y="0"/>
            <a:chExt cx="5791200" cy="2794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791200" cy="279400"/>
            </a:xfrm>
            <a:custGeom>
              <a:avLst/>
              <a:gdLst/>
              <a:ahLst/>
              <a:cxnLst/>
              <a:rect r="r" b="b" t="t" l="l"/>
              <a:pathLst>
                <a:path h="279400" w="5791200">
                  <a:moveTo>
                    <a:pt x="0" y="0"/>
                  </a:moveTo>
                  <a:lnTo>
                    <a:pt x="5791200" y="0"/>
                  </a:lnTo>
                  <a:lnTo>
                    <a:pt x="5791200" y="279400"/>
                  </a:lnTo>
                  <a:lnTo>
                    <a:pt x="0" y="279400"/>
                  </a:lnTo>
                  <a:close/>
                </a:path>
              </a:pathLst>
            </a:custGeom>
            <a:solidFill>
              <a:srgbClr val="2FA27A">
                <a:alpha val="11765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5791200" cy="317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7" id="57"/>
          <p:cNvSpPr txBox="true"/>
          <p:nvPr/>
        </p:nvSpPr>
        <p:spPr>
          <a:xfrm rot="0">
            <a:off x="4305300" y="2724150"/>
            <a:ext cx="43815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315">
                <a:solidFill>
                  <a:srgbClr val="E8443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FASE 1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8686800" y="2724150"/>
            <a:ext cx="43815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315">
                <a:solidFill>
                  <a:srgbClr val="1F7AE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FASE 2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3068300" y="2724150"/>
            <a:ext cx="43815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315">
                <a:solidFill>
                  <a:srgbClr val="2FA2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FASE 3</a:t>
            </a:r>
          </a:p>
        </p:txBody>
      </p:sp>
      <p:grpSp>
        <p:nvGrpSpPr>
          <p:cNvPr name="Group 60" id="60"/>
          <p:cNvGrpSpPr/>
          <p:nvPr/>
        </p:nvGrpSpPr>
        <p:grpSpPr>
          <a:xfrm rot="0">
            <a:off x="4191000" y="3543300"/>
            <a:ext cx="2152650" cy="228600"/>
            <a:chOff x="0" y="0"/>
            <a:chExt cx="2870200" cy="3048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870200" cy="304800"/>
            </a:xfrm>
            <a:custGeom>
              <a:avLst/>
              <a:gdLst/>
              <a:ahLst/>
              <a:cxnLst/>
              <a:rect r="r" b="b" t="t" l="l"/>
              <a:pathLst>
                <a:path h="304800" w="2870200">
                  <a:moveTo>
                    <a:pt x="0" y="0"/>
                  </a:moveTo>
                  <a:lnTo>
                    <a:pt x="2870200" y="0"/>
                  </a:lnTo>
                  <a:lnTo>
                    <a:pt x="2870200" y="30480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E84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2870200" cy="34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5651500" y="4038600"/>
            <a:ext cx="2882900" cy="228600"/>
            <a:chOff x="0" y="0"/>
            <a:chExt cx="3843867" cy="30480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3843867" cy="304800"/>
            </a:xfrm>
            <a:custGeom>
              <a:avLst/>
              <a:gdLst/>
              <a:ahLst/>
              <a:cxnLst/>
              <a:rect r="r" b="b" t="t" l="l"/>
              <a:pathLst>
                <a:path h="304800" w="3843867">
                  <a:moveTo>
                    <a:pt x="0" y="0"/>
                  </a:moveTo>
                  <a:lnTo>
                    <a:pt x="3843867" y="0"/>
                  </a:lnTo>
                  <a:lnTo>
                    <a:pt x="3843867" y="30480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E84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3843867" cy="34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6381750" y="4533900"/>
            <a:ext cx="2882900" cy="228600"/>
            <a:chOff x="0" y="0"/>
            <a:chExt cx="3843867" cy="3048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3843867" cy="304800"/>
            </a:xfrm>
            <a:custGeom>
              <a:avLst/>
              <a:gdLst/>
              <a:ahLst/>
              <a:cxnLst/>
              <a:rect r="r" b="b" t="t" l="l"/>
              <a:pathLst>
                <a:path h="304800" w="3843867">
                  <a:moveTo>
                    <a:pt x="0" y="0"/>
                  </a:moveTo>
                  <a:lnTo>
                    <a:pt x="3843867" y="0"/>
                  </a:lnTo>
                  <a:lnTo>
                    <a:pt x="3843867" y="30480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1F7AE0"/>
            </a:solidFill>
            <a:ln cap="sq">
              <a:noFill/>
              <a:prstDash val="solid"/>
              <a:miter/>
            </a:ln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3843867" cy="34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7842250" y="5029200"/>
            <a:ext cx="2882900" cy="228600"/>
            <a:chOff x="0" y="0"/>
            <a:chExt cx="3843867" cy="3048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3843867" cy="304800"/>
            </a:xfrm>
            <a:custGeom>
              <a:avLst/>
              <a:gdLst/>
              <a:ahLst/>
              <a:cxnLst/>
              <a:rect r="r" b="b" t="t" l="l"/>
              <a:pathLst>
                <a:path h="304800" w="3843867">
                  <a:moveTo>
                    <a:pt x="0" y="0"/>
                  </a:moveTo>
                  <a:lnTo>
                    <a:pt x="3843867" y="0"/>
                  </a:lnTo>
                  <a:lnTo>
                    <a:pt x="3843867" y="30480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1F7AE0"/>
            </a:solidFill>
            <a:ln cap="sq">
              <a:noFill/>
              <a:prstDash val="solid"/>
              <a:miter/>
            </a:ln>
          </p:spPr>
        </p:sp>
        <p:sp>
          <p:nvSpPr>
            <p:cNvPr name="TextBox 71" id="71"/>
            <p:cNvSpPr txBox="true"/>
            <p:nvPr/>
          </p:nvSpPr>
          <p:spPr>
            <a:xfrm>
              <a:off x="0" y="-38100"/>
              <a:ext cx="3843867" cy="34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8572500" y="5524500"/>
            <a:ext cx="3613150" cy="228600"/>
            <a:chOff x="0" y="0"/>
            <a:chExt cx="4817533" cy="3048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4817533" cy="304800"/>
            </a:xfrm>
            <a:custGeom>
              <a:avLst/>
              <a:gdLst/>
              <a:ahLst/>
              <a:cxnLst/>
              <a:rect r="r" b="b" t="t" l="l"/>
              <a:pathLst>
                <a:path h="304800" w="4817533">
                  <a:moveTo>
                    <a:pt x="0" y="0"/>
                  </a:moveTo>
                  <a:lnTo>
                    <a:pt x="4817533" y="0"/>
                  </a:lnTo>
                  <a:lnTo>
                    <a:pt x="4817533" y="30480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1F7AE0"/>
            </a:solidFill>
            <a:ln cap="sq">
              <a:noFill/>
              <a:prstDash val="solid"/>
              <a:miter/>
            </a:ln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4817533" cy="34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0763250" y="6019800"/>
            <a:ext cx="3613150" cy="228600"/>
            <a:chOff x="0" y="0"/>
            <a:chExt cx="4817533" cy="30480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4817533" cy="304800"/>
            </a:xfrm>
            <a:custGeom>
              <a:avLst/>
              <a:gdLst/>
              <a:ahLst/>
              <a:cxnLst/>
              <a:rect r="r" b="b" t="t" l="l"/>
              <a:pathLst>
                <a:path h="304800" w="4817533">
                  <a:moveTo>
                    <a:pt x="0" y="0"/>
                  </a:moveTo>
                  <a:lnTo>
                    <a:pt x="4817533" y="0"/>
                  </a:lnTo>
                  <a:lnTo>
                    <a:pt x="4817533" y="30480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1F7AE0"/>
            </a:solidFill>
            <a:ln cap="sq">
              <a:noFill/>
              <a:prstDash val="solid"/>
              <a:miter/>
            </a:ln>
          </p:spPr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4817533" cy="34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1493500" y="6515100"/>
            <a:ext cx="3613150" cy="228600"/>
            <a:chOff x="0" y="0"/>
            <a:chExt cx="4817533" cy="30480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4817533" cy="304800"/>
            </a:xfrm>
            <a:custGeom>
              <a:avLst/>
              <a:gdLst/>
              <a:ahLst/>
              <a:cxnLst/>
              <a:rect r="r" b="b" t="t" l="l"/>
              <a:pathLst>
                <a:path h="304800" w="4817533">
                  <a:moveTo>
                    <a:pt x="0" y="0"/>
                  </a:moveTo>
                  <a:lnTo>
                    <a:pt x="4817533" y="0"/>
                  </a:lnTo>
                  <a:lnTo>
                    <a:pt x="4817533" y="30480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1F7AE0"/>
            </a:solidFill>
            <a:ln cap="sq">
              <a:noFill/>
              <a:prstDash val="solid"/>
              <a:miter/>
            </a:ln>
          </p:spPr>
        </p:sp>
        <p:sp>
          <p:nvSpPr>
            <p:cNvPr name="TextBox 80" id="80"/>
            <p:cNvSpPr txBox="true"/>
            <p:nvPr/>
          </p:nvSpPr>
          <p:spPr>
            <a:xfrm>
              <a:off x="0" y="-38100"/>
              <a:ext cx="4817533" cy="34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2954000" y="7010400"/>
            <a:ext cx="3613150" cy="228600"/>
            <a:chOff x="0" y="0"/>
            <a:chExt cx="4817533" cy="30480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4817533" cy="304800"/>
            </a:xfrm>
            <a:custGeom>
              <a:avLst/>
              <a:gdLst/>
              <a:ahLst/>
              <a:cxnLst/>
              <a:rect r="r" b="b" t="t" l="l"/>
              <a:pathLst>
                <a:path h="304800" w="4817533">
                  <a:moveTo>
                    <a:pt x="0" y="0"/>
                  </a:moveTo>
                  <a:lnTo>
                    <a:pt x="4817533" y="0"/>
                  </a:lnTo>
                  <a:lnTo>
                    <a:pt x="4817533" y="30480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2FA27A"/>
            </a:solidFill>
            <a:ln cap="sq">
              <a:noFill/>
              <a:prstDash val="solid"/>
              <a:miter/>
            </a:ln>
          </p:spPr>
        </p:sp>
        <p:sp>
          <p:nvSpPr>
            <p:cNvPr name="TextBox 83" id="83"/>
            <p:cNvSpPr txBox="true"/>
            <p:nvPr/>
          </p:nvSpPr>
          <p:spPr>
            <a:xfrm>
              <a:off x="0" y="-38100"/>
              <a:ext cx="4817533" cy="34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5144750" y="7505700"/>
            <a:ext cx="2152650" cy="228600"/>
            <a:chOff x="0" y="0"/>
            <a:chExt cx="2870200" cy="30480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870200" cy="304800"/>
            </a:xfrm>
            <a:custGeom>
              <a:avLst/>
              <a:gdLst/>
              <a:ahLst/>
              <a:cxnLst/>
              <a:rect r="r" b="b" t="t" l="l"/>
              <a:pathLst>
                <a:path h="304800" w="2870200">
                  <a:moveTo>
                    <a:pt x="0" y="0"/>
                  </a:moveTo>
                  <a:lnTo>
                    <a:pt x="2870200" y="0"/>
                  </a:lnTo>
                  <a:lnTo>
                    <a:pt x="2870200" y="30480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2FA27A"/>
            </a:solidFill>
            <a:ln cap="sq">
              <a:noFill/>
              <a:prstDash val="solid"/>
              <a:miter/>
            </a:ln>
          </p:spPr>
        </p:sp>
        <p:sp>
          <p:nvSpPr>
            <p:cNvPr name="TextBox 86" id="86"/>
            <p:cNvSpPr txBox="true"/>
            <p:nvPr/>
          </p:nvSpPr>
          <p:spPr>
            <a:xfrm>
              <a:off x="0" y="-38100"/>
              <a:ext cx="2870200" cy="34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7" id="87"/>
          <p:cNvSpPr txBox="true"/>
          <p:nvPr/>
        </p:nvSpPr>
        <p:spPr>
          <a:xfrm rot="0">
            <a:off x="952500" y="3543300"/>
            <a:ext cx="3048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0B1A2B"/>
                </a:solidFill>
                <a:latin typeface="Inter"/>
                <a:ea typeface="Inter"/>
                <a:cs typeface="Inter"/>
                <a:sym typeface="Inter"/>
              </a:rPr>
              <a:t>Análisis y requisitos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952500" y="4038600"/>
            <a:ext cx="3048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0B1A2B"/>
                </a:solidFill>
                <a:latin typeface="Inter"/>
                <a:ea typeface="Inter"/>
                <a:cs typeface="Inter"/>
                <a:sym typeface="Inter"/>
              </a:rPr>
              <a:t>Diseño UX y arquitectura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952500" y="4533900"/>
            <a:ext cx="3048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0B1A2B"/>
                </a:solidFill>
                <a:latin typeface="Inter"/>
                <a:ea typeface="Inter"/>
                <a:cs typeface="Inter"/>
                <a:sym typeface="Inter"/>
              </a:rPr>
              <a:t>Configuración e infraestructura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952500" y="5029200"/>
            <a:ext cx="3048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0B1A2B"/>
                </a:solidFill>
                <a:latin typeface="Inter"/>
                <a:ea typeface="Inter"/>
                <a:cs typeface="Inter"/>
                <a:sym typeface="Inter"/>
              </a:rPr>
              <a:t>Autenticación y roles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952500" y="5524500"/>
            <a:ext cx="3048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0B1A2B"/>
                </a:solidFill>
                <a:latin typeface="Inter"/>
                <a:ea typeface="Inter"/>
                <a:cs typeface="Inter"/>
                <a:sym typeface="Inter"/>
              </a:rPr>
              <a:t>Agenda base y citas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952500" y="6019800"/>
            <a:ext cx="3048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0B1A2B"/>
                </a:solidFill>
                <a:latin typeface="Inter"/>
                <a:ea typeface="Inter"/>
                <a:cs typeface="Inter"/>
                <a:sym typeface="Inter"/>
              </a:rPr>
              <a:t>Motor de reasignación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952500" y="6515100"/>
            <a:ext cx="3048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0B1A2B"/>
                </a:solidFill>
                <a:latin typeface="Inter"/>
                <a:ea typeface="Inter"/>
                <a:cs typeface="Inter"/>
                <a:sym typeface="Inter"/>
              </a:rPr>
              <a:t>Cliente de escritorio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952500" y="7010400"/>
            <a:ext cx="3048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0B1A2B"/>
                </a:solidFill>
                <a:latin typeface="Inter"/>
                <a:ea typeface="Inter"/>
                <a:cs typeface="Inter"/>
                <a:sym typeface="Inter"/>
              </a:rPr>
              <a:t>Pruebas E2E y seguridad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952500" y="7505700"/>
            <a:ext cx="3048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0B1A2B"/>
                </a:solidFill>
                <a:latin typeface="Inter"/>
                <a:ea typeface="Inter"/>
                <a:cs typeface="Inter"/>
                <a:sym typeface="Inter"/>
              </a:rPr>
              <a:t>Documentación y cierre</a:t>
            </a:r>
          </a:p>
        </p:txBody>
      </p:sp>
      <p:sp>
        <p:nvSpPr>
          <p:cNvPr name="AutoShape 96" id="96"/>
          <p:cNvSpPr/>
          <p:nvPr/>
        </p:nvSpPr>
        <p:spPr>
          <a:xfrm>
            <a:off x="4191000" y="3429000"/>
            <a:ext cx="13144500" cy="0"/>
          </a:xfrm>
          <a:prstGeom prst="line">
            <a:avLst/>
          </a:prstGeom>
          <a:ln cap="flat" w="9525">
            <a:solidFill>
              <a:srgbClr val="0B1A2B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00" y="457200"/>
            <a:ext cx="57150" cy="266700"/>
            <a:chOff x="0" y="0"/>
            <a:chExt cx="76200" cy="35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6200" cy="355600"/>
            </a:xfrm>
            <a:custGeom>
              <a:avLst/>
              <a:gdLst/>
              <a:ahLst/>
              <a:cxnLst/>
              <a:rect r="r" b="b" t="t" l="l"/>
              <a:pathLst>
                <a:path h="355600" w="76200">
                  <a:moveTo>
                    <a:pt x="0" y="0"/>
                  </a:moveTo>
                  <a:lnTo>
                    <a:pt x="76200" y="0"/>
                  </a:lnTo>
                  <a:lnTo>
                    <a:pt x="76200" y="35560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E84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6200" cy="393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162050" y="466725"/>
            <a:ext cx="57150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240">
                <a:solidFill>
                  <a:srgbClr val="5C6B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CITAJUSTA · FASE 1 / 14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668000" y="466725"/>
            <a:ext cx="66675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 spc="240">
                <a:solidFill>
                  <a:srgbClr val="0B1A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Avance actual al 09 de septiembre de 2026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52500" y="9696450"/>
            <a:ext cx="114300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210">
                <a:solidFill>
                  <a:srgbClr val="5C6B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DUOC UC · INGENIERÍA EN INFORMÁTICA · CAPSTONE 2026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430500" y="9696450"/>
            <a:ext cx="19050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70"/>
              </a:lnSpc>
            </a:pPr>
            <a:r>
              <a:rPr lang="en-US" sz="1050" spc="210">
                <a:solidFill>
                  <a:srgbClr val="5C6B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14</a:t>
            </a:r>
          </a:p>
        </p:txBody>
      </p:sp>
      <p:sp>
        <p:nvSpPr>
          <p:cNvPr name="AutoShape 9" id="9"/>
          <p:cNvSpPr/>
          <p:nvPr/>
        </p:nvSpPr>
        <p:spPr>
          <a:xfrm>
            <a:off x="952500" y="857250"/>
            <a:ext cx="16383000" cy="0"/>
          </a:xfrm>
          <a:prstGeom prst="line">
            <a:avLst/>
          </a:prstGeom>
          <a:ln cap="flat" w="9525">
            <a:solidFill>
              <a:srgbClr val="D6DDE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952500" y="9544050"/>
            <a:ext cx="16383000" cy="0"/>
          </a:xfrm>
          <a:prstGeom prst="line">
            <a:avLst/>
          </a:prstGeom>
          <a:ln cap="flat" w="9525">
            <a:solidFill>
              <a:srgbClr val="D6DDE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952500" y="1200150"/>
            <a:ext cx="38100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25">
                <a:solidFill>
                  <a:srgbClr val="E8443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13 · EVIDENCIAS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2500" y="1562100"/>
            <a:ext cx="15240000" cy="742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8"/>
              </a:lnSpc>
            </a:pPr>
            <a:r>
              <a:rPr lang="en-US" sz="5400" b="true">
                <a:solidFill>
                  <a:srgbClr val="0B1A2B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Lo que ya está en pie.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2052453" y="2438019"/>
            <a:ext cx="4617752" cy="1814117"/>
            <a:chOff x="0" y="0"/>
            <a:chExt cx="7112000" cy="2794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1120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7112000">
                  <a:moveTo>
                    <a:pt x="0" y="0"/>
                  </a:moveTo>
                  <a:lnTo>
                    <a:pt x="7112000" y="0"/>
                  </a:lnTo>
                  <a:lnTo>
                    <a:pt x="7112000" y="2794000"/>
                  </a:lnTo>
                  <a:lnTo>
                    <a:pt x="0" y="2794000"/>
                  </a:lnTo>
                  <a:close/>
                </a:path>
              </a:pathLst>
            </a:custGeom>
            <a:solidFill>
              <a:srgbClr val="FFFFFF"/>
            </a:solidFill>
            <a:ln w="104775" cap="sq">
              <a:solidFill>
                <a:srgbClr val="D6DDE4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7112000" cy="2841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81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299832" y="2685399"/>
            <a:ext cx="230888" cy="230888"/>
            <a:chOff x="0" y="0"/>
            <a:chExt cx="355600" cy="3556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55600" cy="355600"/>
            </a:xfrm>
            <a:custGeom>
              <a:avLst/>
              <a:gdLst/>
              <a:ahLst/>
              <a:cxnLst/>
              <a:rect r="r" b="b" t="t" l="l"/>
              <a:pathLst>
                <a:path h="355600" w="355600">
                  <a:moveTo>
                    <a:pt x="177800" y="0"/>
                  </a:moveTo>
                  <a:cubicBezTo>
                    <a:pt x="275996" y="0"/>
                    <a:pt x="355600" y="79604"/>
                    <a:pt x="355600" y="177800"/>
                  </a:cubicBezTo>
                  <a:cubicBezTo>
                    <a:pt x="355600" y="275996"/>
                    <a:pt x="275996" y="355600"/>
                    <a:pt x="177800" y="355600"/>
                  </a:cubicBezTo>
                  <a:cubicBezTo>
                    <a:pt x="79604" y="355600"/>
                    <a:pt x="0" y="275996"/>
                    <a:pt x="0" y="177800"/>
                  </a:cubicBez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2FA27A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355600" cy="403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81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835124" y="2438019"/>
            <a:ext cx="4617752" cy="1814117"/>
            <a:chOff x="0" y="0"/>
            <a:chExt cx="7112000" cy="2794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1120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7112000">
                  <a:moveTo>
                    <a:pt x="0" y="0"/>
                  </a:moveTo>
                  <a:lnTo>
                    <a:pt x="7112000" y="0"/>
                  </a:lnTo>
                  <a:lnTo>
                    <a:pt x="7112000" y="2794000"/>
                  </a:lnTo>
                  <a:lnTo>
                    <a:pt x="0" y="2794000"/>
                  </a:lnTo>
                  <a:close/>
                </a:path>
              </a:pathLst>
            </a:custGeom>
            <a:solidFill>
              <a:srgbClr val="FFFFFF"/>
            </a:solidFill>
            <a:ln w="104775" cap="sq">
              <a:solidFill>
                <a:srgbClr val="D6DDE4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7112000" cy="2841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81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7082504" y="2685399"/>
            <a:ext cx="230888" cy="230888"/>
            <a:chOff x="0" y="0"/>
            <a:chExt cx="355600" cy="3556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55600" cy="355600"/>
            </a:xfrm>
            <a:custGeom>
              <a:avLst/>
              <a:gdLst/>
              <a:ahLst/>
              <a:cxnLst/>
              <a:rect r="r" b="b" t="t" l="l"/>
              <a:pathLst>
                <a:path h="355600" w="355600">
                  <a:moveTo>
                    <a:pt x="177800" y="0"/>
                  </a:moveTo>
                  <a:cubicBezTo>
                    <a:pt x="275996" y="0"/>
                    <a:pt x="355600" y="79604"/>
                    <a:pt x="355600" y="177800"/>
                  </a:cubicBezTo>
                  <a:cubicBezTo>
                    <a:pt x="355600" y="275996"/>
                    <a:pt x="275996" y="355600"/>
                    <a:pt x="177800" y="355600"/>
                  </a:cubicBezTo>
                  <a:cubicBezTo>
                    <a:pt x="79604" y="355600"/>
                    <a:pt x="0" y="275996"/>
                    <a:pt x="0" y="177800"/>
                  </a:cubicBez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2FA27A"/>
            </a:solidFill>
            <a:ln cap="sq">
              <a:noFill/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355600" cy="403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81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1617796" y="2438019"/>
            <a:ext cx="4617752" cy="1814117"/>
            <a:chOff x="0" y="0"/>
            <a:chExt cx="7112000" cy="2794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1120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7112000">
                  <a:moveTo>
                    <a:pt x="0" y="0"/>
                  </a:moveTo>
                  <a:lnTo>
                    <a:pt x="7112000" y="0"/>
                  </a:lnTo>
                  <a:lnTo>
                    <a:pt x="7112000" y="2794000"/>
                  </a:lnTo>
                  <a:lnTo>
                    <a:pt x="0" y="2794000"/>
                  </a:lnTo>
                  <a:close/>
                </a:path>
              </a:pathLst>
            </a:custGeom>
            <a:solidFill>
              <a:srgbClr val="FFFFFF"/>
            </a:solidFill>
            <a:ln w="104775" cap="sq">
              <a:solidFill>
                <a:srgbClr val="D6DDE4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7112000" cy="2841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81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1865175" y="2685399"/>
            <a:ext cx="230888" cy="230888"/>
            <a:chOff x="0" y="0"/>
            <a:chExt cx="355600" cy="3556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55600" cy="355600"/>
            </a:xfrm>
            <a:custGeom>
              <a:avLst/>
              <a:gdLst/>
              <a:ahLst/>
              <a:cxnLst/>
              <a:rect r="r" b="b" t="t" l="l"/>
              <a:pathLst>
                <a:path h="355600" w="355600">
                  <a:moveTo>
                    <a:pt x="177800" y="0"/>
                  </a:moveTo>
                  <a:cubicBezTo>
                    <a:pt x="275996" y="0"/>
                    <a:pt x="355600" y="79604"/>
                    <a:pt x="355600" y="177800"/>
                  </a:cubicBezTo>
                  <a:cubicBezTo>
                    <a:pt x="355600" y="275996"/>
                    <a:pt x="275996" y="355600"/>
                    <a:pt x="177800" y="355600"/>
                  </a:cubicBezTo>
                  <a:cubicBezTo>
                    <a:pt x="79604" y="355600"/>
                    <a:pt x="0" y="275996"/>
                    <a:pt x="0" y="177800"/>
                  </a:cubicBez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2FA27A"/>
            </a:solidFill>
            <a:ln cap="sq">
              <a:noFill/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355600" cy="403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81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2052453" y="4499515"/>
            <a:ext cx="4617752" cy="1814117"/>
            <a:chOff x="0" y="0"/>
            <a:chExt cx="7112000" cy="27940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1120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7112000">
                  <a:moveTo>
                    <a:pt x="0" y="0"/>
                  </a:moveTo>
                  <a:lnTo>
                    <a:pt x="7112000" y="0"/>
                  </a:lnTo>
                  <a:lnTo>
                    <a:pt x="7112000" y="2794000"/>
                  </a:lnTo>
                  <a:lnTo>
                    <a:pt x="0" y="2794000"/>
                  </a:lnTo>
                  <a:close/>
                </a:path>
              </a:pathLst>
            </a:custGeom>
            <a:solidFill>
              <a:srgbClr val="FFFFFF"/>
            </a:solidFill>
            <a:ln w="104775" cap="sq">
              <a:solidFill>
                <a:srgbClr val="D6DDE4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7112000" cy="2841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81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2299832" y="4746895"/>
            <a:ext cx="230888" cy="230888"/>
            <a:chOff x="0" y="0"/>
            <a:chExt cx="355600" cy="3556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55600" cy="355600"/>
            </a:xfrm>
            <a:custGeom>
              <a:avLst/>
              <a:gdLst/>
              <a:ahLst/>
              <a:cxnLst/>
              <a:rect r="r" b="b" t="t" l="l"/>
              <a:pathLst>
                <a:path h="355600" w="355600">
                  <a:moveTo>
                    <a:pt x="177800" y="0"/>
                  </a:moveTo>
                  <a:cubicBezTo>
                    <a:pt x="275996" y="0"/>
                    <a:pt x="355600" y="79604"/>
                    <a:pt x="355600" y="177800"/>
                  </a:cubicBezTo>
                  <a:cubicBezTo>
                    <a:pt x="355600" y="275996"/>
                    <a:pt x="275996" y="355600"/>
                    <a:pt x="177800" y="355600"/>
                  </a:cubicBezTo>
                  <a:cubicBezTo>
                    <a:pt x="79604" y="355600"/>
                    <a:pt x="0" y="275996"/>
                    <a:pt x="0" y="177800"/>
                  </a:cubicBez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2FA27A"/>
            </a:solidFill>
            <a:ln w="104775" cap="sq">
              <a:solidFill>
                <a:srgbClr val="2FA27A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355600" cy="403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819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6835124" y="4499515"/>
            <a:ext cx="4617752" cy="1814117"/>
            <a:chOff x="0" y="0"/>
            <a:chExt cx="7112000" cy="27940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1120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7112000">
                  <a:moveTo>
                    <a:pt x="0" y="0"/>
                  </a:moveTo>
                  <a:lnTo>
                    <a:pt x="7112000" y="0"/>
                  </a:lnTo>
                  <a:lnTo>
                    <a:pt x="7112000" y="2794000"/>
                  </a:lnTo>
                  <a:lnTo>
                    <a:pt x="0" y="2794000"/>
                  </a:lnTo>
                  <a:close/>
                </a:path>
              </a:pathLst>
            </a:custGeom>
            <a:solidFill>
              <a:srgbClr val="FFFFFF"/>
            </a:solidFill>
            <a:ln w="104775" cap="sq">
              <a:solidFill>
                <a:srgbClr val="D6DDE4"/>
              </a:soli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7112000" cy="2841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819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7082504" y="4746895"/>
            <a:ext cx="230888" cy="230888"/>
            <a:chOff x="0" y="0"/>
            <a:chExt cx="355600" cy="3556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55600" cy="355600"/>
            </a:xfrm>
            <a:custGeom>
              <a:avLst/>
              <a:gdLst/>
              <a:ahLst/>
              <a:cxnLst/>
              <a:rect r="r" b="b" t="t" l="l"/>
              <a:pathLst>
                <a:path h="355600" w="355600">
                  <a:moveTo>
                    <a:pt x="177800" y="0"/>
                  </a:moveTo>
                  <a:cubicBezTo>
                    <a:pt x="275996" y="0"/>
                    <a:pt x="355600" y="79604"/>
                    <a:pt x="355600" y="177800"/>
                  </a:cubicBezTo>
                  <a:cubicBezTo>
                    <a:pt x="355600" y="275996"/>
                    <a:pt x="275996" y="355600"/>
                    <a:pt x="177800" y="355600"/>
                  </a:cubicBezTo>
                  <a:cubicBezTo>
                    <a:pt x="79604" y="355600"/>
                    <a:pt x="0" y="275996"/>
                    <a:pt x="0" y="177800"/>
                  </a:cubicBez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2FA27A"/>
            </a:solidFill>
            <a:ln w="104775" cap="sq">
              <a:solidFill>
                <a:srgbClr val="2FA27A"/>
              </a:solidFill>
              <a:prstDash val="solid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355600" cy="403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819"/>
                </a:lnSpc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1617796" y="4499515"/>
            <a:ext cx="4617752" cy="1814117"/>
            <a:chOff x="0" y="0"/>
            <a:chExt cx="7112000" cy="27940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1120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7112000">
                  <a:moveTo>
                    <a:pt x="0" y="0"/>
                  </a:moveTo>
                  <a:lnTo>
                    <a:pt x="7112000" y="0"/>
                  </a:lnTo>
                  <a:lnTo>
                    <a:pt x="7112000" y="2794000"/>
                  </a:lnTo>
                  <a:lnTo>
                    <a:pt x="0" y="2794000"/>
                  </a:lnTo>
                  <a:close/>
                </a:path>
              </a:pathLst>
            </a:custGeom>
            <a:solidFill>
              <a:srgbClr val="FFFFFF"/>
            </a:solidFill>
            <a:ln w="104775" cap="sq">
              <a:solidFill>
                <a:srgbClr val="D6DDE4"/>
              </a:solidFill>
              <a:prstDash val="solid"/>
              <a:miter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7112000" cy="2841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819"/>
                </a:lnSpc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1865175" y="4746895"/>
            <a:ext cx="230888" cy="230888"/>
            <a:chOff x="0" y="0"/>
            <a:chExt cx="355600" cy="3556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55600" cy="355600"/>
            </a:xfrm>
            <a:custGeom>
              <a:avLst/>
              <a:gdLst/>
              <a:ahLst/>
              <a:cxnLst/>
              <a:rect r="r" b="b" t="t" l="l"/>
              <a:pathLst>
                <a:path h="355600" w="355600">
                  <a:moveTo>
                    <a:pt x="177800" y="0"/>
                  </a:moveTo>
                  <a:cubicBezTo>
                    <a:pt x="275996" y="0"/>
                    <a:pt x="355600" y="79604"/>
                    <a:pt x="355600" y="177800"/>
                  </a:cubicBezTo>
                  <a:cubicBezTo>
                    <a:pt x="355600" y="275996"/>
                    <a:pt x="275996" y="355600"/>
                    <a:pt x="177800" y="355600"/>
                  </a:cubicBezTo>
                  <a:cubicBezTo>
                    <a:pt x="79604" y="355600"/>
                    <a:pt x="0" y="275996"/>
                    <a:pt x="0" y="177800"/>
                  </a:cubicBez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2FA27A"/>
            </a:solidFill>
            <a:ln w="104775" cap="sq">
              <a:solidFill>
                <a:srgbClr val="2FA27A"/>
              </a:solidFill>
              <a:prstDash val="solid"/>
              <a:miter/>
            </a:ln>
          </p:spPr>
        </p:sp>
        <p:sp>
          <p:nvSpPr>
            <p:cNvPr name="TextBox 48" id="48"/>
            <p:cNvSpPr txBox="true"/>
            <p:nvPr/>
          </p:nvSpPr>
          <p:spPr>
            <a:xfrm>
              <a:off x="0" y="-47625"/>
              <a:ext cx="355600" cy="403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819"/>
                </a:lnSpc>
              </a:pP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2299832" y="3017089"/>
            <a:ext cx="4122993" cy="37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8"/>
              </a:lnSpc>
            </a:pPr>
            <a:r>
              <a:rPr lang="en-US" sz="2177" b="true">
                <a:solidFill>
                  <a:srgbClr val="0B1A2B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Repositorio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2299832" y="3462372"/>
            <a:ext cx="4122993" cy="551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6"/>
              </a:lnSpc>
            </a:pPr>
            <a:r>
              <a:rPr lang="en-US" sz="1528">
                <a:solidFill>
                  <a:srgbClr val="0B1A2B"/>
                </a:solidFill>
                <a:latin typeface="Inter"/>
                <a:ea typeface="Inter"/>
                <a:cs typeface="Inter"/>
                <a:sym typeface="Inter"/>
              </a:rPr>
              <a:t>GitHub público con Issues, Kanban, ramas, Pull Requests y trazabilidad real.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7082504" y="3017089"/>
            <a:ext cx="4122993" cy="37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8"/>
              </a:lnSpc>
            </a:pPr>
            <a:r>
              <a:rPr lang="en-US" sz="2177" b="true">
                <a:solidFill>
                  <a:srgbClr val="0B1A2B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Documentación base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7082504" y="3462372"/>
            <a:ext cx="4122993" cy="551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6"/>
              </a:lnSpc>
            </a:pPr>
            <a:r>
              <a:rPr lang="en-US" sz="1528">
                <a:solidFill>
                  <a:srgbClr val="0B1A2B"/>
                </a:solidFill>
                <a:latin typeface="Inter"/>
                <a:ea typeface="Inter"/>
                <a:cs typeface="Inter"/>
                <a:sym typeface="Inter"/>
              </a:rPr>
              <a:t>Backlog, historias, arquitectura, Sprint Backlog y Release Plan actualizados.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1862451" y="2895311"/>
            <a:ext cx="4122993" cy="37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8"/>
              </a:lnSpc>
            </a:pPr>
            <a:r>
              <a:rPr lang="en-US" sz="2177" b="true">
                <a:solidFill>
                  <a:srgbClr val="0B1A2B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Backend + BD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1941616" y="3306380"/>
            <a:ext cx="4120268" cy="764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407">
                <a:solidFill>
                  <a:srgbClr val="0B1A2B"/>
                </a:solidFill>
                <a:latin typeface="Inter"/>
                <a:ea typeface="Inter"/>
                <a:cs typeface="Inter"/>
                <a:sym typeface="Inter"/>
              </a:rPr>
              <a:t>Backend + BD NestJS + PostgreSQL + Prisma.</a:t>
            </a:r>
          </a:p>
          <a:p>
            <a:pPr algn="l">
              <a:lnSpc>
                <a:spcPts val="2040"/>
              </a:lnSpc>
            </a:pPr>
            <a:r>
              <a:rPr lang="en-US" sz="1407">
                <a:solidFill>
                  <a:srgbClr val="0B1A2B"/>
                </a:solidFill>
                <a:latin typeface="Inter"/>
                <a:ea typeface="Inter"/>
                <a:cs typeface="Inter"/>
                <a:sym typeface="Inter"/>
              </a:rPr>
              <a:t> 37 modelos, 7 migraciones y API /api/v1 operativa.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2299832" y="5078585"/>
            <a:ext cx="4122993" cy="37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8"/>
              </a:lnSpc>
            </a:pPr>
            <a:r>
              <a:rPr lang="en-US" sz="2177" b="true">
                <a:solidFill>
                  <a:srgbClr val="0B1A2B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Seguridad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2299832" y="5523868"/>
            <a:ext cx="4122993" cy="551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6"/>
              </a:lnSpc>
            </a:pPr>
            <a:r>
              <a:rPr lang="en-US" sz="1528">
                <a:solidFill>
                  <a:srgbClr val="0B1A2B"/>
                </a:solidFill>
                <a:latin typeface="Inter"/>
                <a:ea typeface="Inter"/>
                <a:cs typeface="Inter"/>
                <a:sym typeface="Inter"/>
              </a:rPr>
              <a:t>JWT, refresh rotativo, Argon2id, RBAC, sesiones y contexto institucional.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7082504" y="4933032"/>
            <a:ext cx="4122993" cy="37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8"/>
              </a:lnSpc>
            </a:pPr>
            <a:r>
              <a:rPr lang="en-US" sz="2177" b="true">
                <a:solidFill>
                  <a:srgbClr val="0B1A2B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Catálogos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7082504" y="5404271"/>
            <a:ext cx="4269613" cy="551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7"/>
              </a:lnSpc>
            </a:pPr>
            <a:r>
              <a:rPr lang="en-US" sz="1542">
                <a:solidFill>
                  <a:srgbClr val="0B1A2B"/>
                </a:solidFill>
                <a:latin typeface="Inter"/>
                <a:ea typeface="Inter"/>
                <a:cs typeface="Inter"/>
                <a:sym typeface="Inter"/>
              </a:rPr>
              <a:t>Instituciones, sedes, servicios, profesionales y disponibilidad integrados con la web.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1865175" y="4958733"/>
            <a:ext cx="4122993" cy="37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8"/>
              </a:lnSpc>
            </a:pPr>
            <a:r>
              <a:rPr lang="en-US" sz="2177" b="true">
                <a:solidFill>
                  <a:srgbClr val="0B1A2B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Pruebas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1865175" y="5284418"/>
            <a:ext cx="4122993" cy="827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6"/>
              </a:lnSpc>
            </a:pPr>
            <a:r>
              <a:rPr lang="en-US" sz="1528">
                <a:solidFill>
                  <a:srgbClr val="0B1A2B"/>
                </a:solidFill>
                <a:latin typeface="Inter"/>
                <a:ea typeface="Inter"/>
                <a:cs typeface="Inter"/>
                <a:sym typeface="Inter"/>
              </a:rPr>
              <a:t>Backend 114/114 · Web 39/39.</a:t>
            </a:r>
          </a:p>
          <a:p>
            <a:pPr algn="l">
              <a:lnSpc>
                <a:spcPts val="2216"/>
              </a:lnSpc>
            </a:pPr>
            <a:r>
              <a:rPr lang="en-US" sz="1528">
                <a:solidFill>
                  <a:srgbClr val="0B1A2B"/>
                </a:solidFill>
                <a:latin typeface="Inter"/>
                <a:ea typeface="Inter"/>
                <a:cs typeface="Inter"/>
                <a:sym typeface="Inter"/>
              </a:rPr>
              <a:t> E2E appointments 22/22 · Web/API/PostgreSQL 13/13.</a:t>
            </a:r>
          </a:p>
        </p:txBody>
      </p:sp>
      <p:grpSp>
        <p:nvGrpSpPr>
          <p:cNvPr name="Group 61" id="61"/>
          <p:cNvGrpSpPr/>
          <p:nvPr/>
        </p:nvGrpSpPr>
        <p:grpSpPr>
          <a:xfrm rot="0">
            <a:off x="2052453" y="6494607"/>
            <a:ext cx="4617752" cy="1814117"/>
            <a:chOff x="0" y="0"/>
            <a:chExt cx="7112000" cy="27940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71120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7112000">
                  <a:moveTo>
                    <a:pt x="0" y="0"/>
                  </a:moveTo>
                  <a:lnTo>
                    <a:pt x="7112000" y="0"/>
                  </a:lnTo>
                  <a:lnTo>
                    <a:pt x="7112000" y="2794000"/>
                  </a:lnTo>
                  <a:lnTo>
                    <a:pt x="0" y="2794000"/>
                  </a:lnTo>
                  <a:close/>
                </a:path>
              </a:pathLst>
            </a:custGeom>
            <a:solidFill>
              <a:srgbClr val="FFFFFF"/>
            </a:solidFill>
            <a:ln w="104775" cap="sq">
              <a:solidFill>
                <a:srgbClr val="D6DDE4"/>
              </a:solidFill>
              <a:prstDash val="solid"/>
              <a:miter/>
            </a:ln>
          </p:spPr>
        </p:sp>
        <p:sp>
          <p:nvSpPr>
            <p:cNvPr name="TextBox 63" id="63"/>
            <p:cNvSpPr txBox="true"/>
            <p:nvPr/>
          </p:nvSpPr>
          <p:spPr>
            <a:xfrm>
              <a:off x="0" y="-47625"/>
              <a:ext cx="7112000" cy="2841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819"/>
                </a:lnSpc>
              </a:pP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2299832" y="6741987"/>
            <a:ext cx="230888" cy="230888"/>
            <a:chOff x="0" y="0"/>
            <a:chExt cx="355600" cy="3556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355600" cy="355600"/>
            </a:xfrm>
            <a:custGeom>
              <a:avLst/>
              <a:gdLst/>
              <a:ahLst/>
              <a:cxnLst/>
              <a:rect r="r" b="b" t="t" l="l"/>
              <a:pathLst>
                <a:path h="355600" w="355600">
                  <a:moveTo>
                    <a:pt x="177800" y="0"/>
                  </a:moveTo>
                  <a:cubicBezTo>
                    <a:pt x="275996" y="0"/>
                    <a:pt x="355600" y="79604"/>
                    <a:pt x="355600" y="177800"/>
                  </a:cubicBezTo>
                  <a:cubicBezTo>
                    <a:pt x="355600" y="275996"/>
                    <a:pt x="275996" y="355600"/>
                    <a:pt x="177800" y="355600"/>
                  </a:cubicBezTo>
                  <a:cubicBezTo>
                    <a:pt x="79604" y="355600"/>
                    <a:pt x="0" y="275996"/>
                    <a:pt x="0" y="177800"/>
                  </a:cubicBez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2FA27A"/>
            </a:solidFill>
            <a:ln w="104775" cap="sq">
              <a:solidFill>
                <a:srgbClr val="2FA27A"/>
              </a:solidFill>
              <a:prstDash val="solid"/>
              <a:miter/>
            </a:ln>
          </p:spPr>
        </p:sp>
        <p:sp>
          <p:nvSpPr>
            <p:cNvPr name="TextBox 66" id="66"/>
            <p:cNvSpPr txBox="true"/>
            <p:nvPr/>
          </p:nvSpPr>
          <p:spPr>
            <a:xfrm>
              <a:off x="0" y="-47625"/>
              <a:ext cx="355600" cy="403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819"/>
                </a:lnSpc>
              </a:pPr>
            </a:p>
          </p:txBody>
        </p:sp>
      </p:grpSp>
      <p:sp>
        <p:nvSpPr>
          <p:cNvPr name="TextBox 67" id="67"/>
          <p:cNvSpPr txBox="true"/>
          <p:nvPr/>
        </p:nvSpPr>
        <p:spPr>
          <a:xfrm rot="0">
            <a:off x="2299832" y="6980730"/>
            <a:ext cx="4122993" cy="37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8"/>
              </a:lnSpc>
            </a:pPr>
            <a:r>
              <a:rPr lang="en-US" sz="2177" b="true">
                <a:solidFill>
                  <a:srgbClr val="0B1A2B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Agenda base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2299832" y="7518960"/>
            <a:ext cx="4122993" cy="551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6"/>
              </a:lnSpc>
            </a:pPr>
            <a:r>
              <a:rPr lang="en-US" sz="1528">
                <a:solidFill>
                  <a:srgbClr val="0B1A2B"/>
                </a:solidFill>
                <a:latin typeface="Inter"/>
                <a:ea typeface="Inter"/>
                <a:cs typeface="Inter"/>
                <a:sym typeface="Inter"/>
              </a:rPr>
              <a:t>Instituciones, sedes, servicios, profesionales y cupos disponibles operativos.</a:t>
            </a:r>
          </a:p>
        </p:txBody>
      </p:sp>
      <p:grpSp>
        <p:nvGrpSpPr>
          <p:cNvPr name="Group 69" id="69"/>
          <p:cNvGrpSpPr/>
          <p:nvPr/>
        </p:nvGrpSpPr>
        <p:grpSpPr>
          <a:xfrm rot="0">
            <a:off x="6877050" y="6446982"/>
            <a:ext cx="4617752" cy="1814117"/>
            <a:chOff x="0" y="0"/>
            <a:chExt cx="7112000" cy="27940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71120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7112000">
                  <a:moveTo>
                    <a:pt x="0" y="0"/>
                  </a:moveTo>
                  <a:lnTo>
                    <a:pt x="7112000" y="0"/>
                  </a:lnTo>
                  <a:lnTo>
                    <a:pt x="7112000" y="2794000"/>
                  </a:lnTo>
                  <a:lnTo>
                    <a:pt x="0" y="2794000"/>
                  </a:lnTo>
                  <a:close/>
                </a:path>
              </a:pathLst>
            </a:custGeom>
            <a:solidFill>
              <a:srgbClr val="FFFFFF"/>
            </a:solidFill>
            <a:ln w="104775" cap="sq">
              <a:solidFill>
                <a:srgbClr val="D6DDE4"/>
              </a:solidFill>
              <a:prstDash val="solid"/>
              <a:miter/>
            </a:ln>
          </p:spPr>
        </p:sp>
        <p:sp>
          <p:nvSpPr>
            <p:cNvPr name="TextBox 71" id="71"/>
            <p:cNvSpPr txBox="true"/>
            <p:nvPr/>
          </p:nvSpPr>
          <p:spPr>
            <a:xfrm>
              <a:off x="0" y="-47625"/>
              <a:ext cx="7112000" cy="2841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819"/>
                </a:lnSpc>
              </a:pP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7124430" y="6694362"/>
            <a:ext cx="230888" cy="230888"/>
            <a:chOff x="0" y="0"/>
            <a:chExt cx="355600" cy="3556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355600" cy="355600"/>
            </a:xfrm>
            <a:custGeom>
              <a:avLst/>
              <a:gdLst/>
              <a:ahLst/>
              <a:cxnLst/>
              <a:rect r="r" b="b" t="t" l="l"/>
              <a:pathLst>
                <a:path h="355600" w="355600">
                  <a:moveTo>
                    <a:pt x="177800" y="0"/>
                  </a:moveTo>
                  <a:cubicBezTo>
                    <a:pt x="275996" y="0"/>
                    <a:pt x="355600" y="79604"/>
                    <a:pt x="355600" y="177800"/>
                  </a:cubicBezTo>
                  <a:cubicBezTo>
                    <a:pt x="355600" y="275996"/>
                    <a:pt x="275996" y="355600"/>
                    <a:pt x="177800" y="355600"/>
                  </a:cubicBezTo>
                  <a:cubicBezTo>
                    <a:pt x="79604" y="355600"/>
                    <a:pt x="0" y="275996"/>
                    <a:pt x="0" y="177800"/>
                  </a:cubicBez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2FA27A"/>
            </a:solidFill>
            <a:ln w="104775" cap="sq">
              <a:solidFill>
                <a:srgbClr val="2FA27A"/>
              </a:solidFill>
              <a:prstDash val="solid"/>
              <a:miter/>
            </a:ln>
          </p:spPr>
        </p:sp>
        <p:sp>
          <p:nvSpPr>
            <p:cNvPr name="TextBox 74" id="74"/>
            <p:cNvSpPr txBox="true"/>
            <p:nvPr/>
          </p:nvSpPr>
          <p:spPr>
            <a:xfrm>
              <a:off x="0" y="-47625"/>
              <a:ext cx="355600" cy="403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819"/>
                </a:lnSpc>
              </a:pPr>
            </a:p>
          </p:txBody>
        </p:sp>
      </p:grpSp>
      <p:sp>
        <p:nvSpPr>
          <p:cNvPr name="TextBox 75" id="75"/>
          <p:cNvSpPr txBox="true"/>
          <p:nvPr/>
        </p:nvSpPr>
        <p:spPr>
          <a:xfrm rot="0">
            <a:off x="7082504" y="6925249"/>
            <a:ext cx="4122993" cy="37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8"/>
              </a:lnSpc>
            </a:pPr>
            <a:r>
              <a:rPr lang="en-US" sz="2177" b="true">
                <a:solidFill>
                  <a:srgbClr val="0B1A2B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Reserva de citas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7082504" y="7306416"/>
            <a:ext cx="3971319" cy="827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6"/>
              </a:lnSpc>
            </a:pPr>
            <a:r>
              <a:rPr lang="en-US" sz="1528">
                <a:solidFill>
                  <a:srgbClr val="0B1A2B"/>
                </a:solidFill>
                <a:latin typeface="Inter"/>
                <a:ea typeface="Inter"/>
                <a:cs typeface="Inter"/>
                <a:sym typeface="Inter"/>
              </a:rPr>
              <a:t>Reserva, confirmación, Mis citas y cancelación implementadas de punta a punta.</a:t>
            </a:r>
          </a:p>
        </p:txBody>
      </p:sp>
      <p:grpSp>
        <p:nvGrpSpPr>
          <p:cNvPr name="Group 77" id="77"/>
          <p:cNvGrpSpPr/>
          <p:nvPr/>
        </p:nvGrpSpPr>
        <p:grpSpPr>
          <a:xfrm rot="0">
            <a:off x="11617796" y="6446982"/>
            <a:ext cx="4617752" cy="1814117"/>
            <a:chOff x="0" y="0"/>
            <a:chExt cx="7112000" cy="279400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71120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7112000">
                  <a:moveTo>
                    <a:pt x="0" y="0"/>
                  </a:moveTo>
                  <a:lnTo>
                    <a:pt x="7112000" y="0"/>
                  </a:lnTo>
                  <a:lnTo>
                    <a:pt x="7112000" y="2794000"/>
                  </a:lnTo>
                  <a:lnTo>
                    <a:pt x="0" y="2794000"/>
                  </a:lnTo>
                  <a:close/>
                </a:path>
              </a:pathLst>
            </a:custGeom>
            <a:solidFill>
              <a:srgbClr val="FFFFFF"/>
            </a:solidFill>
            <a:ln w="104775" cap="sq">
              <a:solidFill>
                <a:srgbClr val="D6DDE4"/>
              </a:solidFill>
              <a:prstDash val="solid"/>
              <a:miter/>
            </a:ln>
          </p:spPr>
        </p:sp>
        <p:sp>
          <p:nvSpPr>
            <p:cNvPr name="TextBox 79" id="79"/>
            <p:cNvSpPr txBox="true"/>
            <p:nvPr/>
          </p:nvSpPr>
          <p:spPr>
            <a:xfrm>
              <a:off x="0" y="-47625"/>
              <a:ext cx="7112000" cy="2841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819"/>
                </a:lnSpc>
              </a:pP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1865175" y="6694362"/>
            <a:ext cx="230888" cy="230888"/>
            <a:chOff x="0" y="0"/>
            <a:chExt cx="355600" cy="35560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355600" cy="355600"/>
            </a:xfrm>
            <a:custGeom>
              <a:avLst/>
              <a:gdLst/>
              <a:ahLst/>
              <a:cxnLst/>
              <a:rect r="r" b="b" t="t" l="l"/>
              <a:pathLst>
                <a:path h="355600" w="355600">
                  <a:moveTo>
                    <a:pt x="177800" y="0"/>
                  </a:moveTo>
                  <a:cubicBezTo>
                    <a:pt x="275996" y="0"/>
                    <a:pt x="355600" y="79604"/>
                    <a:pt x="355600" y="177800"/>
                  </a:cubicBezTo>
                  <a:cubicBezTo>
                    <a:pt x="355600" y="275996"/>
                    <a:pt x="275996" y="355600"/>
                    <a:pt x="177800" y="355600"/>
                  </a:cubicBezTo>
                  <a:cubicBezTo>
                    <a:pt x="79604" y="355600"/>
                    <a:pt x="0" y="275996"/>
                    <a:pt x="0" y="177800"/>
                  </a:cubicBez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2FA27A"/>
            </a:solidFill>
            <a:ln w="104775" cap="sq">
              <a:solidFill>
                <a:srgbClr val="2FA27A"/>
              </a:solidFill>
              <a:prstDash val="solid"/>
              <a:miter/>
            </a:ln>
          </p:spPr>
        </p:sp>
        <p:sp>
          <p:nvSpPr>
            <p:cNvPr name="TextBox 82" id="82"/>
            <p:cNvSpPr txBox="true"/>
            <p:nvPr/>
          </p:nvSpPr>
          <p:spPr>
            <a:xfrm>
              <a:off x="0" y="-47625"/>
              <a:ext cx="355600" cy="403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819"/>
                </a:lnSpc>
              </a:pPr>
            </a:p>
          </p:txBody>
        </p:sp>
      </p:grpSp>
      <p:sp>
        <p:nvSpPr>
          <p:cNvPr name="TextBox 83" id="83"/>
          <p:cNvSpPr txBox="true"/>
          <p:nvPr/>
        </p:nvSpPr>
        <p:spPr>
          <a:xfrm rot="0">
            <a:off x="11952002" y="7407052"/>
            <a:ext cx="4122993" cy="551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6"/>
              </a:lnSpc>
            </a:pPr>
            <a:r>
              <a:rPr lang="en-US" sz="1528">
                <a:solidFill>
                  <a:srgbClr val="0B1A2B"/>
                </a:solidFill>
                <a:latin typeface="Inter"/>
                <a:ea typeface="Inter"/>
                <a:cs typeface="Inter"/>
                <a:sym typeface="Inter"/>
              </a:rPr>
              <a:t>Sprint 4 cerrado 8/8. Sprint 5 en progreso con 6/8 tareas completadas.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11940254" y="6979495"/>
            <a:ext cx="4122993" cy="37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8"/>
              </a:lnSpc>
            </a:pPr>
            <a:r>
              <a:rPr lang="en-US" sz="2177" b="true">
                <a:solidFill>
                  <a:srgbClr val="0B1A2B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Avance Scrum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00" y="457200"/>
            <a:ext cx="57150" cy="266700"/>
            <a:chOff x="0" y="0"/>
            <a:chExt cx="76200" cy="35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6200" cy="355600"/>
            </a:xfrm>
            <a:custGeom>
              <a:avLst/>
              <a:gdLst/>
              <a:ahLst/>
              <a:cxnLst/>
              <a:rect r="r" b="b" t="t" l="l"/>
              <a:pathLst>
                <a:path h="355600" w="76200">
                  <a:moveTo>
                    <a:pt x="0" y="0"/>
                  </a:moveTo>
                  <a:lnTo>
                    <a:pt x="76200" y="0"/>
                  </a:lnTo>
                  <a:lnTo>
                    <a:pt x="76200" y="35560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E8443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6200" cy="393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952500" y="857250"/>
            <a:ext cx="16383000" cy="0"/>
          </a:xfrm>
          <a:prstGeom prst="line">
            <a:avLst/>
          </a:prstGeom>
          <a:ln cap="flat" w="9525">
            <a:solidFill>
              <a:srgbClr val="D6DDE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952500" y="9544050"/>
            <a:ext cx="16383000" cy="0"/>
          </a:xfrm>
          <a:prstGeom prst="line">
            <a:avLst/>
          </a:prstGeom>
          <a:ln cap="flat" w="9525">
            <a:solidFill>
              <a:srgbClr val="D6DDE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25385" y="1908810"/>
            <a:ext cx="17998271" cy="7750506"/>
          </a:xfrm>
          <a:custGeom>
            <a:avLst/>
            <a:gdLst/>
            <a:ahLst/>
            <a:cxnLst/>
            <a:rect r="r" b="b" t="t" l="l"/>
            <a:pathLst>
              <a:path h="7750506" w="17998271">
                <a:moveTo>
                  <a:pt x="0" y="0"/>
                </a:moveTo>
                <a:lnTo>
                  <a:pt x="17998271" y="0"/>
                </a:lnTo>
                <a:lnTo>
                  <a:pt x="17998271" y="7750506"/>
                </a:lnTo>
                <a:lnTo>
                  <a:pt x="0" y="77505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52500" y="9696450"/>
            <a:ext cx="114300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>
                <a:solidFill>
                  <a:srgbClr val="5C6B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DUOC UC · INGENIERÍA EN INFORMÁTICA · CAPSTONE 2026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430500" y="9696450"/>
            <a:ext cx="19050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70"/>
              </a:lnSpc>
            </a:pPr>
            <a:r>
              <a:rPr lang="en-US" sz="1050">
                <a:solidFill>
                  <a:srgbClr val="5C6B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15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62050" y="466725"/>
            <a:ext cx="57150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5C6B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CITAJUSTA · FASE 1 / 15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668000" y="466725"/>
            <a:ext cx="66675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0B1A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Tablero Kanban del proyecto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2500" y="819150"/>
            <a:ext cx="38100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E8443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14 · KANBAN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52500" y="1171575"/>
            <a:ext cx="15240000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b="true" sz="5400">
                <a:solidFill>
                  <a:srgbClr val="0B1A2B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Tablero Kanban · GitHub Projects.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00" y="457200"/>
            <a:ext cx="57150" cy="266700"/>
            <a:chOff x="0" y="0"/>
            <a:chExt cx="76200" cy="35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6200" cy="355600"/>
            </a:xfrm>
            <a:custGeom>
              <a:avLst/>
              <a:gdLst/>
              <a:ahLst/>
              <a:cxnLst/>
              <a:rect r="r" b="b" t="t" l="l"/>
              <a:pathLst>
                <a:path h="355600" w="76200">
                  <a:moveTo>
                    <a:pt x="0" y="0"/>
                  </a:moveTo>
                  <a:lnTo>
                    <a:pt x="76200" y="0"/>
                  </a:lnTo>
                  <a:lnTo>
                    <a:pt x="76200" y="35560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E84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6200" cy="393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162050" y="466725"/>
            <a:ext cx="57150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240">
                <a:solidFill>
                  <a:srgbClr val="5C6B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CITAJUSTA · FASE 1 / 15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668000" y="466725"/>
            <a:ext cx="66675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 spc="240">
                <a:solidFill>
                  <a:srgbClr val="0B1A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Riesgos y restricciones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52500" y="9696450"/>
            <a:ext cx="114300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210">
                <a:solidFill>
                  <a:srgbClr val="5C6B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DUOC UC · INGENIERÍA EN INFORMÁTICA · CAPSTONE 2026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430500" y="9696450"/>
            <a:ext cx="19050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70"/>
              </a:lnSpc>
            </a:pPr>
            <a:r>
              <a:rPr lang="en-US" sz="1050" spc="210">
                <a:solidFill>
                  <a:srgbClr val="5C6B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15</a:t>
            </a:r>
          </a:p>
        </p:txBody>
      </p:sp>
      <p:sp>
        <p:nvSpPr>
          <p:cNvPr name="AutoShape 9" id="9"/>
          <p:cNvSpPr/>
          <p:nvPr/>
        </p:nvSpPr>
        <p:spPr>
          <a:xfrm>
            <a:off x="952500" y="857250"/>
            <a:ext cx="16383000" cy="0"/>
          </a:xfrm>
          <a:prstGeom prst="line">
            <a:avLst/>
          </a:prstGeom>
          <a:ln cap="flat" w="9525">
            <a:solidFill>
              <a:srgbClr val="D6DDE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952500" y="9544050"/>
            <a:ext cx="16383000" cy="0"/>
          </a:xfrm>
          <a:prstGeom prst="line">
            <a:avLst/>
          </a:prstGeom>
          <a:ln cap="flat" w="9525">
            <a:solidFill>
              <a:srgbClr val="D6DDE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952500" y="1200150"/>
            <a:ext cx="38100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25">
                <a:solidFill>
                  <a:srgbClr val="E8443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14 · RIESGOS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2500" y="1695450"/>
            <a:ext cx="15240000" cy="742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8"/>
              </a:lnSpc>
            </a:pPr>
            <a:r>
              <a:rPr lang="en-US" sz="5400" b="true">
                <a:solidFill>
                  <a:srgbClr val="0B1A2B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Cada riesgo, con su mitigación.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52500" y="3019425"/>
            <a:ext cx="57150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360">
                <a:solidFill>
                  <a:srgbClr val="5C6B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RIESGO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382000" y="3019425"/>
            <a:ext cx="57150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360">
                <a:solidFill>
                  <a:srgbClr val="5C6B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MITIGACIÓN</a:t>
            </a:r>
          </a:p>
        </p:txBody>
      </p:sp>
      <p:sp>
        <p:nvSpPr>
          <p:cNvPr name="AutoShape 15" id="15"/>
          <p:cNvSpPr/>
          <p:nvPr/>
        </p:nvSpPr>
        <p:spPr>
          <a:xfrm>
            <a:off x="952500" y="3333750"/>
            <a:ext cx="16383000" cy="0"/>
          </a:xfrm>
          <a:prstGeom prst="line">
            <a:avLst/>
          </a:prstGeom>
          <a:ln cap="flat" w="19050">
            <a:solidFill>
              <a:srgbClr val="0B1A2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952500" y="4210050"/>
            <a:ext cx="16383000" cy="0"/>
          </a:xfrm>
          <a:prstGeom prst="line">
            <a:avLst/>
          </a:prstGeom>
          <a:ln cap="flat" w="9525">
            <a:solidFill>
              <a:srgbClr val="D6DDE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952500" y="5086350"/>
            <a:ext cx="16383000" cy="0"/>
          </a:xfrm>
          <a:prstGeom prst="line">
            <a:avLst/>
          </a:prstGeom>
          <a:ln cap="flat" w="9525">
            <a:solidFill>
              <a:srgbClr val="D6DDE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952500" y="5962650"/>
            <a:ext cx="16383000" cy="0"/>
          </a:xfrm>
          <a:prstGeom prst="line">
            <a:avLst/>
          </a:prstGeom>
          <a:ln cap="flat" w="9525">
            <a:solidFill>
              <a:srgbClr val="D6DDE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>
            <a:off x="952500" y="6838950"/>
            <a:ext cx="16383000" cy="0"/>
          </a:xfrm>
          <a:prstGeom prst="line">
            <a:avLst/>
          </a:prstGeom>
          <a:ln cap="flat" w="9525">
            <a:solidFill>
              <a:srgbClr val="D6DDE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>
            <a:off x="952500" y="7715250"/>
            <a:ext cx="16383000" cy="0"/>
          </a:xfrm>
          <a:prstGeom prst="line">
            <a:avLst/>
          </a:prstGeom>
          <a:ln cap="flat" w="9525">
            <a:solidFill>
              <a:srgbClr val="D6DDE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>
            <a:off x="952500" y="8591550"/>
            <a:ext cx="16383000" cy="0"/>
          </a:xfrm>
          <a:prstGeom prst="line">
            <a:avLst/>
          </a:prstGeom>
          <a:ln cap="flat" w="9525">
            <a:solidFill>
              <a:srgbClr val="D6DDE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2" id="22"/>
          <p:cNvSpPr txBox="true"/>
          <p:nvPr/>
        </p:nvSpPr>
        <p:spPr>
          <a:xfrm rot="0">
            <a:off x="952500" y="3505200"/>
            <a:ext cx="5715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E8443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R1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714500" y="3457575"/>
            <a:ext cx="6096000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0B1A2B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Tiempo académico limitado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382000" y="3514725"/>
            <a:ext cx="8953500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650">
                <a:solidFill>
                  <a:srgbClr val="0B1A2B"/>
                </a:solidFill>
                <a:latin typeface="Inter"/>
                <a:ea typeface="Inter"/>
                <a:cs typeface="Inter"/>
                <a:sym typeface="Inter"/>
              </a:rPr>
              <a:t>Priorización estricta del MVP y entregas incrementales.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52500" y="4381500"/>
            <a:ext cx="5715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E8443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R2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714500" y="4333875"/>
            <a:ext cx="6096000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0B1A2B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Concurrencia y transacciones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382000" y="4391025"/>
            <a:ext cx="8953500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650">
                <a:solidFill>
                  <a:srgbClr val="0B1A2B"/>
                </a:solidFill>
                <a:latin typeface="Inter"/>
                <a:ea typeface="Inter"/>
                <a:cs typeface="Inter"/>
                <a:sym typeface="Inter"/>
              </a:rPr>
              <a:t>Constraints en BD y validaciones a nivel de servicio.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52500" y="5257800"/>
            <a:ext cx="5715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E8443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R3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714500" y="5210175"/>
            <a:ext cx="6096000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0B1A2B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Complejidad multiplataforma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382000" y="5267325"/>
            <a:ext cx="8953500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650">
                <a:solidFill>
                  <a:srgbClr val="0B1A2B"/>
                </a:solidFill>
                <a:latin typeface="Inter"/>
                <a:ea typeface="Inter"/>
                <a:cs typeface="Inter"/>
                <a:sym typeface="Inter"/>
              </a:rPr>
              <a:t>Lógica centralizada en API compartida entre web y escritorio.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52500" y="6134100"/>
            <a:ext cx="5715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E8443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R4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714500" y="6086475"/>
            <a:ext cx="6096000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0B1A2B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Seguridad y protección de datos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382000" y="6143625"/>
            <a:ext cx="8953500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650">
                <a:solidFill>
                  <a:srgbClr val="0B1A2B"/>
                </a:solidFill>
                <a:latin typeface="Inter"/>
                <a:ea typeface="Inter"/>
                <a:cs typeface="Inter"/>
                <a:sym typeface="Inter"/>
              </a:rPr>
              <a:t>JWT, Argon2id, RBAC y auditoría de eventos críticos.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52500" y="7010400"/>
            <a:ext cx="5715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E8443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R5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714500" y="6962775"/>
            <a:ext cx="6096000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0B1A2B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Dependencia del entorno local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8382000" y="7019925"/>
            <a:ext cx="8953500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650">
                <a:solidFill>
                  <a:srgbClr val="0B1A2B"/>
                </a:solidFill>
                <a:latin typeface="Inter"/>
                <a:ea typeface="Inter"/>
                <a:cs typeface="Inter"/>
                <a:sym typeface="Inter"/>
              </a:rPr>
              <a:t>Docker y Docker Compose para reproducibilidad total.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52500" y="7886700"/>
            <a:ext cx="5715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E8443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R6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714500" y="7839075"/>
            <a:ext cx="6096000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0B1A2B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Trazabilidad Scrum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8382000" y="7896225"/>
            <a:ext cx="8953500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650">
                <a:solidFill>
                  <a:srgbClr val="0B1A2B"/>
                </a:solidFill>
                <a:latin typeface="Inter"/>
                <a:ea typeface="Inter"/>
                <a:cs typeface="Inter"/>
                <a:sym typeface="Inter"/>
              </a:rPr>
              <a:t>Registro continuo de evidencias, ceremonias y decisiones.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00" y="457200"/>
            <a:ext cx="57150" cy="266700"/>
            <a:chOff x="0" y="0"/>
            <a:chExt cx="76200" cy="35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6200" cy="355600"/>
            </a:xfrm>
            <a:custGeom>
              <a:avLst/>
              <a:gdLst/>
              <a:ahLst/>
              <a:cxnLst/>
              <a:rect r="r" b="b" t="t" l="l"/>
              <a:pathLst>
                <a:path h="355600" w="76200">
                  <a:moveTo>
                    <a:pt x="0" y="0"/>
                  </a:moveTo>
                  <a:lnTo>
                    <a:pt x="76200" y="0"/>
                  </a:lnTo>
                  <a:lnTo>
                    <a:pt x="76200" y="35560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E84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6200" cy="393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162050" y="466725"/>
            <a:ext cx="57150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240">
                <a:solidFill>
                  <a:srgbClr val="5C6B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CITAJUSTA · FASE 1 / 16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668000" y="466725"/>
            <a:ext cx="66675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 spc="240">
                <a:solidFill>
                  <a:srgbClr val="0B1A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Innovación y diferenciadores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52500" y="9696450"/>
            <a:ext cx="114300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210">
                <a:solidFill>
                  <a:srgbClr val="5C6B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DUOC UC · INGENIERÍA EN INFORMÁTICA · CAPSTONE 2026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430500" y="9696450"/>
            <a:ext cx="19050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70"/>
              </a:lnSpc>
            </a:pPr>
            <a:r>
              <a:rPr lang="en-US" sz="1050" spc="210">
                <a:solidFill>
                  <a:srgbClr val="5C6B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16</a:t>
            </a:r>
          </a:p>
        </p:txBody>
      </p:sp>
      <p:sp>
        <p:nvSpPr>
          <p:cNvPr name="AutoShape 9" id="9"/>
          <p:cNvSpPr/>
          <p:nvPr/>
        </p:nvSpPr>
        <p:spPr>
          <a:xfrm>
            <a:off x="952500" y="857250"/>
            <a:ext cx="16383000" cy="0"/>
          </a:xfrm>
          <a:prstGeom prst="line">
            <a:avLst/>
          </a:prstGeom>
          <a:ln cap="flat" w="9525">
            <a:solidFill>
              <a:srgbClr val="D6DDE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952500" y="9544050"/>
            <a:ext cx="16383000" cy="0"/>
          </a:xfrm>
          <a:prstGeom prst="line">
            <a:avLst/>
          </a:prstGeom>
          <a:ln cap="flat" w="9525">
            <a:solidFill>
              <a:srgbClr val="D6DDE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952500" y="1200150"/>
            <a:ext cx="38100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25">
                <a:solidFill>
                  <a:srgbClr val="E8443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15 · DIFERENCIAL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2500" y="1695450"/>
            <a:ext cx="15240000" cy="1437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8"/>
              </a:lnSpc>
            </a:pPr>
            <a:r>
              <a:rPr lang="en-US" sz="5400" b="true">
                <a:solidFill>
                  <a:srgbClr val="0B1A2B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Del contacto manual</a:t>
            </a:r>
          </a:p>
          <a:p>
            <a:pPr algn="l">
              <a:lnSpc>
                <a:spcPts val="5508"/>
              </a:lnSpc>
            </a:pPr>
            <a:r>
              <a:rPr lang="en-US" sz="5400" b="true">
                <a:solidFill>
                  <a:srgbClr val="0B1A2B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al ciclo activo.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52500" y="4191000"/>
            <a:ext cx="8001000" cy="4953000"/>
            <a:chOff x="0" y="0"/>
            <a:chExt cx="10668000" cy="6604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668000" cy="6604000"/>
            </a:xfrm>
            <a:custGeom>
              <a:avLst/>
              <a:gdLst/>
              <a:ahLst/>
              <a:cxnLst/>
              <a:rect r="r" b="b" t="t" l="l"/>
              <a:pathLst>
                <a:path h="6604000" w="10668000">
                  <a:moveTo>
                    <a:pt x="0" y="0"/>
                  </a:moveTo>
                  <a:lnTo>
                    <a:pt x="10668000" y="0"/>
                  </a:lnTo>
                  <a:lnTo>
                    <a:pt x="10668000" y="6604000"/>
                  </a:lnTo>
                  <a:lnTo>
                    <a:pt x="0" y="6604000"/>
                  </a:lnTo>
                  <a:close/>
                </a:path>
              </a:pathLst>
            </a:custGeom>
            <a:solidFill>
              <a:srgbClr val="F4F6F8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0668000" cy="664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334500" y="4191000"/>
            <a:ext cx="8001000" cy="4953000"/>
            <a:chOff x="0" y="0"/>
            <a:chExt cx="10668000" cy="6604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668000" cy="6604000"/>
            </a:xfrm>
            <a:custGeom>
              <a:avLst/>
              <a:gdLst/>
              <a:ahLst/>
              <a:cxnLst/>
              <a:rect r="r" b="b" t="t" l="l"/>
              <a:pathLst>
                <a:path h="6604000" w="10668000">
                  <a:moveTo>
                    <a:pt x="0" y="0"/>
                  </a:moveTo>
                  <a:lnTo>
                    <a:pt x="10668000" y="0"/>
                  </a:lnTo>
                  <a:lnTo>
                    <a:pt x="10668000" y="6604000"/>
                  </a:lnTo>
                  <a:lnTo>
                    <a:pt x="0" y="6604000"/>
                  </a:lnTo>
                  <a:close/>
                </a:path>
              </a:pathLst>
            </a:custGeom>
            <a:solidFill>
              <a:srgbClr val="0B1A2B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0668000" cy="664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257300" y="4476750"/>
            <a:ext cx="28575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405">
                <a:solidFill>
                  <a:srgbClr val="5C6B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ANTES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57300" y="4695825"/>
            <a:ext cx="7391400" cy="539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09"/>
              </a:lnSpc>
            </a:pPr>
            <a:r>
              <a:rPr lang="en-US" sz="3150" b="true">
                <a:solidFill>
                  <a:srgbClr val="0B1A2B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Agenda tradicional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639300" y="4476750"/>
            <a:ext cx="3810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405">
                <a:solidFill>
                  <a:srgbClr val="FFB3A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AHORA · CITAJUSTA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639300" y="4695825"/>
            <a:ext cx="7391400" cy="539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09"/>
              </a:lnSpc>
            </a:pPr>
            <a:r>
              <a:rPr lang="en-US" sz="3150" b="true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Ciclo inteligente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57300" y="5867400"/>
            <a:ext cx="73914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C6B7A"/>
                </a:solidFill>
                <a:latin typeface="Inter"/>
                <a:ea typeface="Inter"/>
                <a:cs typeface="Inter"/>
                <a:sym typeface="Inter"/>
              </a:rPr>
              <a:t>— Cancelación pasiva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639300" y="5867400"/>
            <a:ext cx="73914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→ Lista de espera activa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57300" y="6515100"/>
            <a:ext cx="73914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C6B7A"/>
                </a:solidFill>
                <a:latin typeface="Inter"/>
                <a:ea typeface="Inter"/>
                <a:cs typeface="Inter"/>
                <a:sym typeface="Inter"/>
              </a:rPr>
              <a:t>— Contacto manual y disperso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639300" y="6515100"/>
            <a:ext cx="73914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→ Automatización end-to-end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57300" y="7162800"/>
            <a:ext cx="73914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C6B7A"/>
                </a:solidFill>
                <a:latin typeface="Inter"/>
                <a:ea typeface="Inter"/>
                <a:cs typeface="Inter"/>
                <a:sym typeface="Inter"/>
              </a:rPr>
              <a:t>— Poca trazabilidad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639300" y="7162800"/>
            <a:ext cx="73914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→ Priorización trazable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57300" y="7810500"/>
            <a:ext cx="73914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C6B7A"/>
                </a:solidFill>
                <a:latin typeface="Inter"/>
                <a:ea typeface="Inter"/>
                <a:cs typeface="Inter"/>
                <a:sym typeface="Inter"/>
              </a:rPr>
              <a:t>— Cupos que se pierden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639300" y="7810500"/>
            <a:ext cx="73914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→ Trazabilidad auditable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0B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00" y="457200"/>
            <a:ext cx="57150" cy="266700"/>
            <a:chOff x="0" y="0"/>
            <a:chExt cx="76200" cy="35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6200" cy="355600"/>
            </a:xfrm>
            <a:custGeom>
              <a:avLst/>
              <a:gdLst/>
              <a:ahLst/>
              <a:cxnLst/>
              <a:rect r="r" b="b" t="t" l="l"/>
              <a:pathLst>
                <a:path h="355600" w="76200">
                  <a:moveTo>
                    <a:pt x="0" y="0"/>
                  </a:moveTo>
                  <a:lnTo>
                    <a:pt x="76200" y="0"/>
                  </a:lnTo>
                  <a:lnTo>
                    <a:pt x="76200" y="35560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E84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6200" cy="393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162050" y="466725"/>
            <a:ext cx="57150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240">
                <a:solidFill>
                  <a:srgbClr val="8FA1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CITAJUSTA · FASE 1 / 17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668000" y="466725"/>
            <a:ext cx="66675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 spc="24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Tecnologías y arquitectura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52500" y="9696450"/>
            <a:ext cx="114300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210">
                <a:solidFill>
                  <a:srgbClr val="8FA1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DUOC UC · INGENIERÍA EN INFORMÁTICA · CAPSTONE 2026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430500" y="9696450"/>
            <a:ext cx="19050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70"/>
              </a:lnSpc>
            </a:pPr>
            <a:r>
              <a:rPr lang="en-US" sz="1050" spc="210">
                <a:solidFill>
                  <a:srgbClr val="8FA1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17</a:t>
            </a:r>
          </a:p>
        </p:txBody>
      </p:sp>
      <p:sp>
        <p:nvSpPr>
          <p:cNvPr name="AutoShape 9" id="9"/>
          <p:cNvSpPr/>
          <p:nvPr/>
        </p:nvSpPr>
        <p:spPr>
          <a:xfrm>
            <a:off x="952500" y="857250"/>
            <a:ext cx="16383000" cy="0"/>
          </a:xfrm>
          <a:prstGeom prst="line">
            <a:avLst/>
          </a:prstGeom>
          <a:ln cap="flat" w="9525">
            <a:solidFill>
              <a:srgbClr val="22354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952500" y="9544050"/>
            <a:ext cx="16383000" cy="0"/>
          </a:xfrm>
          <a:prstGeom prst="line">
            <a:avLst/>
          </a:prstGeom>
          <a:ln cap="flat" w="9525">
            <a:solidFill>
              <a:srgbClr val="22354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952500" y="1200150"/>
            <a:ext cx="38100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25">
                <a:solidFill>
                  <a:srgbClr val="FFB3A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16 · STACK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2500" y="1695450"/>
            <a:ext cx="15240000" cy="1437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8"/>
              </a:lnSpc>
            </a:pPr>
            <a:r>
              <a:rPr lang="en-US" sz="5400" b="true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Un stack moderno,</a:t>
            </a:r>
          </a:p>
          <a:p>
            <a:pPr algn="l">
              <a:lnSpc>
                <a:spcPts val="5508"/>
              </a:lnSpc>
            </a:pPr>
            <a:r>
              <a:rPr lang="en-US" sz="5400" b="true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verificable y reproducible.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52500" y="4381500"/>
            <a:ext cx="3200400" cy="4381500"/>
            <a:chOff x="0" y="0"/>
            <a:chExt cx="4267200" cy="5842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267200" cy="5842000"/>
            </a:xfrm>
            <a:custGeom>
              <a:avLst/>
              <a:gdLst/>
              <a:ahLst/>
              <a:cxnLst/>
              <a:rect r="r" b="b" t="t" l="l"/>
              <a:pathLst>
                <a:path h="584200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5842000"/>
                  </a:lnTo>
                  <a:lnTo>
                    <a:pt x="0" y="5842000"/>
                  </a:lnTo>
                  <a:close/>
                </a:path>
              </a:pathLst>
            </a:custGeom>
            <a:solidFill>
              <a:srgbClr val="12253A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4267200" cy="588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52500" y="4381500"/>
            <a:ext cx="381000" cy="38100"/>
            <a:chOff x="0" y="0"/>
            <a:chExt cx="508000" cy="50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08000" cy="50800"/>
            </a:xfrm>
            <a:custGeom>
              <a:avLst/>
              <a:gdLst/>
              <a:ahLst/>
              <a:cxnLst/>
              <a:rect r="r" b="b" t="t" l="l"/>
              <a:pathLst>
                <a:path h="50800" w="508000">
                  <a:moveTo>
                    <a:pt x="0" y="0"/>
                  </a:moveTo>
                  <a:lnTo>
                    <a:pt x="508000" y="0"/>
                  </a:lnTo>
                  <a:lnTo>
                    <a:pt x="5080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E84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508000" cy="88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4248150" y="4381500"/>
            <a:ext cx="3200400" cy="4381500"/>
            <a:chOff x="0" y="0"/>
            <a:chExt cx="4267200" cy="5842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267200" cy="5842000"/>
            </a:xfrm>
            <a:custGeom>
              <a:avLst/>
              <a:gdLst/>
              <a:ahLst/>
              <a:cxnLst/>
              <a:rect r="r" b="b" t="t" l="l"/>
              <a:pathLst>
                <a:path h="584200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5842000"/>
                  </a:lnTo>
                  <a:lnTo>
                    <a:pt x="0" y="5842000"/>
                  </a:lnTo>
                  <a:close/>
                </a:path>
              </a:pathLst>
            </a:custGeom>
            <a:solidFill>
              <a:srgbClr val="12253A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4267200" cy="588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4248150" y="4381500"/>
            <a:ext cx="381000" cy="38100"/>
            <a:chOff x="0" y="0"/>
            <a:chExt cx="508000" cy="50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08000" cy="50800"/>
            </a:xfrm>
            <a:custGeom>
              <a:avLst/>
              <a:gdLst/>
              <a:ahLst/>
              <a:cxnLst/>
              <a:rect r="r" b="b" t="t" l="l"/>
              <a:pathLst>
                <a:path h="50800" w="508000">
                  <a:moveTo>
                    <a:pt x="0" y="0"/>
                  </a:moveTo>
                  <a:lnTo>
                    <a:pt x="508000" y="0"/>
                  </a:lnTo>
                  <a:lnTo>
                    <a:pt x="5080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E84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508000" cy="88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7543800" y="4381500"/>
            <a:ext cx="3200400" cy="4381500"/>
            <a:chOff x="0" y="0"/>
            <a:chExt cx="4267200" cy="5842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267200" cy="5842000"/>
            </a:xfrm>
            <a:custGeom>
              <a:avLst/>
              <a:gdLst/>
              <a:ahLst/>
              <a:cxnLst/>
              <a:rect r="r" b="b" t="t" l="l"/>
              <a:pathLst>
                <a:path h="584200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5842000"/>
                  </a:lnTo>
                  <a:lnTo>
                    <a:pt x="0" y="5842000"/>
                  </a:lnTo>
                  <a:close/>
                </a:path>
              </a:pathLst>
            </a:custGeom>
            <a:solidFill>
              <a:srgbClr val="12253A"/>
            </a:soli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4267200" cy="588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7543800" y="4381500"/>
            <a:ext cx="381000" cy="38100"/>
            <a:chOff x="0" y="0"/>
            <a:chExt cx="508000" cy="50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08000" cy="50800"/>
            </a:xfrm>
            <a:custGeom>
              <a:avLst/>
              <a:gdLst/>
              <a:ahLst/>
              <a:cxnLst/>
              <a:rect r="r" b="b" t="t" l="l"/>
              <a:pathLst>
                <a:path h="50800" w="508000">
                  <a:moveTo>
                    <a:pt x="0" y="0"/>
                  </a:moveTo>
                  <a:lnTo>
                    <a:pt x="508000" y="0"/>
                  </a:lnTo>
                  <a:lnTo>
                    <a:pt x="5080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E84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508000" cy="88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839450" y="4381500"/>
            <a:ext cx="3200400" cy="4381500"/>
            <a:chOff x="0" y="0"/>
            <a:chExt cx="4267200" cy="58420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267200" cy="5842000"/>
            </a:xfrm>
            <a:custGeom>
              <a:avLst/>
              <a:gdLst/>
              <a:ahLst/>
              <a:cxnLst/>
              <a:rect r="r" b="b" t="t" l="l"/>
              <a:pathLst>
                <a:path h="584200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5842000"/>
                  </a:lnTo>
                  <a:lnTo>
                    <a:pt x="0" y="5842000"/>
                  </a:lnTo>
                  <a:close/>
                </a:path>
              </a:pathLst>
            </a:custGeom>
            <a:solidFill>
              <a:srgbClr val="12253A"/>
            </a:solidFill>
            <a:ln cap="sq">
              <a:noFill/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4267200" cy="588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839450" y="4381500"/>
            <a:ext cx="381000" cy="38100"/>
            <a:chOff x="0" y="0"/>
            <a:chExt cx="508000" cy="50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08000" cy="50800"/>
            </a:xfrm>
            <a:custGeom>
              <a:avLst/>
              <a:gdLst/>
              <a:ahLst/>
              <a:cxnLst/>
              <a:rect r="r" b="b" t="t" l="l"/>
              <a:pathLst>
                <a:path h="50800" w="508000">
                  <a:moveTo>
                    <a:pt x="0" y="0"/>
                  </a:moveTo>
                  <a:lnTo>
                    <a:pt x="508000" y="0"/>
                  </a:lnTo>
                  <a:lnTo>
                    <a:pt x="5080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E84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508000" cy="88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4135100" y="4381500"/>
            <a:ext cx="3200400" cy="4381500"/>
            <a:chOff x="0" y="0"/>
            <a:chExt cx="4267200" cy="58420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267200" cy="5842000"/>
            </a:xfrm>
            <a:custGeom>
              <a:avLst/>
              <a:gdLst/>
              <a:ahLst/>
              <a:cxnLst/>
              <a:rect r="r" b="b" t="t" l="l"/>
              <a:pathLst>
                <a:path h="584200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5842000"/>
                  </a:lnTo>
                  <a:lnTo>
                    <a:pt x="0" y="5842000"/>
                  </a:lnTo>
                  <a:close/>
                </a:path>
              </a:pathLst>
            </a:custGeom>
            <a:solidFill>
              <a:srgbClr val="12253A"/>
            </a:solidFill>
            <a:ln cap="sq">
              <a:noFill/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4267200" cy="588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4135100" y="4381500"/>
            <a:ext cx="381000" cy="38100"/>
            <a:chOff x="0" y="0"/>
            <a:chExt cx="508000" cy="508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08000" cy="50800"/>
            </a:xfrm>
            <a:custGeom>
              <a:avLst/>
              <a:gdLst/>
              <a:ahLst/>
              <a:cxnLst/>
              <a:rect r="r" b="b" t="t" l="l"/>
              <a:pathLst>
                <a:path h="50800" w="508000">
                  <a:moveTo>
                    <a:pt x="0" y="0"/>
                  </a:moveTo>
                  <a:lnTo>
                    <a:pt x="508000" y="0"/>
                  </a:lnTo>
                  <a:lnTo>
                    <a:pt x="5080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E84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508000" cy="88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1181100" y="4743450"/>
            <a:ext cx="2743200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 spc="337">
                <a:solidFill>
                  <a:srgbClr val="FFB3A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FRONTEND WEB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181100" y="8153400"/>
            <a:ext cx="571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5C708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181100" y="5267325"/>
            <a:ext cx="2743200" cy="1106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1950" b="true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React</a:t>
            </a:r>
          </a:p>
          <a:p>
            <a:pPr algn="l">
              <a:lnSpc>
                <a:spcPts val="2925"/>
              </a:lnSpc>
            </a:pPr>
            <a:r>
              <a:rPr lang="en-US" sz="1950" b="true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Vite</a:t>
            </a:r>
          </a:p>
          <a:p>
            <a:pPr algn="l">
              <a:lnSpc>
                <a:spcPts val="2925"/>
              </a:lnSpc>
            </a:pPr>
            <a:r>
              <a:rPr lang="en-US" sz="1950" b="true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TypeScript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4476750" y="4743450"/>
            <a:ext cx="2743200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 spc="337">
                <a:solidFill>
                  <a:srgbClr val="FFB3A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ESCRITORIO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4476750" y="8153400"/>
            <a:ext cx="571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5C708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4476750" y="5438775"/>
            <a:ext cx="2743200" cy="1106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1950" b="true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Tauri</a:t>
            </a:r>
          </a:p>
          <a:p>
            <a:pPr algn="l">
              <a:lnSpc>
                <a:spcPts val="2925"/>
              </a:lnSpc>
            </a:pPr>
            <a:r>
              <a:rPr lang="en-US" sz="1950" b="true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React</a:t>
            </a:r>
          </a:p>
          <a:p>
            <a:pPr algn="l">
              <a:lnSpc>
                <a:spcPts val="2925"/>
              </a:lnSpc>
            </a:pPr>
            <a:r>
              <a:rPr lang="en-US" sz="1950" b="true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TypeScript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7772400" y="4743450"/>
            <a:ext cx="2743200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 spc="337">
                <a:solidFill>
                  <a:srgbClr val="FFB3A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BACKEND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7772400" y="8153400"/>
            <a:ext cx="571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5C708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7772400" y="5438775"/>
            <a:ext cx="2743200" cy="1106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1950" b="true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NestJS</a:t>
            </a:r>
          </a:p>
          <a:p>
            <a:pPr algn="l">
              <a:lnSpc>
                <a:spcPts val="2925"/>
              </a:lnSpc>
            </a:pPr>
            <a:r>
              <a:rPr lang="en-US" sz="1950" b="true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Prisma ORM</a:t>
            </a:r>
          </a:p>
          <a:p>
            <a:pPr algn="l">
              <a:lnSpc>
                <a:spcPts val="2925"/>
              </a:lnSpc>
            </a:pPr>
            <a:r>
              <a:rPr lang="en-US" sz="1950" b="true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PostgreSQL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1068050" y="4743450"/>
            <a:ext cx="2743200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 spc="337">
                <a:solidFill>
                  <a:srgbClr val="FFB3A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SEGURIDAD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1068050" y="8153400"/>
            <a:ext cx="571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5C708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1068050" y="5438775"/>
            <a:ext cx="2743200" cy="1106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1950" b="true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JWT</a:t>
            </a:r>
          </a:p>
          <a:p>
            <a:pPr algn="l">
              <a:lnSpc>
                <a:spcPts val="2925"/>
              </a:lnSpc>
            </a:pPr>
            <a:r>
              <a:rPr lang="en-US" sz="1950" b="true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Refresh Tokens</a:t>
            </a:r>
          </a:p>
          <a:p>
            <a:pPr algn="l">
              <a:lnSpc>
                <a:spcPts val="2925"/>
              </a:lnSpc>
            </a:pPr>
            <a:r>
              <a:rPr lang="en-US" sz="1950" b="true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RBAC · Argon2id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4363700" y="4743450"/>
            <a:ext cx="2743200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 spc="337">
                <a:solidFill>
                  <a:srgbClr val="FFB3A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DEVOPS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4363700" y="8153400"/>
            <a:ext cx="571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5C708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05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4363700" y="5438775"/>
            <a:ext cx="2743200" cy="1106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1950" b="true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GitHub</a:t>
            </a:r>
          </a:p>
          <a:p>
            <a:pPr algn="l">
              <a:lnSpc>
                <a:spcPts val="2925"/>
              </a:lnSpc>
            </a:pPr>
            <a:r>
              <a:rPr lang="en-US" sz="1950" b="true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Docker</a:t>
            </a:r>
          </a:p>
          <a:p>
            <a:pPr algn="l">
              <a:lnSpc>
                <a:spcPts val="2925"/>
              </a:lnSpc>
            </a:pPr>
            <a:r>
              <a:rPr lang="en-US" sz="1950" b="true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Docker Compose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4363700" y="4972050"/>
            <a:ext cx="2743200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 spc="337">
                <a:solidFill>
                  <a:srgbClr val="FFB3A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Planificado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00" y="457200"/>
            <a:ext cx="57150" cy="266700"/>
            <a:chOff x="0" y="0"/>
            <a:chExt cx="76200" cy="35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6200" cy="355600"/>
            </a:xfrm>
            <a:custGeom>
              <a:avLst/>
              <a:gdLst/>
              <a:ahLst/>
              <a:cxnLst/>
              <a:rect r="r" b="b" t="t" l="l"/>
              <a:pathLst>
                <a:path h="355600" w="76200">
                  <a:moveTo>
                    <a:pt x="0" y="0"/>
                  </a:moveTo>
                  <a:lnTo>
                    <a:pt x="76200" y="0"/>
                  </a:lnTo>
                  <a:lnTo>
                    <a:pt x="76200" y="35560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E84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6200" cy="393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162050" y="466725"/>
            <a:ext cx="57150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240">
                <a:solidFill>
                  <a:srgbClr val="5C6B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CITAJUSTA · FASE 1 / 18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668000" y="466725"/>
            <a:ext cx="66675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 spc="240">
                <a:solidFill>
                  <a:srgbClr val="0B1A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Conclusión y próximos pasos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52500" y="9696450"/>
            <a:ext cx="114300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210">
                <a:solidFill>
                  <a:srgbClr val="5C6B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DUOC UC · INGENIERÍA EN INFORMÁTICA · CAPSTONE 2026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430500" y="9696450"/>
            <a:ext cx="19050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70"/>
              </a:lnSpc>
            </a:pPr>
            <a:r>
              <a:rPr lang="en-US" sz="1050" spc="210">
                <a:solidFill>
                  <a:srgbClr val="5C6B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18</a:t>
            </a:r>
          </a:p>
        </p:txBody>
      </p:sp>
      <p:sp>
        <p:nvSpPr>
          <p:cNvPr name="AutoShape 9" id="9"/>
          <p:cNvSpPr/>
          <p:nvPr/>
        </p:nvSpPr>
        <p:spPr>
          <a:xfrm>
            <a:off x="952500" y="857250"/>
            <a:ext cx="16383000" cy="0"/>
          </a:xfrm>
          <a:prstGeom prst="line">
            <a:avLst/>
          </a:prstGeom>
          <a:ln cap="flat" w="9525">
            <a:solidFill>
              <a:srgbClr val="D6DDE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952500" y="9544050"/>
            <a:ext cx="16383000" cy="0"/>
          </a:xfrm>
          <a:prstGeom prst="line">
            <a:avLst/>
          </a:prstGeom>
          <a:ln cap="flat" w="9525">
            <a:solidFill>
              <a:srgbClr val="D6DDE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952500" y="1200150"/>
            <a:ext cx="38100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25">
                <a:solidFill>
                  <a:srgbClr val="E8443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17 · CIERRE FASE 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2500" y="1790700"/>
            <a:ext cx="11430000" cy="2055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8"/>
              </a:lnSpc>
            </a:pPr>
            <a:r>
              <a:rPr lang="en-US" sz="8100" b="true">
                <a:solidFill>
                  <a:srgbClr val="0B1A2B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Base sólida.</a:t>
            </a:r>
          </a:p>
          <a:p>
            <a:pPr algn="l">
              <a:lnSpc>
                <a:spcPts val="7938"/>
              </a:lnSpc>
            </a:pPr>
            <a:r>
              <a:rPr lang="en-US" sz="8100" b="true">
                <a:solidFill>
                  <a:srgbClr val="0B1A2B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Camino claro.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52500" y="4410075"/>
            <a:ext cx="11430000" cy="123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249">
                <a:solidFill>
                  <a:srgbClr val="0B1A2B"/>
                </a:solidFill>
                <a:latin typeface="Inter"/>
                <a:ea typeface="Inter"/>
                <a:cs typeface="Inter"/>
                <a:sym typeface="Inter"/>
              </a:rPr>
              <a:t>CitaJusta responde a la pérdida silenciosa de cupos y a la desconexión con la lista de espera. Es un desafío técnico exigente y a la vez viable, con entregas incrementales que ya muestran resultados.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52500" y="6698615"/>
            <a:ext cx="381000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spc="287">
                <a:solidFill>
                  <a:srgbClr val="5C6B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PRÓXIMAS FASES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52500" y="7077075"/>
            <a:ext cx="14287500" cy="2055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0B1A2B"/>
                </a:solidFill>
                <a:latin typeface="Inter"/>
                <a:ea typeface="Inter"/>
                <a:cs typeface="Inter"/>
                <a:sym typeface="Inter"/>
              </a:rPr>
              <a:t>HU-007: lista de espera.</a:t>
            </a:r>
          </a:p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0B1A2B"/>
                </a:solidFill>
                <a:latin typeface="Inter"/>
                <a:ea typeface="Inter"/>
                <a:cs typeface="Inter"/>
                <a:sym typeface="Inter"/>
              </a:rPr>
              <a:t>HU-008: preferencias.</a:t>
            </a:r>
          </a:p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0B1A2B"/>
                </a:solidFill>
                <a:latin typeface="Inter"/>
                <a:ea typeface="Inter"/>
                <a:cs typeface="Inter"/>
                <a:sym typeface="Inter"/>
              </a:rPr>
              <a:t>HU-009: ofertas y reasignación.</a:t>
            </a:r>
          </a:p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0B1A2B"/>
                </a:solidFill>
                <a:latin typeface="Inter"/>
                <a:ea typeface="Inter"/>
                <a:cs typeface="Inter"/>
                <a:sym typeface="Inter"/>
              </a:rPr>
              <a:t>Aplicación de escritorio.</a:t>
            </a:r>
          </a:p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0B1A2B"/>
                </a:solidFill>
                <a:latin typeface="Inter"/>
                <a:ea typeface="Inter"/>
                <a:cs typeface="Inter"/>
                <a:sym typeface="Inter"/>
              </a:rPr>
              <a:t>Docker y Docker Compose.</a:t>
            </a:r>
          </a:p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0B1A2B"/>
                </a:solidFill>
                <a:latin typeface="Inter"/>
                <a:ea typeface="Inter"/>
                <a:cs typeface="Inter"/>
                <a:sym typeface="Inter"/>
              </a:rPr>
              <a:t>Pruebas y documentación final.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4287500" y="4476750"/>
            <a:ext cx="3048000" cy="3048000"/>
            <a:chOff x="0" y="0"/>
            <a:chExt cx="4064000" cy="4064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064000" cy="4064000"/>
            </a:xfrm>
            <a:custGeom>
              <a:avLst/>
              <a:gdLst/>
              <a:ahLst/>
              <a:cxnLst/>
              <a:rect r="r" b="b" t="t" l="l"/>
              <a:pathLst>
                <a:path h="4064000" w="4064000">
                  <a:moveTo>
                    <a:pt x="0" y="0"/>
                  </a:moveTo>
                  <a:lnTo>
                    <a:pt x="4064000" y="0"/>
                  </a:lnTo>
                  <a:lnTo>
                    <a:pt x="406400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E84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4064000" cy="410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4287500" y="5467350"/>
            <a:ext cx="3048000" cy="901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3300" b="true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FASE 1</a:t>
            </a:r>
          </a:p>
          <a:p>
            <a:pPr algn="ctr">
              <a:lnSpc>
                <a:spcPts val="3465"/>
              </a:lnSpc>
            </a:pPr>
            <a:r>
              <a:rPr lang="en-US" sz="3300" b="true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COMPLETADA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14300" cy="10287000"/>
            <a:chOff x="0" y="0"/>
            <a:chExt cx="1524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4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84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24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52500" y="1866900"/>
            <a:ext cx="76200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450">
                <a:solidFill>
                  <a:srgbClr val="FFB3A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CITAJUSTA · CAPSTONE 2026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268778"/>
            <a:ext cx="7381510" cy="2350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33"/>
              </a:lnSpc>
            </a:pPr>
            <a:r>
              <a:rPr lang="en-US" sz="18926" b="true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Gracias.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52500" y="6810375"/>
            <a:ext cx="1333500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C9D3DD"/>
                </a:solidFill>
                <a:latin typeface="Inter"/>
                <a:ea typeface="Inter"/>
                <a:cs typeface="Inter"/>
                <a:sym typeface="Inter"/>
              </a:rPr>
              <a:t>Preguntas, comentarios y observaciones son bienvenidos.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52500" y="7886700"/>
            <a:ext cx="28575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315">
                <a:solidFill>
                  <a:srgbClr val="8FA1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EQUIPO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52500" y="8143875"/>
            <a:ext cx="85725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Matías Torres · Bastian Sepúlveda · Diego Simón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2500" y="8743950"/>
            <a:ext cx="28575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315">
                <a:solidFill>
                  <a:srgbClr val="8FA1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CONTEXTO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2500" y="9001125"/>
            <a:ext cx="114300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Ingeniería en Informática · Duoc UC Puente Alto · Septiembre 2026</a:t>
            </a:r>
          </a:p>
        </p:txBody>
      </p:sp>
      <p:sp>
        <p:nvSpPr>
          <p:cNvPr name="AutoShape 12" id="12"/>
          <p:cNvSpPr/>
          <p:nvPr/>
        </p:nvSpPr>
        <p:spPr>
          <a:xfrm>
            <a:off x="952500" y="7810500"/>
            <a:ext cx="8572500" cy="0"/>
          </a:xfrm>
          <a:prstGeom prst="line">
            <a:avLst/>
          </a:prstGeom>
          <a:ln cap="flat" w="9525">
            <a:solidFill>
              <a:srgbClr val="22354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10363200" y="1028700"/>
            <a:ext cx="7359879" cy="7359879"/>
          </a:xfrm>
          <a:custGeom>
            <a:avLst/>
            <a:gdLst/>
            <a:ahLst/>
            <a:cxnLst/>
            <a:rect r="r" b="b" t="t" l="l"/>
            <a:pathLst>
              <a:path h="7359879" w="7359879">
                <a:moveTo>
                  <a:pt x="0" y="0"/>
                </a:moveTo>
                <a:lnTo>
                  <a:pt x="7359879" y="0"/>
                </a:lnTo>
                <a:lnTo>
                  <a:pt x="7359879" y="7359879"/>
                </a:lnTo>
                <a:lnTo>
                  <a:pt x="0" y="73598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DAHUhoo0_Gs</dc:identifier>
  <dcterms:modified xsi:type="dcterms:W3CDTF">2011-08-01T06:04:30Z</dcterms:modified>
  <cp:revision>1</cp:revision>
  <dc:title>CitaJusta Presentacion EVALUACION 1</dc:title>
</cp:coreProperties>
</file>