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8905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Tiempo: 0:40
Buenas tardes. Somos el equipo CitaJusta: Matías Torres, Bastian Sepúlveda y Diego Simón. Presentamos el cierre de la Fase 2 de nuestro proyecto Capstone. CitaJusta es una plataforma web y de escritorio que recupera las horas que se cancelan y las ofrece automáticamente a personas que están en lista de espera. En los próximos quince minutos vamos a mostrar el problema, la solución, cómo está construida, la evidencia de pruebas y lo que queda para el cierre. Yo veré arquitectura, backend e integraciones; Bastian, la aplicación web y la experiencia de usuario; y Diego, la aplicación de escritorio, las pruebas y la documentación.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Bastian · Tiempo: 1:00
Partimos por el problema. En cualquier institución que trabaja con horas agendadas, como un centro de atención, un servicio municipal o una clínica dental, las cancelaciones son parte del día a día. Cuando alguien cancela tarde, esa hora normalmente queda vacía. Al mismo tiempo hay personas en una lista de espera que podrían asistir, pero la lista es pasiva: nadie les avisa a tiempo. Cuando la institución intenta reasignar, lo hace con llamadas o planillas, lo que es lento, poco transparente y no deja registro de a quién se ofreció la hora ni por qué. El resultado es un cupo perdido para la institución y una espera más larga para las personas.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Bastian · Tiempo: 1:00
Nuestra propuesta es convertir la lista de espera en algo activo. La idea se resume en una frase: cuando alguien cancela, CitaJusta encuentra a quien sí puede asistir. Esto se apoya en tres pilares. Primero, es automática: la cancelación dispara de inmediato una oferta con un plazo para responder. Segundo, es justa y explicable: el orden de los candidatos se calcula con reglas objetivas que define la institución, y queda registrado por qué se eligió a cada persona. Tercero, es segura: un cupo nunca se asigna a dos personas, porque la base de datos lo impide, y todo queda auditado. Hay dos canales: la aplicación web para quienes reservan y la aplicación de escritorio para las instituciones, ambas sobre la misma API.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Tiempo: 1:15
Este es el flujo que diferencia a CitaJusta. Una persona A reserva un cupo. Otra persona B, que no encontró hora, se inscribe en la lista de espera indicando días, rango horario y sede. Cuando A cancela, el backend libera el cupo y, en la misma transacción, inicia el proceso de reasignación: evalúa a los candidatos y genera una oferta con plazo para el primero del ranking. Si B acepta, no se crea una cita nueva: se transfiere la misma cita, lo que evita duplicados. Si B rechaza o la oferta expira, el proceso continúa automáticamente con el siguiente candidato. Todo queda en el historial, en las notificaciones y en la auditoría. El 17 de octubre ejecutamos este recorrido completo contra el entorno Docker que preparamos y las 35 verificaciones fueron correctas.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Tiempo: 1:15
La arquitectura es un monolito modular. Tenemos dos clientes, la web en React y la aplicación de escritorio en Tauri, que consumen la misma API REST versionada bajo /api/v1. La API está hecha en NestJS y concentra todas las reglas: autenticación con JWT y refresh rotativo, control de acceso por roles y permisos, y aislamiento por institución y sede. Los clientes nunca deciden permisos, disponibilidad ni reasignaciones; sólo muestran y envían intenciones. La persistencia es PostgreSQL con Prisma: 42 modelos y 12 migraciones versionadas, con restricciones de integridad en la propia base. Las integraciones externas se conectan mediante adaptadores y no tienen autoridad sobre el dominio: si un proveedor falla, una reserva confirmada no se revierte.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Tiempo: 1:00
El motor de reasignación es el núcleo técnico. Primero filtra a los candidatos elegibles: mismo servicio, sede aceptada, días y rango horario declarados y aviso mínimo. Luego ordena con la política vigente de la institución, que es versionada: por ejemplo, prioridad y luego antigüedad en la lista. Genera una oferta con un plazo configurable entre 1 y 60 minutos, y si se rechaza o expira, continúa con el siguiente. Cada evaluación guarda una fotografía del ranking, así que la decisión es explicable. Para la integridad usamos transacciones Serializable, control optimista con lockVersion y una restricción única entre cupo y cita. Lo comprobamos: diez usuarios intentaron reservar el mismo cupo al mismo tiempo y sólo uno lo obtuvo; los otros nueve recibieron conflicto.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Bastian · Tiempo: 1:15
La aplicación web está pensada para la persona que necesita una hora. Puede buscar por institución, sede y servicio, con una fecha específica o de forma flexible en los próximos 7, 14 o 30 días. Ve los cupos disponibles, como en la captura de arriba a la derecha, reserva y recibe un comprobante con estado AGENDADA. Desde Mis citas consulta sus reservas, ve la ubicación de la sede con el mapa, puede copiar la cita a Google Calendar y cancelar. Si no encuentra hora, se inscribe en la lista de espera con sus preferencias, y cuando se libera un cupo ve la oferta con su cuenta regresiva, que es la captura grande; al aceptarla, la cita aparece en Mis citas, abajo a la derecha. También tiene un centro de notificaciones e inicio de sesión local o con Google. La web está construida con React y Vite, y su suite tiene 138 pruebas,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 Tiempo: 1:15
La aplicación de escritorio es para el personal de la institución y está hecha con Tauri 2 sobre React. Después del login, cada módulo se habilita según los permisos del usuario y su contexto de institución o sede; no hay roles fijos en la interfaz. Permite administrar sedes, servicios y profesionales, consultar la agenda del día, configurar disponibilidad y bloqueos, registrar asistencia o inasistencia, supervisar una reasignación con su política, candidatos y ofertas, consultar indicadores como cupos liberados, recuperados y tasa de recuperación, y revisar la auditoría. En la demostración del 15 de octubre comprobamos que una reserva hecha en la web aparece en la agenda de escritorio. La suite de escritorio tiene 165 pruebas aprobadas.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Tiempo: 1:00
En el Sprint 8 incorporamos integraciones externas como adaptadores del backend. Resend envía correos transaccionales mediante un outbox con reintentos e idempotencia; comprobamos la recepción real en Gmail y la nueva plantilla con logo se integró el 17 de octubre. Google OpenID Connect es un método adicional de inicio de sesión, pero no entrega roles: los permisos siguen siendo de CitaJusta. Google Calendar permite copiar explícitamente una cita propia. La ubicación usa OpenStreetMap y enlaces de Google Maps, sin claves ni facturación. Nager.Date consulta los feriados de Chile. WhatsApp quedó fuera: Meta exige verificación empresarial y facturación que no son posibles en un proyecto académico, y lo registramos como cambio de alcance. El principio es que ningún proveedor es fuente de verdad.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 Tiempo: 1:15
Toda esta evidencia la ejecutamos el 17 de octubre sobre el último commit. Tenemos 999 pruebas unitarias sin fallos: 691 de la API, 138 de la web, 165 del escritorio y 5 del paquete compartido. Además corrimos las 18 suites de pruebas de extremo a extremo contra PostgreSQL real, en una base aislada dentro de Docker: 234 de 236 aprobadas. Las dos fallas vienen de una sola aserción desactualizada: la suite de auditoría exige todos los códigos de evento, pero no ejercita la vinculación con Google que se agregó después; la suite de Google sí lo verifica. No es un error funcional y su corrección está en el backlog. También pasamos la prueba de humo del flujo completo y una carga indicativa de 258 consultas por segundo. Queda pendiente un CI que ejecute las pruebas y pruebas de seguridad dedicadas.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 Tiempo: 1:00
Nuestra documentación inicial comprometía Docker como entorno reproducible. Ya tenemos la configuración preparada y verificada, y está en proceso de integración al repositorio por Matías; mientras tanto se entrega como anexo, con la guía de dónde va cada archivo. Con un archivo .env con los secretos y un solo comando, docker compose up, se levantan cuatro servicios: la base PostgreSQL 18; un servicio que aplica las 12 migraciones y los catálogos obligatorios; la API en el puerto 3000; y la web servida por nginx en el puerto 8080, que publica la API en el mismo origen. Hay además un perfil demo que carga datos de demostración. La aplicación de escritorio se ejecuta de forma nativa contra la API en localhost:3000. Lo verificamos el 17 de octubre: el build tomó un minuto y todos los servicios quedaron sanos.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 Tiempo: 1:00
Trabajamos con Scrum en nueve Sprints, desde el análisis hasta las integraciones externas, y hoy estamos en el Sprint 9 de cierre; el Sprint 8 tiene sus historias integradas, pero su cierre formal sigue pendiente. El trabajo se trazó con Product Backlog, historias de usuario, ramas, Pull Requests y un tablero Kanban en GitHub Projects. Tenemos 42 historias terminadas y una excluida, la de WhatsApp, con 78 Pull Requests y 164 commits entre el 27 de agosto y el 17 de octubre. Somos honestos con las lecciones: la retrospectiva formal se registró recién en el Sprint 8, a pedido del docente, así que formalizamos la Definition of Done y el registro de ceremonias. También aprendimos a validar a un proveedor antes de comprometer una historia y a no integrar funcionalidades sin su historia previa.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Bastian · Tiempo: 1:00
La innovación de CitaJusta no está en pedir una hora, eso ya existe. Está en lo que pasa cuando una hora se libera. En la gestión tradicional se depende de llamadas y planillas, la lista de espera no reacciona sola y no queda registro de a quién se ofreció el cupo ni por qué. En CitaJusta la cancelación genera automáticamente una oferta, el orden de los candidatos es explicable y está guardado en políticas versionadas por institución, la base de datos garantiza que no haya doble asignación, y todo queda auditado, para varias instituciones a la vez. No tenemos todavía cifras de impacto real, porque no hemos operado en una institución, pero el módulo de reportes ya calcula los indicadores para medirlo: cupos liberados, recuperados y tasa de recuperación.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 Tiempo: 1:00
Para cerrar, el estado actual. Está listo el MVP web y de escritorio integrado con la API, el motor de reasignación con expiración automática, las cinco integraciones externas, la configuración Docker preparada y verificada, y la documentación de esta fase. Y somos claros con lo pendiente para el Sprint 9. Primero, integrar esa configuración Docker al repositorio. Además, nuestra documentación menciona CORS explícito, cabeceras de seguridad con helmet y rate limiting, pero todavía no están implementados en el código; son la prioridad de hardening. También falta publicar la documentación OpenAPI, agregar integración continua que ejecute las pruebas, validar visualmente la nueva plantilla de correo en Gmail y corregir la prueba E2E desactualizada junto con las dependencias que reporta npm audit.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Bastian · Tiempo: 0:20
Terminamos con la idea que guía el proyecto: una cita cancelada no debería perderse. Gracias por su atención. El repositorio está disponible en GitHub y quedamos atentos a sus preguntas. Si hay tiempo, podemos mostrar la demostración en vivo con Docker siguiendo el guion del anexo.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Equipo (opcional) · Tiempo: 4:00
Diapositiva oculta: sólo se usa si el docente pide una demostración en vivo. Requiere que los archivos del anexo Propuesta_Docker estén copiados en la raíz del repositorio según GUIA_DOCKER.md, o que Matías ya los haya integrado. Antes de la defensa dejar el stack levantado y los datos demo cargados, y verificar que hay cupos AVAILABLE (el seed de booking imprime los horarios). Usar dos ventanas del navegador (una normal y una privada) para los usuarios A y B. Las preferencias de B deben incluir el día del cupo. La oferta aparece en Ofertas apenas A cancela. No mostrar el archivo .env en pantalla.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8184"/>
          </a:solidFill>
          <a:ln/>
        </p:spPr>
      </p:sp>
      <p:sp>
        <p:nvSpPr>
          <p:cNvPr id="3" name="Shape 1"/>
          <p:cNvSpPr/>
          <p:nvPr/>
        </p:nvSpPr>
        <p:spPr>
          <a:xfrm>
            <a:off x="548640" y="6382512"/>
            <a:ext cx="11094415" cy="0"/>
          </a:xfrm>
          <a:prstGeom prst="line">
            <a:avLst/>
          </a:prstGeom>
          <a:noFill/>
          <a:ln w="12700">
            <a:solidFill>
              <a:srgbClr val="E4E9EF"/>
            </a:solidFill>
            <a:prstDash val="solid"/>
          </a:ln>
        </p:spPr>
      </p:sp>
      <p:sp>
        <p:nvSpPr>
          <p:cNvPr id="4" name="Text 2"/>
          <p:cNvSpPr/>
          <p:nvPr/>
        </p:nvSpPr>
        <p:spPr>
          <a:xfrm>
            <a:off x="548640" y="6419088"/>
            <a:ext cx="5486400" cy="274320"/>
          </a:xfrm>
          <a:prstGeom prst="rect">
            <a:avLst/>
          </a:prstGeom>
          <a:noFill/>
          <a:ln/>
        </p:spPr>
        <p:txBody>
          <a:bodyPr wrap="square" rtlCol="0" anchor="ctr"/>
          <a:lstStyle/>
          <a:p>
            <a:pPr marL="0" indent="0">
              <a:buNone/>
            </a:pPr>
            <a:r>
              <a:rPr lang="en-US" sz="1000" dirty="0">
                <a:solidFill>
                  <a:srgbClr val="5B6573"/>
                </a:solidFill>
                <a:latin typeface="Segoe UI" pitchFamily="34" charset="0"/>
                <a:ea typeface="Segoe UI" pitchFamily="34" charset="-122"/>
                <a:cs typeface="Segoe UI" pitchFamily="34" charset="-120"/>
              </a:rPr>
              <a:t>CitaJusta · Capstone APT122 · Entrega Fase 2</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03920" y="-1097280"/>
            <a:ext cx="5120640" cy="5120640"/>
          </a:xfrm>
          <a:prstGeom prst="ellipse">
            <a:avLst/>
          </a:prstGeom>
          <a:solidFill>
            <a:srgbClr val="EDF8F8"/>
          </a:solidFill>
          <a:ln w="12700">
            <a:solidFill>
              <a:srgbClr val="D3ECEC"/>
            </a:solidFill>
            <a:prstDash val="solid"/>
          </a:ln>
        </p:spPr>
      </p:sp>
      <p:sp>
        <p:nvSpPr>
          <p:cNvPr id="3" name="Shape 1"/>
          <p:cNvSpPr/>
          <p:nvPr/>
        </p:nvSpPr>
        <p:spPr>
          <a:xfrm>
            <a:off x="9692640" y="2011680"/>
            <a:ext cx="3840480" cy="3840480"/>
          </a:xfrm>
          <a:prstGeom prst="ellipse">
            <a:avLst/>
          </a:prstGeom>
          <a:solidFill>
            <a:srgbClr val="EDF8F8"/>
          </a:solidFill>
          <a:ln w="12700">
            <a:solidFill>
              <a:srgbClr val="D3ECEC"/>
            </a:solidFill>
            <a:prstDash val="solid"/>
          </a:ln>
        </p:spPr>
      </p:sp>
      <p:sp>
        <p:nvSpPr>
          <p:cNvPr id="4" name="Shape 2"/>
          <p:cNvSpPr/>
          <p:nvPr/>
        </p:nvSpPr>
        <p:spPr>
          <a:xfrm>
            <a:off x="7680960" y="3566160"/>
            <a:ext cx="2377440" cy="2377440"/>
          </a:xfrm>
          <a:prstGeom prst="ellipse">
            <a:avLst/>
          </a:prstGeom>
          <a:solidFill>
            <a:srgbClr val="EDF8F8"/>
          </a:solidFill>
          <a:ln w="12700">
            <a:solidFill>
              <a:srgbClr val="D3ECEC"/>
            </a:solidFill>
            <a:prstDash val="solid"/>
          </a:ln>
        </p:spPr>
      </p:sp>
      <p:pic>
        <p:nvPicPr>
          <p:cNvPr id="5" name="Image 0" descr="logo-duoc-crop.png"/>
          <p:cNvPicPr>
            <a:picLocks noChangeAspect="1"/>
          </p:cNvPicPr>
          <p:nvPr/>
        </p:nvPicPr>
        <p:blipFill>
          <a:blip r:embed="rId3"/>
          <a:stretch>
            <a:fillRect/>
          </a:stretch>
        </p:blipFill>
        <p:spPr>
          <a:xfrm>
            <a:off x="9174175" y="365760"/>
            <a:ext cx="2377440" cy="532215"/>
          </a:xfrm>
          <a:prstGeom prst="rect">
            <a:avLst/>
          </a:prstGeom>
        </p:spPr>
      </p:pic>
      <p:pic>
        <p:nvPicPr>
          <p:cNvPr id="6" name="Image 1" descr="logo-citajusta-crop.png"/>
          <p:cNvPicPr>
            <a:picLocks noChangeAspect="1"/>
          </p:cNvPicPr>
          <p:nvPr/>
        </p:nvPicPr>
        <p:blipFill>
          <a:blip r:embed="rId4"/>
          <a:stretch>
            <a:fillRect/>
          </a:stretch>
        </p:blipFill>
        <p:spPr>
          <a:xfrm>
            <a:off x="685800" y="685800"/>
            <a:ext cx="2926080" cy="1529791"/>
          </a:xfrm>
          <a:prstGeom prst="rect">
            <a:avLst/>
          </a:prstGeom>
        </p:spPr>
      </p:pic>
      <p:sp>
        <p:nvSpPr>
          <p:cNvPr id="7" name="Text 3"/>
          <p:cNvSpPr/>
          <p:nvPr/>
        </p:nvSpPr>
        <p:spPr>
          <a:xfrm>
            <a:off x="685800" y="2377440"/>
            <a:ext cx="7498080" cy="1371600"/>
          </a:xfrm>
          <a:prstGeom prst="rect">
            <a:avLst/>
          </a:prstGeom>
          <a:noFill/>
          <a:ln/>
        </p:spPr>
        <p:txBody>
          <a:bodyPr wrap="square" lIns="635" tIns="635" rIns="635" bIns="635" rtlCol="0" anchor="t"/>
          <a:lstStyle/>
          <a:p>
            <a:pPr marL="0" indent="0" algn="l">
              <a:lnSpc>
                <a:spcPct val="100000"/>
              </a:lnSpc>
              <a:buNone/>
            </a:pPr>
            <a:r>
              <a:rPr lang="en-US" sz="3600" dirty="0">
                <a:solidFill>
                  <a:srgbClr val="172B50"/>
                </a:solidFill>
                <a:latin typeface="Segoe UI Semibold" pitchFamily="34" charset="0"/>
                <a:ea typeface="Segoe UI Semibold" pitchFamily="34" charset="-122"/>
                <a:cs typeface="Segoe UI Semibold" pitchFamily="34" charset="-120"/>
              </a:rPr>
              <a:t>Recuperar citas canceladas y optimizar listas de espera</a:t>
            </a:r>
            <a:endParaRPr lang="en-US" sz="3600" dirty="0"/>
          </a:p>
        </p:txBody>
      </p:sp>
      <p:sp>
        <p:nvSpPr>
          <p:cNvPr id="8" name="Text 4"/>
          <p:cNvSpPr/>
          <p:nvPr/>
        </p:nvSpPr>
        <p:spPr>
          <a:xfrm>
            <a:off x="685800" y="3794760"/>
            <a:ext cx="7315200" cy="411480"/>
          </a:xfrm>
          <a:prstGeom prst="rect">
            <a:avLst/>
          </a:prstGeom>
          <a:noFill/>
          <a:ln/>
        </p:spPr>
        <p:txBody>
          <a:bodyPr wrap="square" lIns="635" tIns="635" rIns="635" bIns="635" rtlCol="0" anchor="t"/>
          <a:lstStyle/>
          <a:p>
            <a:pPr marL="0" indent="0" algn="l">
              <a:lnSpc>
                <a:spcPct val="105000"/>
              </a:lnSpc>
              <a:buNone/>
            </a:pPr>
            <a:r>
              <a:rPr lang="en-US" sz="1800" dirty="0">
                <a:solidFill>
                  <a:srgbClr val="008184"/>
                </a:solidFill>
                <a:latin typeface="Segoe UI Semibold" pitchFamily="34" charset="0"/>
                <a:ea typeface="Segoe UI Semibold" pitchFamily="34" charset="-122"/>
                <a:cs typeface="Segoe UI Semibold" pitchFamily="34" charset="-120"/>
              </a:rPr>
              <a:t>Defensa final · Fase 2 · Proyecto Capstone APT122</a:t>
            </a:r>
            <a:endParaRPr lang="en-US" sz="1800" dirty="0"/>
          </a:p>
        </p:txBody>
      </p:sp>
      <p:sp>
        <p:nvSpPr>
          <p:cNvPr id="9" name="Shape 5"/>
          <p:cNvSpPr/>
          <p:nvPr/>
        </p:nvSpPr>
        <p:spPr>
          <a:xfrm>
            <a:off x="0" y="5257800"/>
            <a:ext cx="12191695" cy="1600200"/>
          </a:xfrm>
          <a:prstGeom prst="rect">
            <a:avLst/>
          </a:prstGeom>
          <a:solidFill>
            <a:srgbClr val="172B50"/>
          </a:solidFill>
          <a:ln w="12700">
            <a:solidFill>
              <a:srgbClr val="172B50"/>
            </a:solidFill>
            <a:prstDash val="solid"/>
          </a:ln>
        </p:spPr>
      </p:sp>
      <p:sp>
        <p:nvSpPr>
          <p:cNvPr id="10" name="Text 6"/>
          <p:cNvSpPr/>
          <p:nvPr/>
        </p:nvSpPr>
        <p:spPr>
          <a:xfrm>
            <a:off x="685800" y="5486400"/>
            <a:ext cx="3566160" cy="365760"/>
          </a:xfrm>
          <a:prstGeom prst="rect">
            <a:avLst/>
          </a:prstGeom>
          <a:noFill/>
          <a:ln/>
        </p:spPr>
        <p:txBody>
          <a:bodyPr wrap="square" lIns="635" tIns="635" rIns="635" bIns="635" rtlCol="0" anchor="t"/>
          <a:lstStyle/>
          <a:p>
            <a:pPr marL="0" indent="0" algn="l">
              <a:lnSpc>
                <a:spcPct val="105000"/>
              </a:lnSpc>
              <a:buNone/>
            </a:pPr>
            <a:r>
              <a:rPr lang="en-US" sz="1700" dirty="0">
                <a:solidFill>
                  <a:srgbClr val="FFFFFF"/>
                </a:solidFill>
                <a:latin typeface="Segoe UI Semibold" pitchFamily="34" charset="0"/>
                <a:ea typeface="Segoe UI Semibold" pitchFamily="34" charset="-122"/>
                <a:cs typeface="Segoe UI Semibold" pitchFamily="34" charset="-120"/>
              </a:rPr>
              <a:t>Matías Andrés Torres</a:t>
            </a:r>
            <a:endParaRPr lang="en-US" sz="1700" dirty="0"/>
          </a:p>
        </p:txBody>
      </p:sp>
      <p:sp>
        <p:nvSpPr>
          <p:cNvPr id="11" name="Text 7"/>
          <p:cNvSpPr/>
          <p:nvPr/>
        </p:nvSpPr>
        <p:spPr>
          <a:xfrm>
            <a:off x="685800" y="5852160"/>
            <a:ext cx="3566160" cy="320040"/>
          </a:xfrm>
          <a:prstGeom prst="rect">
            <a:avLst/>
          </a:prstGeom>
          <a:noFill/>
          <a:ln/>
        </p:spPr>
        <p:txBody>
          <a:bodyPr wrap="square" lIns="635" tIns="635" rIns="635" bIns="635" rtlCol="0" anchor="t"/>
          <a:lstStyle/>
          <a:p>
            <a:pPr marL="0" indent="0" algn="l">
              <a:lnSpc>
                <a:spcPct val="105000"/>
              </a:lnSpc>
              <a:buNone/>
            </a:pPr>
            <a:r>
              <a:rPr lang="en-US" sz="1250" dirty="0">
                <a:solidFill>
                  <a:srgbClr val="B9D9DC"/>
                </a:solidFill>
                <a:latin typeface="Segoe UI" pitchFamily="34" charset="0"/>
                <a:ea typeface="Segoe UI" pitchFamily="34" charset="-122"/>
                <a:cs typeface="Segoe UI" pitchFamily="34" charset="-120"/>
              </a:rPr>
              <a:t>Arquitectura, backend e integraciones</a:t>
            </a:r>
            <a:endParaRPr lang="en-US" sz="1250" dirty="0"/>
          </a:p>
        </p:txBody>
      </p:sp>
      <p:sp>
        <p:nvSpPr>
          <p:cNvPr id="12" name="Text 8"/>
          <p:cNvSpPr/>
          <p:nvPr/>
        </p:nvSpPr>
        <p:spPr>
          <a:xfrm>
            <a:off x="4434840" y="5486400"/>
            <a:ext cx="3566160" cy="365760"/>
          </a:xfrm>
          <a:prstGeom prst="rect">
            <a:avLst/>
          </a:prstGeom>
          <a:noFill/>
          <a:ln/>
        </p:spPr>
        <p:txBody>
          <a:bodyPr wrap="square" lIns="635" tIns="635" rIns="635" bIns="635" rtlCol="0" anchor="t"/>
          <a:lstStyle/>
          <a:p>
            <a:pPr marL="0" indent="0" algn="l">
              <a:lnSpc>
                <a:spcPct val="105000"/>
              </a:lnSpc>
              <a:buNone/>
            </a:pPr>
            <a:r>
              <a:rPr lang="en-US" sz="1700" dirty="0">
                <a:solidFill>
                  <a:srgbClr val="FFFFFF"/>
                </a:solidFill>
                <a:latin typeface="Segoe UI Semibold" pitchFamily="34" charset="0"/>
                <a:ea typeface="Segoe UI Semibold" pitchFamily="34" charset="-122"/>
                <a:cs typeface="Segoe UI Semibold" pitchFamily="34" charset="-120"/>
              </a:rPr>
              <a:t>Bastian Sepúlveda</a:t>
            </a:r>
            <a:endParaRPr lang="en-US" sz="1700" dirty="0"/>
          </a:p>
        </p:txBody>
      </p:sp>
      <p:sp>
        <p:nvSpPr>
          <p:cNvPr id="13" name="Text 9"/>
          <p:cNvSpPr/>
          <p:nvPr/>
        </p:nvSpPr>
        <p:spPr>
          <a:xfrm>
            <a:off x="4434840" y="5852160"/>
            <a:ext cx="3566160" cy="320040"/>
          </a:xfrm>
          <a:prstGeom prst="rect">
            <a:avLst/>
          </a:prstGeom>
          <a:noFill/>
          <a:ln/>
        </p:spPr>
        <p:txBody>
          <a:bodyPr wrap="square" lIns="635" tIns="635" rIns="635" bIns="635" rtlCol="0" anchor="t"/>
          <a:lstStyle/>
          <a:p>
            <a:pPr marL="0" indent="0" algn="l">
              <a:lnSpc>
                <a:spcPct val="105000"/>
              </a:lnSpc>
              <a:buNone/>
            </a:pPr>
            <a:r>
              <a:rPr lang="en-US" sz="1250" dirty="0">
                <a:solidFill>
                  <a:srgbClr val="B9D9DC"/>
                </a:solidFill>
                <a:latin typeface="Segoe UI" pitchFamily="34" charset="0"/>
                <a:ea typeface="Segoe UI" pitchFamily="34" charset="-122"/>
                <a:cs typeface="Segoe UI" pitchFamily="34" charset="-120"/>
              </a:rPr>
              <a:t>Frontend Web y experiencia de usuario</a:t>
            </a:r>
            <a:endParaRPr lang="en-US" sz="1250" dirty="0"/>
          </a:p>
        </p:txBody>
      </p:sp>
      <p:sp>
        <p:nvSpPr>
          <p:cNvPr id="14" name="Text 10"/>
          <p:cNvSpPr/>
          <p:nvPr/>
        </p:nvSpPr>
        <p:spPr>
          <a:xfrm>
            <a:off x="8183880" y="5486400"/>
            <a:ext cx="3566160" cy="365760"/>
          </a:xfrm>
          <a:prstGeom prst="rect">
            <a:avLst/>
          </a:prstGeom>
          <a:noFill/>
          <a:ln/>
        </p:spPr>
        <p:txBody>
          <a:bodyPr wrap="square" lIns="635" tIns="635" rIns="635" bIns="635" rtlCol="0" anchor="t"/>
          <a:lstStyle/>
          <a:p>
            <a:pPr marL="0" indent="0" algn="l">
              <a:lnSpc>
                <a:spcPct val="105000"/>
              </a:lnSpc>
              <a:buNone/>
            </a:pPr>
            <a:r>
              <a:rPr lang="en-US" sz="1700" dirty="0">
                <a:solidFill>
                  <a:srgbClr val="FFFFFF"/>
                </a:solidFill>
                <a:latin typeface="Segoe UI Semibold" pitchFamily="34" charset="0"/>
                <a:ea typeface="Segoe UI Semibold" pitchFamily="34" charset="-122"/>
                <a:cs typeface="Segoe UI Semibold" pitchFamily="34" charset="-120"/>
              </a:rPr>
              <a:t>Diego Simón</a:t>
            </a:r>
            <a:endParaRPr lang="en-US" sz="1700" dirty="0"/>
          </a:p>
        </p:txBody>
      </p:sp>
      <p:sp>
        <p:nvSpPr>
          <p:cNvPr id="15" name="Text 11"/>
          <p:cNvSpPr/>
          <p:nvPr/>
        </p:nvSpPr>
        <p:spPr>
          <a:xfrm>
            <a:off x="8183880" y="5852160"/>
            <a:ext cx="3566160" cy="320040"/>
          </a:xfrm>
          <a:prstGeom prst="rect">
            <a:avLst/>
          </a:prstGeom>
          <a:noFill/>
          <a:ln/>
        </p:spPr>
        <p:txBody>
          <a:bodyPr wrap="square" lIns="635" tIns="635" rIns="635" bIns="635" rtlCol="0" anchor="t"/>
          <a:lstStyle/>
          <a:p>
            <a:pPr marL="0" indent="0" algn="l">
              <a:lnSpc>
                <a:spcPct val="105000"/>
              </a:lnSpc>
              <a:buNone/>
            </a:pPr>
            <a:r>
              <a:rPr lang="en-US" sz="1250" dirty="0">
                <a:solidFill>
                  <a:srgbClr val="B9D9DC"/>
                </a:solidFill>
                <a:latin typeface="Segoe UI" pitchFamily="34" charset="0"/>
                <a:ea typeface="Segoe UI" pitchFamily="34" charset="-122"/>
                <a:cs typeface="Segoe UI" pitchFamily="34" charset="-120"/>
              </a:rPr>
              <a:t>Desktop, pruebas y documentación</a:t>
            </a:r>
            <a:endParaRPr lang="en-US" sz="1250" dirty="0"/>
          </a:p>
        </p:txBody>
      </p:sp>
      <p:sp>
        <p:nvSpPr>
          <p:cNvPr id="16" name="Text 12"/>
          <p:cNvSpPr/>
          <p:nvPr/>
        </p:nvSpPr>
        <p:spPr>
          <a:xfrm>
            <a:off x="685800" y="6355080"/>
            <a:ext cx="8229600" cy="320040"/>
          </a:xfrm>
          <a:prstGeom prst="rect">
            <a:avLst/>
          </a:prstGeom>
          <a:noFill/>
          <a:ln/>
        </p:spPr>
        <p:txBody>
          <a:bodyPr wrap="square" lIns="635" tIns="635" rIns="635" bIns="635" rtlCol="0" anchor="t"/>
          <a:lstStyle/>
          <a:p>
            <a:pPr marL="0" indent="0" algn="l">
              <a:lnSpc>
                <a:spcPct val="105000"/>
              </a:lnSpc>
              <a:buNone/>
            </a:pPr>
            <a:r>
              <a:rPr lang="en-US" sz="1100" dirty="0">
                <a:solidFill>
                  <a:srgbClr val="9FB3C8"/>
                </a:solidFill>
                <a:latin typeface="Segoe UI" pitchFamily="34" charset="0"/>
                <a:ea typeface="Segoe UI" pitchFamily="34" charset="-122"/>
                <a:cs typeface="Segoe UI" pitchFamily="34" charset="-120"/>
              </a:rPr>
              <a:t>Ingeniería en Informática · Duoc UC Puente Alto · Octubre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EL PROBLEMA</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Una cita cancelada suele terminar como un cupo perdido</a:t>
            </a:r>
            <a:endParaRPr lang="en-US" sz="2800" dirty="0"/>
          </a:p>
        </p:txBody>
      </p:sp>
      <p:sp>
        <p:nvSpPr>
          <p:cNvPr id="4" name="Text 2"/>
          <p:cNvSpPr/>
          <p:nvPr/>
        </p:nvSpPr>
        <p:spPr>
          <a:xfrm>
            <a:off x="548640" y="1508760"/>
            <a:ext cx="4572000" cy="320040"/>
          </a:xfrm>
          <a:prstGeom prst="rect">
            <a:avLst/>
          </a:prstGeom>
          <a:noFill/>
          <a:ln/>
        </p:spPr>
        <p:txBody>
          <a:bodyPr wrap="square" lIns="635" tIns="635" rIns="635" bIns="635" rtlCol="0" anchor="t"/>
          <a:lstStyle/>
          <a:p>
            <a:pPr marL="0" indent="0" algn="l">
              <a:lnSpc>
                <a:spcPct val="105000"/>
              </a:lnSpc>
              <a:buNone/>
            </a:pPr>
            <a:r>
              <a:rPr lang="en-US" sz="1400" dirty="0">
                <a:solidFill>
                  <a:srgbClr val="5B6573"/>
                </a:solidFill>
                <a:latin typeface="Segoe UI Semibold" pitchFamily="34" charset="0"/>
                <a:ea typeface="Segoe UI Semibold" pitchFamily="34" charset="-122"/>
                <a:cs typeface="Segoe UI Semibold" pitchFamily="34" charset="-120"/>
              </a:rPr>
              <a:t>Agenda del día</a:t>
            </a:r>
            <a:endParaRPr lang="en-US" sz="1400" dirty="0"/>
          </a:p>
        </p:txBody>
      </p:sp>
      <p:sp>
        <p:nvSpPr>
          <p:cNvPr id="5" name="Shape 3"/>
          <p:cNvSpPr/>
          <p:nvPr/>
        </p:nvSpPr>
        <p:spPr>
          <a:xfrm>
            <a:off x="548640" y="1874520"/>
            <a:ext cx="777240" cy="960120"/>
          </a:xfrm>
          <a:prstGeom prst="roundRect">
            <a:avLst>
              <a:gd name="adj" fmla="val 7059"/>
            </a:avLst>
          </a:prstGeom>
          <a:solidFill>
            <a:srgbClr val="E6F4F4"/>
          </a:solidFill>
          <a:ln w="9525">
            <a:solidFill>
              <a:srgbClr val="B7DCDC"/>
            </a:solidFill>
            <a:prstDash val="solid"/>
          </a:ln>
        </p:spPr>
      </p:sp>
      <p:sp>
        <p:nvSpPr>
          <p:cNvPr id="6" name="Text 4"/>
          <p:cNvSpPr/>
          <p:nvPr/>
        </p:nvSpPr>
        <p:spPr>
          <a:xfrm>
            <a:off x="54864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09:00</a:t>
            </a:r>
            <a:endParaRPr lang="en-US" sz="1100" dirty="0"/>
          </a:p>
        </p:txBody>
      </p:sp>
      <p:sp>
        <p:nvSpPr>
          <p:cNvPr id="7" name="Text 5"/>
          <p:cNvSpPr/>
          <p:nvPr/>
        </p:nvSpPr>
        <p:spPr>
          <a:xfrm>
            <a:off x="54864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8" name="Shape 6"/>
          <p:cNvSpPr/>
          <p:nvPr/>
        </p:nvSpPr>
        <p:spPr>
          <a:xfrm>
            <a:off x="1417320" y="1874520"/>
            <a:ext cx="777240" cy="960120"/>
          </a:xfrm>
          <a:prstGeom prst="roundRect">
            <a:avLst>
              <a:gd name="adj" fmla="val 7059"/>
            </a:avLst>
          </a:prstGeom>
          <a:solidFill>
            <a:srgbClr val="E6F4F4"/>
          </a:solidFill>
          <a:ln w="9525">
            <a:solidFill>
              <a:srgbClr val="B7DCDC"/>
            </a:solidFill>
            <a:prstDash val="solid"/>
          </a:ln>
        </p:spPr>
      </p:sp>
      <p:sp>
        <p:nvSpPr>
          <p:cNvPr id="9" name="Text 7"/>
          <p:cNvSpPr/>
          <p:nvPr/>
        </p:nvSpPr>
        <p:spPr>
          <a:xfrm>
            <a:off x="141732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09:30</a:t>
            </a:r>
            <a:endParaRPr lang="en-US" sz="1100" dirty="0"/>
          </a:p>
        </p:txBody>
      </p:sp>
      <p:sp>
        <p:nvSpPr>
          <p:cNvPr id="10" name="Text 8"/>
          <p:cNvSpPr/>
          <p:nvPr/>
        </p:nvSpPr>
        <p:spPr>
          <a:xfrm>
            <a:off x="141732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11" name="Shape 9"/>
          <p:cNvSpPr/>
          <p:nvPr/>
        </p:nvSpPr>
        <p:spPr>
          <a:xfrm>
            <a:off x="2286000" y="1874520"/>
            <a:ext cx="777240" cy="960120"/>
          </a:xfrm>
          <a:prstGeom prst="roundRect">
            <a:avLst>
              <a:gd name="adj" fmla="val 7059"/>
            </a:avLst>
          </a:prstGeom>
          <a:solidFill>
            <a:srgbClr val="E6F4F4"/>
          </a:solidFill>
          <a:ln w="9525">
            <a:solidFill>
              <a:srgbClr val="B7DCDC"/>
            </a:solidFill>
            <a:prstDash val="solid"/>
          </a:ln>
        </p:spPr>
      </p:sp>
      <p:sp>
        <p:nvSpPr>
          <p:cNvPr id="12" name="Text 10"/>
          <p:cNvSpPr/>
          <p:nvPr/>
        </p:nvSpPr>
        <p:spPr>
          <a:xfrm>
            <a:off x="228600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10:00</a:t>
            </a:r>
            <a:endParaRPr lang="en-US" sz="1100" dirty="0"/>
          </a:p>
        </p:txBody>
      </p:sp>
      <p:sp>
        <p:nvSpPr>
          <p:cNvPr id="13" name="Text 11"/>
          <p:cNvSpPr/>
          <p:nvPr/>
        </p:nvSpPr>
        <p:spPr>
          <a:xfrm>
            <a:off x="228600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14" name="Shape 12"/>
          <p:cNvSpPr/>
          <p:nvPr/>
        </p:nvSpPr>
        <p:spPr>
          <a:xfrm>
            <a:off x="3154680" y="1874520"/>
            <a:ext cx="777240" cy="960120"/>
          </a:xfrm>
          <a:prstGeom prst="roundRect">
            <a:avLst>
              <a:gd name="adj" fmla="val 7059"/>
            </a:avLst>
          </a:prstGeom>
          <a:solidFill>
            <a:srgbClr val="FDECEA"/>
          </a:solidFill>
          <a:ln w="19050">
            <a:solidFill>
              <a:srgbClr val="B42318"/>
            </a:solidFill>
            <a:prstDash val="solid"/>
          </a:ln>
        </p:spPr>
      </p:sp>
      <p:sp>
        <p:nvSpPr>
          <p:cNvPr id="15" name="Text 13"/>
          <p:cNvSpPr/>
          <p:nvPr/>
        </p:nvSpPr>
        <p:spPr>
          <a:xfrm>
            <a:off x="315468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B42318"/>
                </a:solidFill>
                <a:latin typeface="Segoe UI Semibold" pitchFamily="34" charset="0"/>
                <a:ea typeface="Segoe UI Semibold" pitchFamily="34" charset="-122"/>
                <a:cs typeface="Segoe UI Semibold" pitchFamily="34" charset="-120"/>
              </a:rPr>
              <a:t>10:30</a:t>
            </a:r>
            <a:endParaRPr lang="en-US" sz="1100" dirty="0"/>
          </a:p>
        </p:txBody>
      </p:sp>
      <p:sp>
        <p:nvSpPr>
          <p:cNvPr id="16" name="Text 14"/>
          <p:cNvSpPr/>
          <p:nvPr/>
        </p:nvSpPr>
        <p:spPr>
          <a:xfrm>
            <a:off x="315468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B42318"/>
                </a:solidFill>
                <a:latin typeface="Segoe UI" pitchFamily="34" charset="0"/>
                <a:ea typeface="Segoe UI" pitchFamily="34" charset="-122"/>
                <a:cs typeface="Segoe UI" pitchFamily="34" charset="-120"/>
              </a:rPr>
              <a:t>Cancelada</a:t>
            </a:r>
            <a:endParaRPr lang="en-US" sz="1000" dirty="0"/>
          </a:p>
        </p:txBody>
      </p:sp>
      <p:sp>
        <p:nvSpPr>
          <p:cNvPr id="17" name="Shape 15"/>
          <p:cNvSpPr/>
          <p:nvPr/>
        </p:nvSpPr>
        <p:spPr>
          <a:xfrm>
            <a:off x="4023360" y="1874520"/>
            <a:ext cx="777240" cy="960120"/>
          </a:xfrm>
          <a:prstGeom prst="roundRect">
            <a:avLst>
              <a:gd name="adj" fmla="val 7059"/>
            </a:avLst>
          </a:prstGeom>
          <a:solidFill>
            <a:srgbClr val="E6F4F4"/>
          </a:solidFill>
          <a:ln w="9525">
            <a:solidFill>
              <a:srgbClr val="B7DCDC"/>
            </a:solidFill>
            <a:prstDash val="solid"/>
          </a:ln>
        </p:spPr>
      </p:sp>
      <p:sp>
        <p:nvSpPr>
          <p:cNvPr id="18" name="Text 16"/>
          <p:cNvSpPr/>
          <p:nvPr/>
        </p:nvSpPr>
        <p:spPr>
          <a:xfrm>
            <a:off x="402336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11:00</a:t>
            </a:r>
            <a:endParaRPr lang="en-US" sz="1100" dirty="0"/>
          </a:p>
        </p:txBody>
      </p:sp>
      <p:sp>
        <p:nvSpPr>
          <p:cNvPr id="19" name="Text 17"/>
          <p:cNvSpPr/>
          <p:nvPr/>
        </p:nvSpPr>
        <p:spPr>
          <a:xfrm>
            <a:off x="402336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20" name="Shape 18"/>
          <p:cNvSpPr/>
          <p:nvPr/>
        </p:nvSpPr>
        <p:spPr>
          <a:xfrm>
            <a:off x="4892040" y="1874520"/>
            <a:ext cx="777240" cy="960120"/>
          </a:xfrm>
          <a:prstGeom prst="roundRect">
            <a:avLst>
              <a:gd name="adj" fmla="val 7059"/>
            </a:avLst>
          </a:prstGeom>
          <a:solidFill>
            <a:srgbClr val="E6F4F4"/>
          </a:solidFill>
          <a:ln w="9525">
            <a:solidFill>
              <a:srgbClr val="B7DCDC"/>
            </a:solidFill>
            <a:prstDash val="solid"/>
          </a:ln>
        </p:spPr>
      </p:sp>
      <p:sp>
        <p:nvSpPr>
          <p:cNvPr id="21" name="Text 19"/>
          <p:cNvSpPr/>
          <p:nvPr/>
        </p:nvSpPr>
        <p:spPr>
          <a:xfrm>
            <a:off x="489204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11:30</a:t>
            </a:r>
            <a:endParaRPr lang="en-US" sz="1100" dirty="0"/>
          </a:p>
        </p:txBody>
      </p:sp>
      <p:sp>
        <p:nvSpPr>
          <p:cNvPr id="22" name="Text 20"/>
          <p:cNvSpPr/>
          <p:nvPr/>
        </p:nvSpPr>
        <p:spPr>
          <a:xfrm>
            <a:off x="489204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23" name="Shape 21"/>
          <p:cNvSpPr/>
          <p:nvPr/>
        </p:nvSpPr>
        <p:spPr>
          <a:xfrm>
            <a:off x="5760720" y="1874520"/>
            <a:ext cx="777240" cy="960120"/>
          </a:xfrm>
          <a:prstGeom prst="roundRect">
            <a:avLst>
              <a:gd name="adj" fmla="val 7059"/>
            </a:avLst>
          </a:prstGeom>
          <a:solidFill>
            <a:srgbClr val="E6F4F4"/>
          </a:solidFill>
          <a:ln w="9525">
            <a:solidFill>
              <a:srgbClr val="B7DCDC"/>
            </a:solidFill>
            <a:prstDash val="solid"/>
          </a:ln>
        </p:spPr>
      </p:sp>
      <p:sp>
        <p:nvSpPr>
          <p:cNvPr id="24" name="Text 22"/>
          <p:cNvSpPr/>
          <p:nvPr/>
        </p:nvSpPr>
        <p:spPr>
          <a:xfrm>
            <a:off x="5760720" y="1938528"/>
            <a:ext cx="777240" cy="274320"/>
          </a:xfrm>
          <a:prstGeom prst="rect">
            <a:avLst/>
          </a:prstGeom>
          <a:noFill/>
          <a:ln/>
        </p:spPr>
        <p:txBody>
          <a:bodyPr wrap="square" lIns="635" tIns="635" rIns="635" bIns="635" rtlCol="0" anchor="t"/>
          <a:lstStyle/>
          <a:p>
            <a:pPr marL="0" indent="0" algn="ctr">
              <a:lnSpc>
                <a:spcPct val="105000"/>
              </a:lnSpc>
              <a:buNone/>
            </a:pPr>
            <a:r>
              <a:rPr lang="en-US" sz="1100" dirty="0">
                <a:solidFill>
                  <a:srgbClr val="0B5F66"/>
                </a:solidFill>
                <a:latin typeface="Segoe UI Semibold" pitchFamily="34" charset="0"/>
                <a:ea typeface="Segoe UI Semibold" pitchFamily="34" charset="-122"/>
                <a:cs typeface="Segoe UI Semibold" pitchFamily="34" charset="-120"/>
              </a:rPr>
              <a:t>12:00</a:t>
            </a:r>
            <a:endParaRPr lang="en-US" sz="1100" dirty="0"/>
          </a:p>
        </p:txBody>
      </p:sp>
      <p:sp>
        <p:nvSpPr>
          <p:cNvPr id="25" name="Text 23"/>
          <p:cNvSpPr/>
          <p:nvPr/>
        </p:nvSpPr>
        <p:spPr>
          <a:xfrm>
            <a:off x="5760720" y="2286000"/>
            <a:ext cx="777240" cy="45720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Agendada</a:t>
            </a:r>
            <a:endParaRPr lang="en-US" sz="1000" dirty="0"/>
          </a:p>
        </p:txBody>
      </p:sp>
      <p:sp>
        <p:nvSpPr>
          <p:cNvPr id="26" name="Shape 24"/>
          <p:cNvSpPr/>
          <p:nvPr/>
        </p:nvSpPr>
        <p:spPr>
          <a:xfrm>
            <a:off x="3543300" y="2907792"/>
            <a:ext cx="914" cy="402336"/>
          </a:xfrm>
          <a:prstGeom prst="line">
            <a:avLst/>
          </a:prstGeom>
          <a:noFill/>
          <a:ln w="25400">
            <a:solidFill>
              <a:srgbClr val="B42318"/>
            </a:solidFill>
            <a:prstDash val="solid"/>
            <a:tailEnd type="triangle"/>
          </a:ln>
        </p:spPr>
      </p:sp>
      <p:sp>
        <p:nvSpPr>
          <p:cNvPr id="27" name="Text 25"/>
          <p:cNvSpPr/>
          <p:nvPr/>
        </p:nvSpPr>
        <p:spPr>
          <a:xfrm>
            <a:off x="2926080" y="3310128"/>
            <a:ext cx="1280160" cy="320040"/>
          </a:xfrm>
          <a:prstGeom prst="rect">
            <a:avLst/>
          </a:prstGeom>
          <a:noFill/>
          <a:ln/>
        </p:spPr>
        <p:txBody>
          <a:bodyPr wrap="square" lIns="635" tIns="635" rIns="635" bIns="635" rtlCol="0" anchor="t"/>
          <a:lstStyle/>
          <a:p>
            <a:pPr marL="0" indent="0" algn="ctr">
              <a:lnSpc>
                <a:spcPct val="105000"/>
              </a:lnSpc>
              <a:buNone/>
            </a:pPr>
            <a:r>
              <a:rPr lang="en-US" sz="1300" dirty="0">
                <a:solidFill>
                  <a:srgbClr val="B42318"/>
                </a:solidFill>
                <a:latin typeface="Segoe UI Semibold" pitchFamily="34" charset="0"/>
                <a:ea typeface="Segoe UI Semibold" pitchFamily="34" charset="-122"/>
                <a:cs typeface="Segoe UI Semibold" pitchFamily="34" charset="-120"/>
              </a:rPr>
              <a:t>Cupo vacío</a:t>
            </a:r>
            <a:endParaRPr lang="en-US" sz="1300" dirty="0"/>
          </a:p>
        </p:txBody>
      </p:sp>
      <p:sp>
        <p:nvSpPr>
          <p:cNvPr id="28" name="Text 26"/>
          <p:cNvSpPr/>
          <p:nvPr/>
        </p:nvSpPr>
        <p:spPr>
          <a:xfrm>
            <a:off x="8229600" y="1508760"/>
            <a:ext cx="3200400" cy="320040"/>
          </a:xfrm>
          <a:prstGeom prst="rect">
            <a:avLst/>
          </a:prstGeom>
          <a:noFill/>
          <a:ln/>
        </p:spPr>
        <p:txBody>
          <a:bodyPr wrap="square" lIns="635" tIns="635" rIns="635" bIns="635" rtlCol="0" anchor="t"/>
          <a:lstStyle/>
          <a:p>
            <a:pPr marL="0" indent="0" algn="l">
              <a:lnSpc>
                <a:spcPct val="105000"/>
              </a:lnSpc>
              <a:buNone/>
            </a:pPr>
            <a:r>
              <a:rPr lang="en-US" sz="1400" dirty="0">
                <a:solidFill>
                  <a:srgbClr val="5B6573"/>
                </a:solidFill>
                <a:latin typeface="Segoe UI Semibold" pitchFamily="34" charset="0"/>
                <a:ea typeface="Segoe UI Semibold" pitchFamily="34" charset="-122"/>
                <a:cs typeface="Segoe UI Semibold" pitchFamily="34" charset="-120"/>
              </a:rPr>
              <a:t>Lista de espera</a:t>
            </a:r>
            <a:endParaRPr lang="en-US" sz="1400" dirty="0"/>
          </a:p>
        </p:txBody>
      </p:sp>
      <p:sp>
        <p:nvSpPr>
          <p:cNvPr id="29" name="Shape 27"/>
          <p:cNvSpPr/>
          <p:nvPr/>
        </p:nvSpPr>
        <p:spPr>
          <a:xfrm>
            <a:off x="8439912" y="1920240"/>
            <a:ext cx="384048" cy="384048"/>
          </a:xfrm>
          <a:prstGeom prst="ellipse">
            <a:avLst/>
          </a:prstGeom>
          <a:solidFill>
            <a:srgbClr val="172B50"/>
          </a:solidFill>
          <a:ln w="12700">
            <a:solidFill>
              <a:srgbClr val="172B50"/>
            </a:solidFill>
            <a:prstDash val="solid"/>
          </a:ln>
        </p:spPr>
      </p:sp>
      <p:sp>
        <p:nvSpPr>
          <p:cNvPr id="30" name="Shape 28"/>
          <p:cNvSpPr/>
          <p:nvPr/>
        </p:nvSpPr>
        <p:spPr>
          <a:xfrm>
            <a:off x="8311896" y="2340864"/>
            <a:ext cx="640080" cy="457200"/>
          </a:xfrm>
          <a:prstGeom prst="roundRect">
            <a:avLst>
              <a:gd name="adj" fmla="val 40000"/>
            </a:avLst>
          </a:prstGeom>
          <a:solidFill>
            <a:srgbClr val="172B50"/>
          </a:solidFill>
          <a:ln w="12700">
            <a:solidFill>
              <a:srgbClr val="172B50"/>
            </a:solidFill>
            <a:prstDash val="solid"/>
          </a:ln>
        </p:spPr>
      </p:sp>
      <p:sp>
        <p:nvSpPr>
          <p:cNvPr id="31" name="Shape 29"/>
          <p:cNvSpPr/>
          <p:nvPr/>
        </p:nvSpPr>
        <p:spPr>
          <a:xfrm>
            <a:off x="9308592" y="1920240"/>
            <a:ext cx="384048" cy="384048"/>
          </a:xfrm>
          <a:prstGeom prst="ellipse">
            <a:avLst/>
          </a:prstGeom>
          <a:solidFill>
            <a:srgbClr val="172B50"/>
          </a:solidFill>
          <a:ln w="12700">
            <a:solidFill>
              <a:srgbClr val="172B50"/>
            </a:solidFill>
            <a:prstDash val="solid"/>
          </a:ln>
        </p:spPr>
      </p:sp>
      <p:sp>
        <p:nvSpPr>
          <p:cNvPr id="32" name="Shape 30"/>
          <p:cNvSpPr/>
          <p:nvPr/>
        </p:nvSpPr>
        <p:spPr>
          <a:xfrm>
            <a:off x="9180576" y="2340864"/>
            <a:ext cx="640080" cy="457200"/>
          </a:xfrm>
          <a:prstGeom prst="roundRect">
            <a:avLst>
              <a:gd name="adj" fmla="val 40000"/>
            </a:avLst>
          </a:prstGeom>
          <a:solidFill>
            <a:srgbClr val="172B50"/>
          </a:solidFill>
          <a:ln w="12700">
            <a:solidFill>
              <a:srgbClr val="172B50"/>
            </a:solidFill>
            <a:prstDash val="solid"/>
          </a:ln>
        </p:spPr>
      </p:sp>
      <p:sp>
        <p:nvSpPr>
          <p:cNvPr id="33" name="Shape 31"/>
          <p:cNvSpPr/>
          <p:nvPr/>
        </p:nvSpPr>
        <p:spPr>
          <a:xfrm>
            <a:off x="10177272" y="1920240"/>
            <a:ext cx="384048" cy="384048"/>
          </a:xfrm>
          <a:prstGeom prst="ellipse">
            <a:avLst/>
          </a:prstGeom>
          <a:solidFill>
            <a:srgbClr val="172B50"/>
          </a:solidFill>
          <a:ln w="12700">
            <a:solidFill>
              <a:srgbClr val="172B50"/>
            </a:solidFill>
            <a:prstDash val="solid"/>
          </a:ln>
        </p:spPr>
      </p:sp>
      <p:sp>
        <p:nvSpPr>
          <p:cNvPr id="34" name="Shape 32"/>
          <p:cNvSpPr/>
          <p:nvPr/>
        </p:nvSpPr>
        <p:spPr>
          <a:xfrm>
            <a:off x="10049256" y="2340864"/>
            <a:ext cx="640080" cy="457200"/>
          </a:xfrm>
          <a:prstGeom prst="roundRect">
            <a:avLst>
              <a:gd name="adj" fmla="val 40000"/>
            </a:avLst>
          </a:prstGeom>
          <a:solidFill>
            <a:srgbClr val="172B50"/>
          </a:solidFill>
          <a:ln w="12700">
            <a:solidFill>
              <a:srgbClr val="172B50"/>
            </a:solidFill>
            <a:prstDash val="solid"/>
          </a:ln>
        </p:spPr>
      </p:sp>
      <p:sp>
        <p:nvSpPr>
          <p:cNvPr id="35" name="Shape 33"/>
          <p:cNvSpPr/>
          <p:nvPr/>
        </p:nvSpPr>
        <p:spPr>
          <a:xfrm>
            <a:off x="11045952" y="1920240"/>
            <a:ext cx="384048" cy="384048"/>
          </a:xfrm>
          <a:prstGeom prst="ellipse">
            <a:avLst/>
          </a:prstGeom>
          <a:solidFill>
            <a:srgbClr val="172B50"/>
          </a:solidFill>
          <a:ln w="12700">
            <a:solidFill>
              <a:srgbClr val="172B50"/>
            </a:solidFill>
            <a:prstDash val="solid"/>
          </a:ln>
        </p:spPr>
      </p:sp>
      <p:sp>
        <p:nvSpPr>
          <p:cNvPr id="36" name="Shape 34"/>
          <p:cNvSpPr/>
          <p:nvPr/>
        </p:nvSpPr>
        <p:spPr>
          <a:xfrm>
            <a:off x="10917936" y="2340864"/>
            <a:ext cx="640080" cy="457200"/>
          </a:xfrm>
          <a:prstGeom prst="roundRect">
            <a:avLst>
              <a:gd name="adj" fmla="val 40000"/>
            </a:avLst>
          </a:prstGeom>
          <a:solidFill>
            <a:srgbClr val="172B50"/>
          </a:solidFill>
          <a:ln w="12700">
            <a:solidFill>
              <a:srgbClr val="172B50"/>
            </a:solidFill>
            <a:prstDash val="solid"/>
          </a:ln>
        </p:spPr>
      </p:sp>
      <p:sp>
        <p:nvSpPr>
          <p:cNvPr id="37" name="Text 35"/>
          <p:cNvSpPr/>
          <p:nvPr/>
        </p:nvSpPr>
        <p:spPr>
          <a:xfrm>
            <a:off x="8138160" y="2880360"/>
            <a:ext cx="3657600" cy="320040"/>
          </a:xfrm>
          <a:prstGeom prst="rect">
            <a:avLst/>
          </a:prstGeom>
          <a:noFill/>
          <a:ln/>
        </p:spPr>
        <p:txBody>
          <a:bodyPr wrap="square" lIns="635" tIns="635" rIns="635" bIns="635" rtlCol="0" anchor="t"/>
          <a:lstStyle/>
          <a:p>
            <a:pPr marL="0" indent="0" algn="ctr">
              <a:lnSpc>
                <a:spcPct val="105000"/>
              </a:lnSpc>
              <a:buNone/>
            </a:pPr>
            <a:r>
              <a:rPr lang="en-US" sz="1300" dirty="0">
                <a:solidFill>
                  <a:srgbClr val="172B50"/>
                </a:solidFill>
                <a:latin typeface="Segoe UI Semibold" pitchFamily="34" charset="0"/>
                <a:ea typeface="Segoe UI Semibold" pitchFamily="34" charset="-122"/>
                <a:cs typeface="Segoe UI Semibold" pitchFamily="34" charset="-120"/>
              </a:rPr>
              <a:t>Personas que sí podrían asistir</a:t>
            </a:r>
            <a:endParaRPr lang="en-US" sz="1300" dirty="0"/>
          </a:p>
        </p:txBody>
      </p:sp>
      <p:sp>
        <p:nvSpPr>
          <p:cNvPr id="38" name="Text 36"/>
          <p:cNvSpPr/>
          <p:nvPr/>
        </p:nvSpPr>
        <p:spPr>
          <a:xfrm>
            <a:off x="6812280" y="1920240"/>
            <a:ext cx="1280160" cy="822960"/>
          </a:xfrm>
          <a:prstGeom prst="rect">
            <a:avLst/>
          </a:prstGeom>
          <a:noFill/>
          <a:ln/>
        </p:spPr>
        <p:txBody>
          <a:bodyPr wrap="square" lIns="635" tIns="635" rIns="635" bIns="635" rtlCol="0" anchor="t"/>
          <a:lstStyle/>
          <a:p>
            <a:pPr marL="0" indent="0" algn="ctr">
              <a:lnSpc>
                <a:spcPct val="105000"/>
              </a:lnSpc>
              <a:buNone/>
            </a:pPr>
            <a:r>
              <a:rPr lang="en-US" sz="4000" dirty="0">
                <a:solidFill>
                  <a:srgbClr val="C5CFD9"/>
                </a:solidFill>
                <a:latin typeface="Segoe UI Semibold" pitchFamily="34" charset="0"/>
                <a:ea typeface="Segoe UI Semibold" pitchFamily="34" charset="-122"/>
                <a:cs typeface="Segoe UI Semibold" pitchFamily="34" charset="-120"/>
              </a:rPr>
              <a:t>¿?</a:t>
            </a:r>
            <a:endParaRPr lang="en-US" sz="4000" dirty="0"/>
          </a:p>
        </p:txBody>
      </p:sp>
      <p:sp>
        <p:nvSpPr>
          <p:cNvPr id="39" name="Shape 37"/>
          <p:cNvSpPr/>
          <p:nvPr/>
        </p:nvSpPr>
        <p:spPr>
          <a:xfrm>
            <a:off x="548640" y="3977640"/>
            <a:ext cx="3520440" cy="1508760"/>
          </a:xfrm>
          <a:prstGeom prst="roundRect">
            <a:avLst>
              <a:gd name="adj" fmla="val 484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40" name="Shape 38"/>
          <p:cNvSpPr/>
          <p:nvPr/>
        </p:nvSpPr>
        <p:spPr>
          <a:xfrm>
            <a:off x="566928" y="4087368"/>
            <a:ext cx="64008" cy="1289304"/>
          </a:xfrm>
          <a:prstGeom prst="rect">
            <a:avLst/>
          </a:prstGeom>
          <a:solidFill>
            <a:srgbClr val="B42318"/>
          </a:solidFill>
          <a:ln w="12700">
            <a:solidFill>
              <a:srgbClr val="B42318"/>
            </a:solidFill>
            <a:prstDash val="solid"/>
          </a:ln>
        </p:spPr>
      </p:sp>
      <p:sp>
        <p:nvSpPr>
          <p:cNvPr id="41" name="Text 39"/>
          <p:cNvSpPr/>
          <p:nvPr/>
        </p:nvSpPr>
        <p:spPr>
          <a:xfrm>
            <a:off x="804672" y="41056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Cancelación tardía</a:t>
            </a:r>
            <a:endParaRPr lang="en-US" sz="1600" dirty="0"/>
          </a:p>
        </p:txBody>
      </p:sp>
      <p:sp>
        <p:nvSpPr>
          <p:cNvPr id="42" name="Text 40"/>
          <p:cNvSpPr/>
          <p:nvPr/>
        </p:nvSpPr>
        <p:spPr>
          <a:xfrm>
            <a:off x="804672" y="4489704"/>
            <a:ext cx="3127248" cy="905256"/>
          </a:xfrm>
          <a:prstGeom prst="rect">
            <a:avLst/>
          </a:prstGeom>
          <a:noFill/>
          <a:ln/>
        </p:spPr>
        <p:txBody>
          <a:bodyPr wrap="square" lIns="635" tIns="635" rIns="635" bIns="635" rtlCol="0" anchor="t"/>
          <a:lstStyle/>
          <a:p>
            <a:pPr marL="0" indent="0" algn="l">
              <a:lnSpc>
                <a:spcPct val="110000"/>
              </a:lnSpc>
              <a:buNone/>
            </a:pPr>
            <a:r>
              <a:rPr lang="en-US" sz="1500" dirty="0">
                <a:solidFill>
                  <a:srgbClr val="5B6573"/>
                </a:solidFill>
                <a:latin typeface="Segoe UI" pitchFamily="34" charset="0"/>
                <a:ea typeface="Segoe UI" pitchFamily="34" charset="-122"/>
                <a:cs typeface="Segoe UI" pitchFamily="34" charset="-120"/>
              </a:rPr>
              <a:t>La hora se libera cuando ya es difícil volver a ofrecerla.</a:t>
            </a:r>
            <a:endParaRPr lang="en-US" sz="1500" dirty="0"/>
          </a:p>
        </p:txBody>
      </p:sp>
      <p:sp>
        <p:nvSpPr>
          <p:cNvPr id="43" name="Shape 41"/>
          <p:cNvSpPr/>
          <p:nvPr/>
        </p:nvSpPr>
        <p:spPr>
          <a:xfrm>
            <a:off x="4297680" y="3977640"/>
            <a:ext cx="3520440" cy="1508760"/>
          </a:xfrm>
          <a:prstGeom prst="roundRect">
            <a:avLst>
              <a:gd name="adj" fmla="val 484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44" name="Shape 42"/>
          <p:cNvSpPr/>
          <p:nvPr/>
        </p:nvSpPr>
        <p:spPr>
          <a:xfrm>
            <a:off x="4315968" y="4087368"/>
            <a:ext cx="64008" cy="1289304"/>
          </a:xfrm>
          <a:prstGeom prst="rect">
            <a:avLst/>
          </a:prstGeom>
          <a:solidFill>
            <a:srgbClr val="B42318"/>
          </a:solidFill>
          <a:ln w="12700">
            <a:solidFill>
              <a:srgbClr val="B42318"/>
            </a:solidFill>
            <a:prstDash val="solid"/>
          </a:ln>
        </p:spPr>
      </p:sp>
      <p:sp>
        <p:nvSpPr>
          <p:cNvPr id="45" name="Text 43"/>
          <p:cNvSpPr/>
          <p:nvPr/>
        </p:nvSpPr>
        <p:spPr>
          <a:xfrm>
            <a:off x="4553712" y="41056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Lista de espera pasiva</a:t>
            </a:r>
            <a:endParaRPr lang="en-US" sz="1600" dirty="0"/>
          </a:p>
        </p:txBody>
      </p:sp>
      <p:sp>
        <p:nvSpPr>
          <p:cNvPr id="46" name="Text 44"/>
          <p:cNvSpPr/>
          <p:nvPr/>
        </p:nvSpPr>
        <p:spPr>
          <a:xfrm>
            <a:off x="4553712" y="4489704"/>
            <a:ext cx="3127248" cy="905256"/>
          </a:xfrm>
          <a:prstGeom prst="rect">
            <a:avLst/>
          </a:prstGeom>
          <a:noFill/>
          <a:ln/>
        </p:spPr>
        <p:txBody>
          <a:bodyPr wrap="square" lIns="635" tIns="635" rIns="635" bIns="635" rtlCol="0" anchor="t"/>
          <a:lstStyle/>
          <a:p>
            <a:pPr marL="0" indent="0" algn="l">
              <a:lnSpc>
                <a:spcPct val="110000"/>
              </a:lnSpc>
              <a:buNone/>
            </a:pPr>
            <a:r>
              <a:rPr lang="en-US" sz="1500" dirty="0">
                <a:solidFill>
                  <a:srgbClr val="5B6573"/>
                </a:solidFill>
                <a:latin typeface="Segoe UI" pitchFamily="34" charset="0"/>
                <a:ea typeface="Segoe UI" pitchFamily="34" charset="-122"/>
                <a:cs typeface="Segoe UI" pitchFamily="34" charset="-120"/>
              </a:rPr>
              <a:t>Nadie avisa a quienes esperan: la lista existe, pero no actúa.</a:t>
            </a:r>
            <a:endParaRPr lang="en-US" sz="1500" dirty="0"/>
          </a:p>
        </p:txBody>
      </p:sp>
      <p:sp>
        <p:nvSpPr>
          <p:cNvPr id="47" name="Shape 45"/>
          <p:cNvSpPr/>
          <p:nvPr/>
        </p:nvSpPr>
        <p:spPr>
          <a:xfrm>
            <a:off x="8046720" y="3977640"/>
            <a:ext cx="3520440" cy="1508760"/>
          </a:xfrm>
          <a:prstGeom prst="roundRect">
            <a:avLst>
              <a:gd name="adj" fmla="val 484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48" name="Shape 46"/>
          <p:cNvSpPr/>
          <p:nvPr/>
        </p:nvSpPr>
        <p:spPr>
          <a:xfrm>
            <a:off x="8065008" y="4087368"/>
            <a:ext cx="64008" cy="1289304"/>
          </a:xfrm>
          <a:prstGeom prst="rect">
            <a:avLst/>
          </a:prstGeom>
          <a:solidFill>
            <a:srgbClr val="B42318"/>
          </a:solidFill>
          <a:ln w="12700">
            <a:solidFill>
              <a:srgbClr val="B42318"/>
            </a:solidFill>
            <a:prstDash val="solid"/>
          </a:ln>
        </p:spPr>
      </p:sp>
      <p:sp>
        <p:nvSpPr>
          <p:cNvPr id="49" name="Text 47"/>
          <p:cNvSpPr/>
          <p:nvPr/>
        </p:nvSpPr>
        <p:spPr>
          <a:xfrm>
            <a:off x="8302752" y="41056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Reasignación manual</a:t>
            </a:r>
            <a:endParaRPr lang="en-US" sz="1600" dirty="0"/>
          </a:p>
        </p:txBody>
      </p:sp>
      <p:sp>
        <p:nvSpPr>
          <p:cNvPr id="50" name="Text 48"/>
          <p:cNvSpPr/>
          <p:nvPr/>
        </p:nvSpPr>
        <p:spPr>
          <a:xfrm>
            <a:off x="8302752" y="4489704"/>
            <a:ext cx="3127248" cy="905256"/>
          </a:xfrm>
          <a:prstGeom prst="rect">
            <a:avLst/>
          </a:prstGeom>
          <a:noFill/>
          <a:ln/>
        </p:spPr>
        <p:txBody>
          <a:bodyPr wrap="square" lIns="635" tIns="635" rIns="635" bIns="635" rtlCol="0" anchor="t"/>
          <a:lstStyle/>
          <a:p>
            <a:pPr marL="0" indent="0" algn="l">
              <a:lnSpc>
                <a:spcPct val="110000"/>
              </a:lnSpc>
              <a:buNone/>
            </a:pPr>
            <a:r>
              <a:rPr lang="en-US" sz="1500" dirty="0">
                <a:solidFill>
                  <a:srgbClr val="5B6573"/>
                </a:solidFill>
                <a:latin typeface="Segoe UI" pitchFamily="34" charset="0"/>
                <a:ea typeface="Segoe UI" pitchFamily="34" charset="-122"/>
                <a:cs typeface="Segoe UI" pitchFamily="34" charset="-120"/>
              </a:rPr>
              <a:t>Llamadas y planillas: lenta, poco justa y sin trazabilidad.</a:t>
            </a:r>
            <a:endParaRPr lang="en-US" sz="1500" dirty="0"/>
          </a:p>
        </p:txBody>
      </p:sp>
      <p:sp>
        <p:nvSpPr>
          <p:cNvPr id="5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LA SOLUCIÓN</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Una lista de espera activa</a:t>
            </a:r>
            <a:endParaRPr lang="en-US" sz="2800" dirty="0"/>
          </a:p>
        </p:txBody>
      </p:sp>
      <p:sp>
        <p:nvSpPr>
          <p:cNvPr id="4" name="Shape 2"/>
          <p:cNvSpPr/>
          <p:nvPr/>
        </p:nvSpPr>
        <p:spPr>
          <a:xfrm>
            <a:off x="548640" y="1417320"/>
            <a:ext cx="11094415" cy="868680"/>
          </a:xfrm>
          <a:prstGeom prst="roundRect">
            <a:avLst>
              <a:gd name="adj" fmla="val 8421"/>
            </a:avLst>
          </a:prstGeom>
          <a:solidFill>
            <a:srgbClr val="EDF8F8"/>
          </a:solidFill>
          <a:ln w="12700">
            <a:solidFill>
              <a:srgbClr val="EDF8F8"/>
            </a:solidFill>
            <a:prstDash val="solid"/>
          </a:ln>
        </p:spPr>
      </p:sp>
      <p:sp>
        <p:nvSpPr>
          <p:cNvPr id="5" name="Text 3"/>
          <p:cNvSpPr/>
          <p:nvPr/>
        </p:nvSpPr>
        <p:spPr>
          <a:xfrm>
            <a:off x="731520" y="1463040"/>
            <a:ext cx="10728655" cy="777240"/>
          </a:xfrm>
          <a:prstGeom prst="rect">
            <a:avLst/>
          </a:prstGeom>
          <a:noFill/>
          <a:ln/>
        </p:spPr>
        <p:txBody>
          <a:bodyPr wrap="square" lIns="635" tIns="635" rIns="635" bIns="635" rtlCol="0" anchor="ctr"/>
          <a:lstStyle/>
          <a:p>
            <a:pPr marL="0" indent="0" algn="ctr">
              <a:lnSpc>
                <a:spcPct val="105000"/>
              </a:lnSpc>
              <a:buNone/>
            </a:pPr>
            <a:r>
              <a:rPr lang="en-US" sz="2200" i="1" dirty="0">
                <a:solidFill>
                  <a:srgbClr val="0B5F66"/>
                </a:solidFill>
                <a:latin typeface="Segoe UI" pitchFamily="34" charset="0"/>
                <a:ea typeface="Segoe UI" pitchFamily="34" charset="-122"/>
                <a:cs typeface="Segoe UI" pitchFamily="34" charset="-120"/>
              </a:rPr>
              <a:t>“Cuando alguien cancela, CitaJusta encuentra a quien sí puede asistir.”</a:t>
            </a:r>
            <a:endParaRPr lang="en-US" sz="2200" dirty="0"/>
          </a:p>
        </p:txBody>
      </p:sp>
      <p:sp>
        <p:nvSpPr>
          <p:cNvPr id="6" name="Shape 4"/>
          <p:cNvSpPr/>
          <p:nvPr/>
        </p:nvSpPr>
        <p:spPr>
          <a:xfrm>
            <a:off x="548640" y="2560320"/>
            <a:ext cx="3520440" cy="2103120"/>
          </a:xfrm>
          <a:prstGeom prst="roundRect">
            <a:avLst>
              <a:gd name="adj" fmla="val 347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7" name="Text 5"/>
          <p:cNvSpPr/>
          <p:nvPr/>
        </p:nvSpPr>
        <p:spPr>
          <a:xfrm>
            <a:off x="731520" y="2688336"/>
            <a:ext cx="3200400" cy="384048"/>
          </a:xfrm>
          <a:prstGeom prst="rect">
            <a:avLst/>
          </a:prstGeom>
          <a:noFill/>
          <a:ln/>
        </p:spPr>
        <p:txBody>
          <a:bodyPr wrap="square" lIns="635" tIns="635" rIns="635" bIns="635" rtlCol="0" anchor="t"/>
          <a:lstStyle/>
          <a:p>
            <a:pPr marL="0" indent="0" algn="l">
              <a:lnSpc>
                <a:spcPct val="105000"/>
              </a:lnSpc>
              <a:buNone/>
            </a:pPr>
            <a:endParaRPr lang="en-US" sz="1600" dirty="0"/>
          </a:p>
        </p:txBody>
      </p:sp>
      <p:sp>
        <p:nvSpPr>
          <p:cNvPr id="8" name="Text 6"/>
          <p:cNvSpPr/>
          <p:nvPr/>
        </p:nvSpPr>
        <p:spPr>
          <a:xfrm>
            <a:off x="777240" y="2743200"/>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9" name="Text 7"/>
          <p:cNvSpPr/>
          <p:nvPr/>
        </p:nvSpPr>
        <p:spPr>
          <a:xfrm>
            <a:off x="1417320" y="2770632"/>
            <a:ext cx="2560320" cy="457200"/>
          </a:xfrm>
          <a:prstGeom prst="rect">
            <a:avLst/>
          </a:prstGeom>
          <a:noFill/>
          <a:ln/>
        </p:spPr>
        <p:txBody>
          <a:bodyPr wrap="square" lIns="635" tIns="635" rIns="635" bIns="635" rtlCol="0" anchor="ctr"/>
          <a:lstStyle/>
          <a:p>
            <a:pPr marL="0" indent="0" algn="l">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Automática</a:t>
            </a:r>
            <a:endParaRPr lang="en-US" sz="1800" dirty="0"/>
          </a:p>
        </p:txBody>
      </p:sp>
      <p:sp>
        <p:nvSpPr>
          <p:cNvPr id="10" name="Text 8"/>
          <p:cNvSpPr/>
          <p:nvPr/>
        </p:nvSpPr>
        <p:spPr>
          <a:xfrm>
            <a:off x="777240" y="3383280"/>
            <a:ext cx="3108960" cy="1188720"/>
          </a:xfrm>
          <a:prstGeom prst="rect">
            <a:avLst/>
          </a:prstGeom>
          <a:noFill/>
          <a:ln/>
        </p:spPr>
        <p:txBody>
          <a:bodyPr wrap="square" lIns="635" tIns="635" rIns="635" bIns="635" rtlCol="0" anchor="t"/>
          <a:lstStyle/>
          <a:p>
            <a:pPr marL="0" indent="0" algn="l">
              <a:lnSpc>
                <a:spcPct val="112000"/>
              </a:lnSpc>
              <a:buNone/>
            </a:pPr>
            <a:r>
              <a:rPr lang="en-US" sz="1400" dirty="0">
                <a:solidFill>
                  <a:srgbClr val="5B6573"/>
                </a:solidFill>
                <a:latin typeface="Segoe UI" pitchFamily="34" charset="0"/>
                <a:ea typeface="Segoe UI" pitchFamily="34" charset="-122"/>
                <a:cs typeface="Segoe UI" pitchFamily="34" charset="-120"/>
              </a:rPr>
              <a:t>La cancelación genera de inmediato una oferta con plazo para el candidato compatible.</a:t>
            </a:r>
            <a:endParaRPr lang="en-US" sz="1400" dirty="0"/>
          </a:p>
        </p:txBody>
      </p:sp>
      <p:sp>
        <p:nvSpPr>
          <p:cNvPr id="11" name="Shape 9"/>
          <p:cNvSpPr/>
          <p:nvPr/>
        </p:nvSpPr>
        <p:spPr>
          <a:xfrm>
            <a:off x="4297680" y="2560320"/>
            <a:ext cx="3520440" cy="2103120"/>
          </a:xfrm>
          <a:prstGeom prst="roundRect">
            <a:avLst>
              <a:gd name="adj" fmla="val 347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2" name="Text 10"/>
          <p:cNvSpPr/>
          <p:nvPr/>
        </p:nvSpPr>
        <p:spPr>
          <a:xfrm>
            <a:off x="4480560" y="2688336"/>
            <a:ext cx="3200400" cy="384048"/>
          </a:xfrm>
          <a:prstGeom prst="rect">
            <a:avLst/>
          </a:prstGeom>
          <a:noFill/>
          <a:ln/>
        </p:spPr>
        <p:txBody>
          <a:bodyPr wrap="square" lIns="635" tIns="635" rIns="635" bIns="635" rtlCol="0" anchor="t"/>
          <a:lstStyle/>
          <a:p>
            <a:pPr marL="0" indent="0" algn="l">
              <a:lnSpc>
                <a:spcPct val="105000"/>
              </a:lnSpc>
              <a:buNone/>
            </a:pPr>
            <a:endParaRPr lang="en-US" sz="1600" dirty="0"/>
          </a:p>
        </p:txBody>
      </p:sp>
      <p:sp>
        <p:nvSpPr>
          <p:cNvPr id="13" name="Text 11"/>
          <p:cNvSpPr/>
          <p:nvPr/>
        </p:nvSpPr>
        <p:spPr>
          <a:xfrm>
            <a:off x="4526280" y="2743200"/>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5166360" y="2770632"/>
            <a:ext cx="2560320" cy="457200"/>
          </a:xfrm>
          <a:prstGeom prst="rect">
            <a:avLst/>
          </a:prstGeom>
          <a:noFill/>
          <a:ln/>
        </p:spPr>
        <p:txBody>
          <a:bodyPr wrap="square" lIns="635" tIns="635" rIns="635" bIns="635" rtlCol="0" anchor="ctr"/>
          <a:lstStyle/>
          <a:p>
            <a:pPr marL="0" indent="0" algn="l">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Justa y explicable</a:t>
            </a:r>
            <a:endParaRPr lang="en-US" sz="1800" dirty="0"/>
          </a:p>
        </p:txBody>
      </p:sp>
      <p:sp>
        <p:nvSpPr>
          <p:cNvPr id="15" name="Text 13"/>
          <p:cNvSpPr/>
          <p:nvPr/>
        </p:nvSpPr>
        <p:spPr>
          <a:xfrm>
            <a:off x="4526280" y="3383280"/>
            <a:ext cx="3108960" cy="1188720"/>
          </a:xfrm>
          <a:prstGeom prst="rect">
            <a:avLst/>
          </a:prstGeom>
          <a:noFill/>
          <a:ln/>
        </p:spPr>
        <p:txBody>
          <a:bodyPr wrap="square" lIns="635" tIns="635" rIns="635" bIns="635" rtlCol="0" anchor="t"/>
          <a:lstStyle/>
          <a:p>
            <a:pPr marL="0" indent="0" algn="l">
              <a:lnSpc>
                <a:spcPct val="112000"/>
              </a:lnSpc>
              <a:buNone/>
            </a:pPr>
            <a:r>
              <a:rPr lang="en-US" sz="1400" dirty="0">
                <a:solidFill>
                  <a:srgbClr val="5B6573"/>
                </a:solidFill>
                <a:latin typeface="Segoe UI" pitchFamily="34" charset="0"/>
                <a:ea typeface="Segoe UI" pitchFamily="34" charset="-122"/>
                <a:cs typeface="Segoe UI" pitchFamily="34" charset="-120"/>
              </a:rPr>
              <a:t>Prioridad por reglas objetivas de la institución; cada decisión queda registrada.</a:t>
            </a:r>
            <a:endParaRPr lang="en-US" sz="1400" dirty="0"/>
          </a:p>
        </p:txBody>
      </p:sp>
      <p:sp>
        <p:nvSpPr>
          <p:cNvPr id="16" name="Shape 14"/>
          <p:cNvSpPr/>
          <p:nvPr/>
        </p:nvSpPr>
        <p:spPr>
          <a:xfrm>
            <a:off x="8046720" y="2560320"/>
            <a:ext cx="3520440" cy="2103120"/>
          </a:xfrm>
          <a:prstGeom prst="roundRect">
            <a:avLst>
              <a:gd name="adj" fmla="val 3478"/>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7" name="Text 15"/>
          <p:cNvSpPr/>
          <p:nvPr/>
        </p:nvSpPr>
        <p:spPr>
          <a:xfrm>
            <a:off x="8229600" y="2688336"/>
            <a:ext cx="3200400" cy="384048"/>
          </a:xfrm>
          <a:prstGeom prst="rect">
            <a:avLst/>
          </a:prstGeom>
          <a:noFill/>
          <a:ln/>
        </p:spPr>
        <p:txBody>
          <a:bodyPr wrap="square" lIns="635" tIns="635" rIns="635" bIns="635" rtlCol="0" anchor="t"/>
          <a:lstStyle/>
          <a:p>
            <a:pPr marL="0" indent="0" algn="l">
              <a:lnSpc>
                <a:spcPct val="105000"/>
              </a:lnSpc>
              <a:buNone/>
            </a:pPr>
            <a:endParaRPr lang="en-US" sz="1600" dirty="0"/>
          </a:p>
        </p:txBody>
      </p:sp>
      <p:sp>
        <p:nvSpPr>
          <p:cNvPr id="18" name="Text 16"/>
          <p:cNvSpPr/>
          <p:nvPr/>
        </p:nvSpPr>
        <p:spPr>
          <a:xfrm>
            <a:off x="8275320" y="2743200"/>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9" name="Text 17"/>
          <p:cNvSpPr/>
          <p:nvPr/>
        </p:nvSpPr>
        <p:spPr>
          <a:xfrm>
            <a:off x="8915400" y="2770632"/>
            <a:ext cx="2560320" cy="457200"/>
          </a:xfrm>
          <a:prstGeom prst="rect">
            <a:avLst/>
          </a:prstGeom>
          <a:noFill/>
          <a:ln/>
        </p:spPr>
        <p:txBody>
          <a:bodyPr wrap="square" lIns="635" tIns="635" rIns="635" bIns="635" rtlCol="0" anchor="ctr"/>
          <a:lstStyle/>
          <a:p>
            <a:pPr marL="0" indent="0" algn="l">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Segura y trazable</a:t>
            </a:r>
            <a:endParaRPr lang="en-US" sz="1800" dirty="0"/>
          </a:p>
        </p:txBody>
      </p:sp>
      <p:sp>
        <p:nvSpPr>
          <p:cNvPr id="20" name="Text 18"/>
          <p:cNvSpPr/>
          <p:nvPr/>
        </p:nvSpPr>
        <p:spPr>
          <a:xfrm>
            <a:off x="8275320" y="3383280"/>
            <a:ext cx="3108960" cy="1188720"/>
          </a:xfrm>
          <a:prstGeom prst="rect">
            <a:avLst/>
          </a:prstGeom>
          <a:noFill/>
          <a:ln/>
        </p:spPr>
        <p:txBody>
          <a:bodyPr wrap="square" lIns="635" tIns="635" rIns="635" bIns="635" rtlCol="0" anchor="t"/>
          <a:lstStyle/>
          <a:p>
            <a:pPr marL="0" indent="0" algn="l">
              <a:lnSpc>
                <a:spcPct val="112000"/>
              </a:lnSpc>
              <a:buNone/>
            </a:pPr>
            <a:r>
              <a:rPr lang="en-US" sz="1400" dirty="0">
                <a:solidFill>
                  <a:srgbClr val="5B6573"/>
                </a:solidFill>
                <a:latin typeface="Segoe UI" pitchFamily="34" charset="0"/>
                <a:ea typeface="Segoe UI" pitchFamily="34" charset="-122"/>
                <a:cs typeface="Segoe UI" pitchFamily="34" charset="-120"/>
              </a:rPr>
              <a:t>Un cupo, una persona: transacciones en la base de datos y auditoría de cada paso.</a:t>
            </a:r>
            <a:endParaRPr lang="en-US" sz="1400" dirty="0"/>
          </a:p>
        </p:txBody>
      </p:sp>
      <p:sp>
        <p:nvSpPr>
          <p:cNvPr id="21" name="Text 19"/>
          <p:cNvSpPr/>
          <p:nvPr/>
        </p:nvSpPr>
        <p:spPr>
          <a:xfrm>
            <a:off x="548640" y="5074920"/>
            <a:ext cx="3520440" cy="310896"/>
          </a:xfrm>
          <a:prstGeom prst="roundRect">
            <a:avLst>
              <a:gd name="adj" fmla="val 50000"/>
            </a:avLst>
          </a:prstGeom>
          <a:solidFill>
            <a:srgbClr val="172B50"/>
          </a:solidFill>
          <a:ln w="9525">
            <a:solidFill>
              <a:srgbClr val="172B50"/>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Web · personas que reservan</a:t>
            </a:r>
            <a:endParaRPr lang="en-US" sz="1300" dirty="0"/>
          </a:p>
        </p:txBody>
      </p:sp>
      <p:sp>
        <p:nvSpPr>
          <p:cNvPr id="22" name="Text 20"/>
          <p:cNvSpPr/>
          <p:nvPr/>
        </p:nvSpPr>
        <p:spPr>
          <a:xfrm>
            <a:off x="4297680" y="5074920"/>
            <a:ext cx="352044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300" dirty="0">
                <a:solidFill>
                  <a:srgbClr val="0B5F66"/>
                </a:solidFill>
                <a:latin typeface="Segoe UI Semibold" pitchFamily="34" charset="0"/>
                <a:ea typeface="Segoe UI Semibold" pitchFamily="34" charset="-122"/>
                <a:cs typeface="Segoe UI Semibold" pitchFamily="34" charset="-120"/>
              </a:rPr>
              <a:t>Una sola API y una sola fuente de verdad</a:t>
            </a:r>
            <a:endParaRPr lang="en-US" sz="1300" dirty="0"/>
          </a:p>
        </p:txBody>
      </p:sp>
      <p:sp>
        <p:nvSpPr>
          <p:cNvPr id="23" name="Text 21"/>
          <p:cNvSpPr/>
          <p:nvPr/>
        </p:nvSpPr>
        <p:spPr>
          <a:xfrm>
            <a:off x="8046720" y="5074920"/>
            <a:ext cx="3593592" cy="310896"/>
          </a:xfrm>
          <a:prstGeom prst="roundRect">
            <a:avLst>
              <a:gd name="adj" fmla="val 50000"/>
            </a:avLst>
          </a:prstGeom>
          <a:solidFill>
            <a:srgbClr val="172B50"/>
          </a:solidFill>
          <a:ln w="9525">
            <a:solidFill>
              <a:srgbClr val="172B50"/>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Desktop · instituciones que operan</a:t>
            </a:r>
            <a:endParaRPr lang="en-US" sz="13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FLUJO CENTRAL</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De la cancelación a una nueva atención, sin llamadas</a:t>
            </a:r>
            <a:endParaRPr lang="en-US" sz="2800" dirty="0"/>
          </a:p>
        </p:txBody>
      </p:sp>
      <p:sp>
        <p:nvSpPr>
          <p:cNvPr id="4" name="Shape 2"/>
          <p:cNvSpPr/>
          <p:nvPr/>
        </p:nvSpPr>
        <p:spPr>
          <a:xfrm>
            <a:off x="548640" y="1828800"/>
            <a:ext cx="1645920" cy="2103120"/>
          </a:xfrm>
          <a:prstGeom prst="roundRect">
            <a:avLst>
              <a:gd name="adj" fmla="val 4444"/>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5" name="Text 3"/>
          <p:cNvSpPr/>
          <p:nvPr/>
        </p:nvSpPr>
        <p:spPr>
          <a:xfrm>
            <a:off x="1124712" y="2011680"/>
            <a:ext cx="493776" cy="493776"/>
          </a:xfrm>
          <a:prstGeom prst="ellipse">
            <a:avLst/>
          </a:prstGeom>
          <a:solidFill>
            <a:srgbClr val="172B50"/>
          </a:solidFill>
          <a:ln>
            <a:solidFill>
              <a:srgbClr val="172B50"/>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6" name="Text 4"/>
          <p:cNvSpPr/>
          <p:nvPr/>
        </p:nvSpPr>
        <p:spPr>
          <a:xfrm>
            <a:off x="621792"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Reserva</a:t>
            </a:r>
            <a:endParaRPr lang="en-US" sz="1500" dirty="0"/>
          </a:p>
        </p:txBody>
      </p:sp>
      <p:sp>
        <p:nvSpPr>
          <p:cNvPr id="7" name="Text 5"/>
          <p:cNvSpPr/>
          <p:nvPr/>
        </p:nvSpPr>
        <p:spPr>
          <a:xfrm>
            <a:off x="658368"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La persona A agenda un cupo</a:t>
            </a:r>
            <a:endParaRPr lang="en-US" sz="1200" dirty="0"/>
          </a:p>
        </p:txBody>
      </p:sp>
      <p:sp>
        <p:nvSpPr>
          <p:cNvPr id="8" name="Shape 6"/>
          <p:cNvSpPr/>
          <p:nvPr/>
        </p:nvSpPr>
        <p:spPr>
          <a:xfrm>
            <a:off x="2221992" y="2880360"/>
            <a:ext cx="210312" cy="914"/>
          </a:xfrm>
          <a:prstGeom prst="line">
            <a:avLst/>
          </a:prstGeom>
          <a:noFill/>
          <a:ln w="25400">
            <a:solidFill>
              <a:srgbClr val="008184"/>
            </a:solidFill>
            <a:prstDash val="solid"/>
            <a:tailEnd type="triangle"/>
          </a:ln>
        </p:spPr>
      </p:sp>
      <p:sp>
        <p:nvSpPr>
          <p:cNvPr id="9" name="Shape 7"/>
          <p:cNvSpPr/>
          <p:nvPr/>
        </p:nvSpPr>
        <p:spPr>
          <a:xfrm>
            <a:off x="2459736" y="1828800"/>
            <a:ext cx="1645920" cy="2103120"/>
          </a:xfrm>
          <a:prstGeom prst="roundRect">
            <a:avLst>
              <a:gd name="adj" fmla="val 4444"/>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0" name="Text 8"/>
          <p:cNvSpPr/>
          <p:nvPr/>
        </p:nvSpPr>
        <p:spPr>
          <a:xfrm>
            <a:off x="3035808" y="2011680"/>
            <a:ext cx="493776" cy="493776"/>
          </a:xfrm>
          <a:prstGeom prst="ellipse">
            <a:avLst/>
          </a:prstGeom>
          <a:solidFill>
            <a:srgbClr val="172B50"/>
          </a:solidFill>
          <a:ln>
            <a:solidFill>
              <a:srgbClr val="172B50"/>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2532888"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Lista de espera</a:t>
            </a:r>
            <a:endParaRPr lang="en-US" sz="1500" dirty="0"/>
          </a:p>
        </p:txBody>
      </p:sp>
      <p:sp>
        <p:nvSpPr>
          <p:cNvPr id="12" name="Text 10"/>
          <p:cNvSpPr/>
          <p:nvPr/>
        </p:nvSpPr>
        <p:spPr>
          <a:xfrm>
            <a:off x="2569464"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B se inscribe con días, horario y sede</a:t>
            </a:r>
            <a:endParaRPr lang="en-US" sz="1200" dirty="0"/>
          </a:p>
        </p:txBody>
      </p:sp>
      <p:sp>
        <p:nvSpPr>
          <p:cNvPr id="13" name="Shape 11"/>
          <p:cNvSpPr/>
          <p:nvPr/>
        </p:nvSpPr>
        <p:spPr>
          <a:xfrm>
            <a:off x="4133088" y="2880360"/>
            <a:ext cx="210312" cy="914"/>
          </a:xfrm>
          <a:prstGeom prst="line">
            <a:avLst/>
          </a:prstGeom>
          <a:noFill/>
          <a:ln w="25400">
            <a:solidFill>
              <a:srgbClr val="008184"/>
            </a:solidFill>
            <a:prstDash val="solid"/>
            <a:tailEnd type="triangle"/>
          </a:ln>
        </p:spPr>
      </p:sp>
      <p:sp>
        <p:nvSpPr>
          <p:cNvPr id="14" name="Shape 12"/>
          <p:cNvSpPr/>
          <p:nvPr/>
        </p:nvSpPr>
        <p:spPr>
          <a:xfrm>
            <a:off x="4370832" y="1828800"/>
            <a:ext cx="1645920" cy="2103120"/>
          </a:xfrm>
          <a:prstGeom prst="roundRect">
            <a:avLst>
              <a:gd name="adj" fmla="val 4444"/>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5" name="Text 13"/>
          <p:cNvSpPr/>
          <p:nvPr/>
        </p:nvSpPr>
        <p:spPr>
          <a:xfrm>
            <a:off x="4946904" y="2011680"/>
            <a:ext cx="493776" cy="493776"/>
          </a:xfrm>
          <a:prstGeom prst="ellipse">
            <a:avLst/>
          </a:prstGeom>
          <a:solidFill>
            <a:srgbClr val="172B50"/>
          </a:solidFill>
          <a:ln>
            <a:solidFill>
              <a:srgbClr val="172B50"/>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6" name="Text 14"/>
          <p:cNvSpPr/>
          <p:nvPr/>
        </p:nvSpPr>
        <p:spPr>
          <a:xfrm>
            <a:off x="4443984"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Cancelación</a:t>
            </a:r>
            <a:endParaRPr lang="en-US" sz="1500" dirty="0"/>
          </a:p>
        </p:txBody>
      </p:sp>
      <p:sp>
        <p:nvSpPr>
          <p:cNvPr id="17" name="Text 15"/>
          <p:cNvSpPr/>
          <p:nvPr/>
        </p:nvSpPr>
        <p:spPr>
          <a:xfrm>
            <a:off x="4480560"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A cancela: el cupo queda liberado</a:t>
            </a:r>
            <a:endParaRPr lang="en-US" sz="1200" dirty="0"/>
          </a:p>
        </p:txBody>
      </p:sp>
      <p:sp>
        <p:nvSpPr>
          <p:cNvPr id="18" name="Shape 16"/>
          <p:cNvSpPr/>
          <p:nvPr/>
        </p:nvSpPr>
        <p:spPr>
          <a:xfrm>
            <a:off x="6044184" y="2880360"/>
            <a:ext cx="210312" cy="914"/>
          </a:xfrm>
          <a:prstGeom prst="line">
            <a:avLst/>
          </a:prstGeom>
          <a:noFill/>
          <a:ln w="25400">
            <a:solidFill>
              <a:srgbClr val="008184"/>
            </a:solidFill>
            <a:prstDash val="solid"/>
            <a:tailEnd type="triangle"/>
          </a:ln>
        </p:spPr>
      </p:sp>
      <p:sp>
        <p:nvSpPr>
          <p:cNvPr id="19" name="Shape 17"/>
          <p:cNvSpPr/>
          <p:nvPr/>
        </p:nvSpPr>
        <p:spPr>
          <a:xfrm>
            <a:off x="6281928" y="1828800"/>
            <a:ext cx="1645920" cy="2103120"/>
          </a:xfrm>
          <a:prstGeom prst="roundRect">
            <a:avLst>
              <a:gd name="adj" fmla="val 4444"/>
            </a:avLst>
          </a:prstGeom>
          <a:solidFill>
            <a:srgbClr val="EDF8F8"/>
          </a:solidFill>
          <a:ln w="19050">
            <a:solidFill>
              <a:srgbClr val="008184"/>
            </a:solidFill>
            <a:prstDash val="solid"/>
          </a:ln>
          <a:effectLst>
            <a:outerShdw blurRad="76200" dist="25400" dir="5400000" algn="bl" rotWithShape="0">
              <a:srgbClr val="000000">
                <a:alpha val="12000"/>
              </a:srgbClr>
            </a:outerShdw>
          </a:effectLst>
        </p:spPr>
      </p:sp>
      <p:sp>
        <p:nvSpPr>
          <p:cNvPr id="20" name="Text 18"/>
          <p:cNvSpPr/>
          <p:nvPr/>
        </p:nvSpPr>
        <p:spPr>
          <a:xfrm>
            <a:off x="6858000" y="2011680"/>
            <a:ext cx="493776" cy="493776"/>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1" name="Text 19"/>
          <p:cNvSpPr/>
          <p:nvPr/>
        </p:nvSpPr>
        <p:spPr>
          <a:xfrm>
            <a:off x="6355080"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Oferta automática</a:t>
            </a:r>
            <a:endParaRPr lang="en-US" sz="1500" dirty="0"/>
          </a:p>
        </p:txBody>
      </p:sp>
      <p:sp>
        <p:nvSpPr>
          <p:cNvPr id="22" name="Text 20"/>
          <p:cNvSpPr/>
          <p:nvPr/>
        </p:nvSpPr>
        <p:spPr>
          <a:xfrm>
            <a:off x="6391656"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B recibe una oferta con plazo</a:t>
            </a:r>
            <a:endParaRPr lang="en-US" sz="1200" dirty="0"/>
          </a:p>
        </p:txBody>
      </p:sp>
      <p:sp>
        <p:nvSpPr>
          <p:cNvPr id="23" name="Shape 21"/>
          <p:cNvSpPr/>
          <p:nvPr/>
        </p:nvSpPr>
        <p:spPr>
          <a:xfrm>
            <a:off x="7955280" y="2880360"/>
            <a:ext cx="210312" cy="914"/>
          </a:xfrm>
          <a:prstGeom prst="line">
            <a:avLst/>
          </a:prstGeom>
          <a:noFill/>
          <a:ln w="25400">
            <a:solidFill>
              <a:srgbClr val="008184"/>
            </a:solidFill>
            <a:prstDash val="solid"/>
            <a:tailEnd type="triangle"/>
          </a:ln>
        </p:spPr>
      </p:sp>
      <p:sp>
        <p:nvSpPr>
          <p:cNvPr id="24" name="Shape 22"/>
          <p:cNvSpPr/>
          <p:nvPr/>
        </p:nvSpPr>
        <p:spPr>
          <a:xfrm>
            <a:off x="8193024" y="1828800"/>
            <a:ext cx="1645920" cy="2103120"/>
          </a:xfrm>
          <a:prstGeom prst="roundRect">
            <a:avLst>
              <a:gd name="adj" fmla="val 4444"/>
            </a:avLst>
          </a:prstGeom>
          <a:solidFill>
            <a:srgbClr val="EDF8F8"/>
          </a:solidFill>
          <a:ln w="19050">
            <a:solidFill>
              <a:srgbClr val="008184"/>
            </a:solidFill>
            <a:prstDash val="solid"/>
          </a:ln>
          <a:effectLst>
            <a:outerShdw blurRad="76200" dist="25400" dir="5400000" algn="bl" rotWithShape="0">
              <a:srgbClr val="000000">
                <a:alpha val="12000"/>
              </a:srgbClr>
            </a:outerShdw>
          </a:effectLst>
        </p:spPr>
      </p:sp>
      <p:sp>
        <p:nvSpPr>
          <p:cNvPr id="25" name="Text 23"/>
          <p:cNvSpPr/>
          <p:nvPr/>
        </p:nvSpPr>
        <p:spPr>
          <a:xfrm>
            <a:off x="8769096" y="2011680"/>
            <a:ext cx="493776" cy="493776"/>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5</a:t>
            </a:r>
            <a:endParaRPr lang="en-US" sz="1600" dirty="0"/>
          </a:p>
        </p:txBody>
      </p:sp>
      <p:sp>
        <p:nvSpPr>
          <p:cNvPr id="26" name="Text 24"/>
          <p:cNvSpPr/>
          <p:nvPr/>
        </p:nvSpPr>
        <p:spPr>
          <a:xfrm>
            <a:off x="8266176"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Aceptación</a:t>
            </a:r>
            <a:endParaRPr lang="en-US" sz="1500" dirty="0"/>
          </a:p>
        </p:txBody>
      </p:sp>
      <p:sp>
        <p:nvSpPr>
          <p:cNvPr id="27" name="Text 25"/>
          <p:cNvSpPr/>
          <p:nvPr/>
        </p:nvSpPr>
        <p:spPr>
          <a:xfrm>
            <a:off x="8302752"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La misma cita se transfiere a B</a:t>
            </a:r>
            <a:endParaRPr lang="en-US" sz="1200" dirty="0"/>
          </a:p>
        </p:txBody>
      </p:sp>
      <p:sp>
        <p:nvSpPr>
          <p:cNvPr id="28" name="Shape 26"/>
          <p:cNvSpPr/>
          <p:nvPr/>
        </p:nvSpPr>
        <p:spPr>
          <a:xfrm>
            <a:off x="9866376" y="2880360"/>
            <a:ext cx="210312" cy="914"/>
          </a:xfrm>
          <a:prstGeom prst="line">
            <a:avLst/>
          </a:prstGeom>
          <a:noFill/>
          <a:ln w="25400">
            <a:solidFill>
              <a:srgbClr val="008184"/>
            </a:solidFill>
            <a:prstDash val="solid"/>
            <a:tailEnd type="triangle"/>
          </a:ln>
        </p:spPr>
      </p:sp>
      <p:sp>
        <p:nvSpPr>
          <p:cNvPr id="29" name="Shape 27"/>
          <p:cNvSpPr/>
          <p:nvPr/>
        </p:nvSpPr>
        <p:spPr>
          <a:xfrm>
            <a:off x="10104120" y="1828800"/>
            <a:ext cx="1645920" cy="2103120"/>
          </a:xfrm>
          <a:prstGeom prst="roundRect">
            <a:avLst>
              <a:gd name="adj" fmla="val 4444"/>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30" name="Text 28"/>
          <p:cNvSpPr/>
          <p:nvPr/>
        </p:nvSpPr>
        <p:spPr>
          <a:xfrm>
            <a:off x="10680192" y="2011680"/>
            <a:ext cx="493776" cy="493776"/>
          </a:xfrm>
          <a:prstGeom prst="ellipse">
            <a:avLst/>
          </a:prstGeom>
          <a:solidFill>
            <a:srgbClr val="172B50"/>
          </a:solidFill>
          <a:ln>
            <a:solidFill>
              <a:srgbClr val="172B50"/>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6</a:t>
            </a:r>
            <a:endParaRPr lang="en-US" sz="1600" dirty="0"/>
          </a:p>
        </p:txBody>
      </p:sp>
      <p:sp>
        <p:nvSpPr>
          <p:cNvPr id="31" name="Text 29"/>
          <p:cNvSpPr/>
          <p:nvPr/>
        </p:nvSpPr>
        <p:spPr>
          <a:xfrm>
            <a:off x="10177272" y="2560320"/>
            <a:ext cx="1499616" cy="566928"/>
          </a:xfrm>
          <a:prstGeom prst="rect">
            <a:avLst/>
          </a:prstGeom>
          <a:noFill/>
          <a:ln/>
        </p:spPr>
        <p:txBody>
          <a:bodyPr wrap="square" lIns="635" tIns="635" rIns="635" bIns="635" rtlCol="0" anchor="t"/>
          <a:lstStyle/>
          <a:p>
            <a:pPr marL="0" indent="0" algn="ctr">
              <a:lnSpc>
                <a:spcPct val="95000"/>
              </a:lnSpc>
              <a:buNone/>
            </a:pPr>
            <a:r>
              <a:rPr lang="en-US" sz="1500" dirty="0">
                <a:solidFill>
                  <a:srgbClr val="172B50"/>
                </a:solidFill>
                <a:latin typeface="Segoe UI Semibold" pitchFamily="34" charset="0"/>
                <a:ea typeface="Segoe UI Semibold" pitchFamily="34" charset="-122"/>
                <a:cs typeface="Segoe UI Semibold" pitchFamily="34" charset="-120"/>
              </a:rPr>
              <a:t>Trazabilidad</a:t>
            </a:r>
            <a:endParaRPr lang="en-US" sz="1500" dirty="0"/>
          </a:p>
        </p:txBody>
      </p:sp>
      <p:sp>
        <p:nvSpPr>
          <p:cNvPr id="32" name="Text 30"/>
          <p:cNvSpPr/>
          <p:nvPr/>
        </p:nvSpPr>
        <p:spPr>
          <a:xfrm>
            <a:off x="10213848" y="3154680"/>
            <a:ext cx="1426464" cy="731520"/>
          </a:xfrm>
          <a:prstGeom prst="rect">
            <a:avLst/>
          </a:prstGeom>
          <a:noFill/>
          <a:ln/>
        </p:spPr>
        <p:txBody>
          <a:bodyPr wrap="square" lIns="635" tIns="635" rIns="635" bIns="635" rtlCol="0" anchor="t"/>
          <a:lstStyle/>
          <a:p>
            <a:pPr marL="0" indent="0" algn="ctr">
              <a:lnSpc>
                <a:spcPct val="110000"/>
              </a:lnSpc>
              <a:buNone/>
            </a:pPr>
            <a:r>
              <a:rPr lang="en-US" sz="1200" dirty="0">
                <a:solidFill>
                  <a:srgbClr val="5B6573"/>
                </a:solidFill>
                <a:latin typeface="Segoe UI" pitchFamily="34" charset="0"/>
                <a:ea typeface="Segoe UI" pitchFamily="34" charset="-122"/>
                <a:cs typeface="Segoe UI" pitchFamily="34" charset="-120"/>
              </a:rPr>
              <a:t>Historial, notificaciones y auditoría</a:t>
            </a:r>
            <a:endParaRPr lang="en-US" sz="1200" dirty="0"/>
          </a:p>
        </p:txBody>
      </p:sp>
      <p:sp>
        <p:nvSpPr>
          <p:cNvPr id="33" name="Shape 31"/>
          <p:cNvSpPr/>
          <p:nvPr/>
        </p:nvSpPr>
        <p:spPr>
          <a:xfrm>
            <a:off x="7424928" y="3931920"/>
            <a:ext cx="914" cy="411480"/>
          </a:xfrm>
          <a:prstGeom prst="line">
            <a:avLst/>
          </a:prstGeom>
          <a:noFill/>
          <a:ln w="22225">
            <a:solidFill>
              <a:srgbClr val="9A5B00"/>
            </a:solidFill>
            <a:prstDash val="dash"/>
          </a:ln>
        </p:spPr>
      </p:sp>
      <p:sp>
        <p:nvSpPr>
          <p:cNvPr id="34" name="Shape 32"/>
          <p:cNvSpPr/>
          <p:nvPr/>
        </p:nvSpPr>
        <p:spPr>
          <a:xfrm>
            <a:off x="6784848" y="4343400"/>
            <a:ext cx="640080" cy="914"/>
          </a:xfrm>
          <a:prstGeom prst="line">
            <a:avLst/>
          </a:prstGeom>
          <a:noFill/>
          <a:ln w="22225">
            <a:solidFill>
              <a:srgbClr val="9A5B00"/>
            </a:solidFill>
            <a:prstDash val="dash"/>
          </a:ln>
        </p:spPr>
      </p:sp>
      <p:sp>
        <p:nvSpPr>
          <p:cNvPr id="35" name="Shape 33"/>
          <p:cNvSpPr/>
          <p:nvPr/>
        </p:nvSpPr>
        <p:spPr>
          <a:xfrm flipV="1">
            <a:off x="6784848" y="3950208"/>
            <a:ext cx="914" cy="393192"/>
          </a:xfrm>
          <a:prstGeom prst="line">
            <a:avLst/>
          </a:prstGeom>
          <a:noFill/>
          <a:ln w="22225">
            <a:solidFill>
              <a:srgbClr val="9A5B00"/>
            </a:solidFill>
            <a:prstDash val="dash"/>
            <a:tailEnd type="triangle"/>
          </a:ln>
        </p:spPr>
      </p:sp>
      <p:sp>
        <p:nvSpPr>
          <p:cNvPr id="36" name="Text 34"/>
          <p:cNvSpPr/>
          <p:nvPr/>
        </p:nvSpPr>
        <p:spPr>
          <a:xfrm>
            <a:off x="7562088" y="4069080"/>
            <a:ext cx="4206240" cy="594360"/>
          </a:xfrm>
          <a:prstGeom prst="rect">
            <a:avLst/>
          </a:prstGeom>
          <a:noFill/>
          <a:ln/>
        </p:spPr>
        <p:txBody>
          <a:bodyPr wrap="square" lIns="635" tIns="635" rIns="635" bIns="635" rtlCol="0" anchor="t"/>
          <a:lstStyle/>
          <a:p>
            <a:pPr marL="0" indent="0" algn="l">
              <a:lnSpc>
                <a:spcPct val="105000"/>
              </a:lnSpc>
              <a:buNone/>
            </a:pPr>
            <a:r>
              <a:rPr lang="en-US" sz="1300" dirty="0">
                <a:solidFill>
                  <a:srgbClr val="9A5B00"/>
                </a:solidFill>
                <a:latin typeface="Segoe UI Semibold" pitchFamily="34" charset="0"/>
                <a:ea typeface="Segoe UI Semibold" pitchFamily="34" charset="-122"/>
                <a:cs typeface="Segoe UI Semibold" pitchFamily="34" charset="-120"/>
              </a:rPr>
              <a:t>Rechazo o expiración → nueva oferta para el siguiente candidato del ranking</a:t>
            </a:r>
            <a:endParaRPr lang="en-US" sz="1300" dirty="0"/>
          </a:p>
        </p:txBody>
      </p:sp>
      <p:sp>
        <p:nvSpPr>
          <p:cNvPr id="37" name="Shape 35"/>
          <p:cNvSpPr/>
          <p:nvPr/>
        </p:nvSpPr>
        <p:spPr>
          <a:xfrm>
            <a:off x="548640" y="5257800"/>
            <a:ext cx="11094415" cy="731520"/>
          </a:xfrm>
          <a:prstGeom prst="roundRect">
            <a:avLst>
              <a:gd name="adj" fmla="val 10000"/>
            </a:avLst>
          </a:prstGeom>
          <a:solidFill>
            <a:srgbClr val="E7F5EE"/>
          </a:solidFill>
          <a:ln w="12700">
            <a:solidFill>
              <a:srgbClr val="E7F5EE"/>
            </a:solidFill>
            <a:prstDash val="solid"/>
          </a:ln>
        </p:spPr>
      </p:sp>
      <p:sp>
        <p:nvSpPr>
          <p:cNvPr id="38" name="Text 36"/>
          <p:cNvSpPr/>
          <p:nvPr/>
        </p:nvSpPr>
        <p:spPr>
          <a:xfrm>
            <a:off x="777240" y="5303520"/>
            <a:ext cx="10637215" cy="640080"/>
          </a:xfrm>
          <a:prstGeom prst="rect">
            <a:avLst/>
          </a:prstGeom>
          <a:noFill/>
          <a:ln/>
        </p:spPr>
        <p:txBody>
          <a:bodyPr wrap="square" lIns="635" tIns="635" rIns="635" bIns="635" rtlCol="0" anchor="ctr"/>
          <a:lstStyle/>
          <a:p>
            <a:pPr marL="0" indent="0" algn="l">
              <a:lnSpc>
                <a:spcPct val="105000"/>
              </a:lnSpc>
              <a:buNone/>
            </a:pPr>
            <a:r>
              <a:rPr lang="en-US" sz="1500" dirty="0">
                <a:solidFill>
                  <a:srgbClr val="1E7A4F"/>
                </a:solidFill>
                <a:latin typeface="Segoe UI Semibold" pitchFamily="34" charset="0"/>
                <a:ea typeface="Segoe UI Semibold" pitchFamily="34" charset="-122"/>
                <a:cs typeface="Segoe UI Semibold" pitchFamily="34" charset="-120"/>
              </a:rPr>
              <a:t>Verificado de punta a punta en el entorno Docker preparado (17-10-2026): 35 de 35 verificaciones correctas, incluida la transferencia de la misma cita.</a:t>
            </a:r>
            <a:endParaRPr lang="en-US" sz="1500" dirty="0"/>
          </a:p>
        </p:txBody>
      </p:sp>
      <p:sp>
        <p:nvSpPr>
          <p:cNvPr id="39"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ARQUITECTURA</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Monolito modular con una sola autoridad: el backend</a:t>
            </a:r>
            <a:endParaRPr lang="en-US" sz="2800" dirty="0"/>
          </a:p>
        </p:txBody>
      </p:sp>
      <p:sp>
        <p:nvSpPr>
          <p:cNvPr id="4" name="Shape 2"/>
          <p:cNvSpPr/>
          <p:nvPr/>
        </p:nvSpPr>
        <p:spPr>
          <a:xfrm>
            <a:off x="548640" y="1600200"/>
            <a:ext cx="2514600" cy="1325880"/>
          </a:xfrm>
          <a:prstGeom prst="roundRect">
            <a:avLst>
              <a:gd name="adj" fmla="val 551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5" name="Shape 3"/>
          <p:cNvSpPr/>
          <p:nvPr/>
        </p:nvSpPr>
        <p:spPr>
          <a:xfrm>
            <a:off x="566928" y="1709928"/>
            <a:ext cx="64008" cy="1106424"/>
          </a:xfrm>
          <a:prstGeom prst="rect">
            <a:avLst/>
          </a:prstGeom>
          <a:solidFill>
            <a:srgbClr val="008184"/>
          </a:solidFill>
          <a:ln w="12700">
            <a:solidFill>
              <a:srgbClr val="008184"/>
            </a:solidFill>
            <a:prstDash val="solid"/>
          </a:ln>
        </p:spPr>
      </p:sp>
      <p:sp>
        <p:nvSpPr>
          <p:cNvPr id="6" name="Text 4"/>
          <p:cNvSpPr/>
          <p:nvPr/>
        </p:nvSpPr>
        <p:spPr>
          <a:xfrm>
            <a:off x="804672" y="1728216"/>
            <a:ext cx="212140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Aplicación Web</a:t>
            </a:r>
            <a:endParaRPr lang="en-US" sz="1600" dirty="0"/>
          </a:p>
        </p:txBody>
      </p:sp>
      <p:sp>
        <p:nvSpPr>
          <p:cNvPr id="7" name="Text 5"/>
          <p:cNvSpPr/>
          <p:nvPr/>
        </p:nvSpPr>
        <p:spPr>
          <a:xfrm>
            <a:off x="804672" y="2112264"/>
            <a:ext cx="2121408" cy="722376"/>
          </a:xfrm>
          <a:prstGeom prst="rect">
            <a:avLst/>
          </a:prstGeom>
          <a:noFill/>
          <a:ln/>
        </p:spPr>
        <p:txBody>
          <a:bodyPr wrap="square" lIns="635" tIns="635" rIns="635" bIns="635" rtlCol="0" anchor="t"/>
          <a:lstStyle/>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React 19 · Vite · TypeScript</a:t>
            </a:r>
            <a:endParaRPr lang="en-US" sz="1250" dirty="0"/>
          </a:p>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Personas que reservan</a:t>
            </a:r>
            <a:endParaRPr lang="en-US" sz="1250" dirty="0"/>
          </a:p>
        </p:txBody>
      </p:sp>
      <p:sp>
        <p:nvSpPr>
          <p:cNvPr id="8" name="Shape 6"/>
          <p:cNvSpPr/>
          <p:nvPr/>
        </p:nvSpPr>
        <p:spPr>
          <a:xfrm>
            <a:off x="548640" y="3246120"/>
            <a:ext cx="2514600" cy="1325880"/>
          </a:xfrm>
          <a:prstGeom prst="roundRect">
            <a:avLst>
              <a:gd name="adj" fmla="val 551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9" name="Shape 7"/>
          <p:cNvSpPr/>
          <p:nvPr/>
        </p:nvSpPr>
        <p:spPr>
          <a:xfrm>
            <a:off x="566928" y="3355848"/>
            <a:ext cx="64008" cy="1106424"/>
          </a:xfrm>
          <a:prstGeom prst="rect">
            <a:avLst/>
          </a:prstGeom>
          <a:solidFill>
            <a:srgbClr val="008184"/>
          </a:solidFill>
          <a:ln w="12700">
            <a:solidFill>
              <a:srgbClr val="008184"/>
            </a:solidFill>
            <a:prstDash val="solid"/>
          </a:ln>
        </p:spPr>
      </p:sp>
      <p:sp>
        <p:nvSpPr>
          <p:cNvPr id="10" name="Text 8"/>
          <p:cNvSpPr/>
          <p:nvPr/>
        </p:nvSpPr>
        <p:spPr>
          <a:xfrm>
            <a:off x="804672" y="3374136"/>
            <a:ext cx="212140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Aplicación Desktop</a:t>
            </a:r>
            <a:endParaRPr lang="en-US" sz="1600" dirty="0"/>
          </a:p>
        </p:txBody>
      </p:sp>
      <p:sp>
        <p:nvSpPr>
          <p:cNvPr id="11" name="Text 9"/>
          <p:cNvSpPr/>
          <p:nvPr/>
        </p:nvSpPr>
        <p:spPr>
          <a:xfrm>
            <a:off x="804672" y="3758184"/>
            <a:ext cx="2121408" cy="722376"/>
          </a:xfrm>
          <a:prstGeom prst="rect">
            <a:avLst/>
          </a:prstGeom>
          <a:noFill/>
          <a:ln/>
        </p:spPr>
        <p:txBody>
          <a:bodyPr wrap="square" lIns="635" tIns="635" rIns="635" bIns="635" rtlCol="0" anchor="t"/>
          <a:lstStyle/>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Tauri 2 · React · TypeScript</a:t>
            </a:r>
            <a:endParaRPr lang="en-US" sz="1250" dirty="0"/>
          </a:p>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Operación institucional</a:t>
            </a:r>
            <a:endParaRPr lang="en-US" sz="1250" dirty="0"/>
          </a:p>
        </p:txBody>
      </p:sp>
      <p:sp>
        <p:nvSpPr>
          <p:cNvPr id="12" name="Shape 10"/>
          <p:cNvSpPr/>
          <p:nvPr/>
        </p:nvSpPr>
        <p:spPr>
          <a:xfrm>
            <a:off x="3108960" y="2258568"/>
            <a:ext cx="640080" cy="484632"/>
          </a:xfrm>
          <a:prstGeom prst="line">
            <a:avLst/>
          </a:prstGeom>
          <a:noFill/>
          <a:ln w="25400">
            <a:solidFill>
              <a:srgbClr val="008184"/>
            </a:solidFill>
            <a:prstDash val="solid"/>
            <a:tailEnd type="triangle"/>
          </a:ln>
        </p:spPr>
      </p:sp>
      <p:sp>
        <p:nvSpPr>
          <p:cNvPr id="13" name="Shape 11"/>
          <p:cNvSpPr/>
          <p:nvPr/>
        </p:nvSpPr>
        <p:spPr>
          <a:xfrm flipV="1">
            <a:off x="3108960" y="3429000"/>
            <a:ext cx="640080" cy="475488"/>
          </a:xfrm>
          <a:prstGeom prst="line">
            <a:avLst/>
          </a:prstGeom>
          <a:noFill/>
          <a:ln w="25400">
            <a:solidFill>
              <a:srgbClr val="008184"/>
            </a:solidFill>
            <a:prstDash val="solid"/>
            <a:tailEnd type="triangle"/>
          </a:ln>
        </p:spPr>
      </p:sp>
      <p:sp>
        <p:nvSpPr>
          <p:cNvPr id="14" name="Text 12"/>
          <p:cNvSpPr/>
          <p:nvPr/>
        </p:nvSpPr>
        <p:spPr>
          <a:xfrm>
            <a:off x="3090672" y="2834640"/>
            <a:ext cx="676656" cy="502920"/>
          </a:xfrm>
          <a:prstGeom prst="rect">
            <a:avLst/>
          </a:prstGeom>
          <a:noFill/>
          <a:ln/>
        </p:spPr>
        <p:txBody>
          <a:bodyPr wrap="square" lIns="635" tIns="635" rIns="635" bIns="635" rtlCol="0" anchor="t"/>
          <a:lstStyle/>
          <a:p>
            <a:pPr marL="0" indent="0" algn="ctr">
              <a:lnSpc>
                <a:spcPct val="105000"/>
              </a:lnSpc>
              <a:buNone/>
            </a:pPr>
            <a:r>
              <a:rPr lang="en-US" sz="950" dirty="0">
                <a:solidFill>
                  <a:srgbClr val="5B6573"/>
                </a:solidFill>
                <a:latin typeface="Segoe UI" pitchFamily="34" charset="0"/>
                <a:ea typeface="Segoe UI" pitchFamily="34" charset="-122"/>
                <a:cs typeface="Segoe UI" pitchFamily="34" charset="-120"/>
              </a:rPr>
              <a:t>HTTPS</a:t>
            </a:r>
            <a:endParaRPr lang="en-US" sz="950" dirty="0"/>
          </a:p>
          <a:p>
            <a:pPr marL="0" indent="0" algn="ctr">
              <a:lnSpc>
                <a:spcPct val="105000"/>
              </a:lnSpc>
              <a:buNone/>
            </a:pPr>
            <a:r>
              <a:rPr lang="en-US" sz="950" dirty="0">
                <a:solidFill>
                  <a:srgbClr val="5B6573"/>
                </a:solidFill>
                <a:latin typeface="Segoe UI" pitchFamily="34" charset="0"/>
                <a:ea typeface="Segoe UI" pitchFamily="34" charset="-122"/>
                <a:cs typeface="Segoe UI" pitchFamily="34" charset="-120"/>
              </a:rPr>
              <a:t>/api/v1</a:t>
            </a:r>
            <a:endParaRPr lang="en-US" sz="950" dirty="0"/>
          </a:p>
        </p:txBody>
      </p:sp>
      <p:sp>
        <p:nvSpPr>
          <p:cNvPr id="15" name="Shape 13"/>
          <p:cNvSpPr/>
          <p:nvPr/>
        </p:nvSpPr>
        <p:spPr>
          <a:xfrm>
            <a:off x="3794760" y="1463040"/>
            <a:ext cx="4480560" cy="2926080"/>
          </a:xfrm>
          <a:prstGeom prst="roundRect">
            <a:avLst>
              <a:gd name="adj" fmla="val 2500"/>
            </a:avLst>
          </a:prstGeom>
          <a:solidFill>
            <a:srgbClr val="172B50"/>
          </a:solidFill>
          <a:ln w="12700">
            <a:solidFill>
              <a:srgbClr val="172B50"/>
            </a:solidFill>
            <a:prstDash val="solid"/>
          </a:ln>
          <a:effectLst>
            <a:outerShdw blurRad="76200" dist="25400" dir="5400000" algn="bl" rotWithShape="0">
              <a:srgbClr val="000000">
                <a:alpha val="12000"/>
              </a:srgbClr>
            </a:outerShdw>
          </a:effectLst>
        </p:spPr>
      </p:sp>
      <p:sp>
        <p:nvSpPr>
          <p:cNvPr id="16" name="Text 14"/>
          <p:cNvSpPr/>
          <p:nvPr/>
        </p:nvSpPr>
        <p:spPr>
          <a:xfrm>
            <a:off x="3977640" y="1572768"/>
            <a:ext cx="4114800" cy="411480"/>
          </a:xfrm>
          <a:prstGeom prst="rect">
            <a:avLst/>
          </a:prstGeom>
          <a:noFill/>
          <a:ln/>
        </p:spPr>
        <p:txBody>
          <a:bodyPr wrap="square" lIns="635" tIns="635" rIns="635" bIns="635" rtlCol="0" anchor="t"/>
          <a:lstStyle/>
          <a:p>
            <a:pPr marL="0" indent="0" algn="l">
              <a:lnSpc>
                <a:spcPct val="105000"/>
              </a:lnSpc>
              <a:buNone/>
            </a:pPr>
            <a:r>
              <a:rPr lang="en-US" sz="1800" dirty="0">
                <a:solidFill>
                  <a:srgbClr val="FFFFFF"/>
                </a:solidFill>
                <a:latin typeface="Segoe UI Semibold" pitchFamily="34" charset="0"/>
                <a:ea typeface="Segoe UI Semibold" pitchFamily="34" charset="-122"/>
                <a:cs typeface="Segoe UI Semibold" pitchFamily="34" charset="-120"/>
              </a:rPr>
              <a:t>API REST · NestJS</a:t>
            </a:r>
            <a:endParaRPr lang="en-US" sz="1800" dirty="0"/>
          </a:p>
        </p:txBody>
      </p:sp>
      <p:sp>
        <p:nvSpPr>
          <p:cNvPr id="17" name="Text 15"/>
          <p:cNvSpPr/>
          <p:nvPr/>
        </p:nvSpPr>
        <p:spPr>
          <a:xfrm>
            <a:off x="3977640" y="1965960"/>
            <a:ext cx="4114800" cy="320040"/>
          </a:xfrm>
          <a:prstGeom prst="rect">
            <a:avLst/>
          </a:prstGeom>
          <a:noFill/>
          <a:ln/>
        </p:spPr>
        <p:txBody>
          <a:bodyPr wrap="square" lIns="635" tIns="635" rIns="635" bIns="635" rtlCol="0" anchor="t"/>
          <a:lstStyle/>
          <a:p>
            <a:pPr marL="0" indent="0" algn="l">
              <a:lnSpc>
                <a:spcPct val="105000"/>
              </a:lnSpc>
              <a:buNone/>
            </a:pPr>
            <a:r>
              <a:rPr lang="en-US" sz="1150" dirty="0">
                <a:solidFill>
                  <a:srgbClr val="B9D9DC"/>
                </a:solidFill>
                <a:latin typeface="Segoe UI" pitchFamily="34" charset="0"/>
                <a:ea typeface="Segoe UI" pitchFamily="34" charset="-122"/>
                <a:cs typeface="Segoe UI" pitchFamily="34" charset="-120"/>
              </a:rPr>
              <a:t>JWT + refresh rotativo · RBAC · contexto institucional</a:t>
            </a:r>
            <a:endParaRPr lang="en-US" sz="1150" dirty="0"/>
          </a:p>
        </p:txBody>
      </p:sp>
      <p:sp>
        <p:nvSpPr>
          <p:cNvPr id="18" name="Text 16"/>
          <p:cNvSpPr/>
          <p:nvPr/>
        </p:nvSpPr>
        <p:spPr>
          <a:xfrm>
            <a:off x="3977640" y="2423160"/>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Auth y RBAC</a:t>
            </a:r>
            <a:endParaRPr lang="en-US" sz="1050" dirty="0"/>
          </a:p>
        </p:txBody>
      </p:sp>
      <p:sp>
        <p:nvSpPr>
          <p:cNvPr id="19" name="Text 17"/>
          <p:cNvSpPr/>
          <p:nvPr/>
        </p:nvSpPr>
        <p:spPr>
          <a:xfrm>
            <a:off x="5376672" y="2423160"/>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Catálogo</a:t>
            </a:r>
            <a:endParaRPr lang="en-US" sz="1050" dirty="0"/>
          </a:p>
        </p:txBody>
      </p:sp>
      <p:sp>
        <p:nvSpPr>
          <p:cNvPr id="20" name="Text 18"/>
          <p:cNvSpPr/>
          <p:nvPr/>
        </p:nvSpPr>
        <p:spPr>
          <a:xfrm>
            <a:off x="6775704" y="2423160"/>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Agenda</a:t>
            </a:r>
            <a:endParaRPr lang="en-US" sz="1050" dirty="0"/>
          </a:p>
        </p:txBody>
      </p:sp>
      <p:sp>
        <p:nvSpPr>
          <p:cNvPr id="21" name="Text 19"/>
          <p:cNvSpPr/>
          <p:nvPr/>
        </p:nvSpPr>
        <p:spPr>
          <a:xfrm>
            <a:off x="3977640" y="2862072"/>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Citas</a:t>
            </a:r>
            <a:endParaRPr lang="en-US" sz="1050" dirty="0"/>
          </a:p>
        </p:txBody>
      </p:sp>
      <p:sp>
        <p:nvSpPr>
          <p:cNvPr id="22" name="Text 20"/>
          <p:cNvSpPr/>
          <p:nvPr/>
        </p:nvSpPr>
        <p:spPr>
          <a:xfrm>
            <a:off x="5376672" y="2862072"/>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Lista de espera</a:t>
            </a:r>
            <a:endParaRPr lang="en-US" sz="1050" dirty="0"/>
          </a:p>
        </p:txBody>
      </p:sp>
      <p:sp>
        <p:nvSpPr>
          <p:cNvPr id="23" name="Text 21"/>
          <p:cNvSpPr/>
          <p:nvPr/>
        </p:nvSpPr>
        <p:spPr>
          <a:xfrm>
            <a:off x="6775704" y="2862072"/>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Reasignación</a:t>
            </a:r>
            <a:endParaRPr lang="en-US" sz="1050" dirty="0"/>
          </a:p>
        </p:txBody>
      </p:sp>
      <p:sp>
        <p:nvSpPr>
          <p:cNvPr id="24" name="Text 22"/>
          <p:cNvSpPr/>
          <p:nvPr/>
        </p:nvSpPr>
        <p:spPr>
          <a:xfrm>
            <a:off x="3977640" y="3300984"/>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Notificaciones</a:t>
            </a:r>
            <a:endParaRPr lang="en-US" sz="1050" dirty="0"/>
          </a:p>
        </p:txBody>
      </p:sp>
      <p:sp>
        <p:nvSpPr>
          <p:cNvPr id="25" name="Text 23"/>
          <p:cNvSpPr/>
          <p:nvPr/>
        </p:nvSpPr>
        <p:spPr>
          <a:xfrm>
            <a:off x="5376672" y="3300984"/>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Reportes</a:t>
            </a:r>
            <a:endParaRPr lang="en-US" sz="1050" dirty="0"/>
          </a:p>
        </p:txBody>
      </p:sp>
      <p:sp>
        <p:nvSpPr>
          <p:cNvPr id="26" name="Text 24"/>
          <p:cNvSpPr/>
          <p:nvPr/>
        </p:nvSpPr>
        <p:spPr>
          <a:xfrm>
            <a:off x="6775704" y="3300984"/>
            <a:ext cx="1307592" cy="310896"/>
          </a:xfrm>
          <a:prstGeom prst="roundRect">
            <a:avLst>
              <a:gd name="adj" fmla="val 50000"/>
            </a:avLst>
          </a:prstGeom>
          <a:solidFill>
            <a:srgbClr val="24406E"/>
          </a:solidFill>
          <a:ln w="9525">
            <a:solidFill>
              <a:srgbClr val="35558A"/>
            </a:solidFill>
          </a:ln>
        </p:spPr>
        <p:txBody>
          <a:bodyPr wrap="square" lIns="0" tIns="0" rIns="0" bIns="0" rtlCol="0" anchor="ctr"/>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Auditoría</a:t>
            </a:r>
            <a:endParaRPr lang="en-US" sz="1050" dirty="0"/>
          </a:p>
        </p:txBody>
      </p:sp>
      <p:sp>
        <p:nvSpPr>
          <p:cNvPr id="27" name="Text 25"/>
          <p:cNvSpPr/>
          <p:nvPr/>
        </p:nvSpPr>
        <p:spPr>
          <a:xfrm>
            <a:off x="3977640" y="3840480"/>
            <a:ext cx="4114800" cy="365760"/>
          </a:xfrm>
          <a:prstGeom prst="rect">
            <a:avLst/>
          </a:prstGeom>
          <a:noFill/>
          <a:ln/>
        </p:spPr>
        <p:txBody>
          <a:bodyPr wrap="square" lIns="635" tIns="635" rIns="635" bIns="635" rtlCol="0" anchor="t"/>
          <a:lstStyle/>
          <a:p>
            <a:pPr marL="0" indent="0" algn="l">
              <a:lnSpc>
                <a:spcPct val="105000"/>
              </a:lnSpc>
              <a:buNone/>
            </a:pPr>
            <a:r>
              <a:rPr lang="en-US" sz="1200" dirty="0">
                <a:solidFill>
                  <a:srgbClr val="B9D9DC"/>
                </a:solidFill>
                <a:latin typeface="Segoe UI Semibold" pitchFamily="34" charset="0"/>
                <a:ea typeface="Segoe UI Semibold" pitchFamily="34" charset="-122"/>
                <a:cs typeface="Segoe UI Semibold" pitchFamily="34" charset="-120"/>
              </a:rPr>
              <a:t>60 endpoints · 15 módulos</a:t>
            </a:r>
            <a:endParaRPr lang="en-US" sz="1200" dirty="0"/>
          </a:p>
        </p:txBody>
      </p:sp>
      <p:sp>
        <p:nvSpPr>
          <p:cNvPr id="28" name="Shape 26"/>
          <p:cNvSpPr/>
          <p:nvPr/>
        </p:nvSpPr>
        <p:spPr>
          <a:xfrm>
            <a:off x="8321040" y="3108960"/>
            <a:ext cx="594360" cy="914"/>
          </a:xfrm>
          <a:prstGeom prst="line">
            <a:avLst/>
          </a:prstGeom>
          <a:noFill/>
          <a:ln w="25400">
            <a:solidFill>
              <a:srgbClr val="008184"/>
            </a:solidFill>
            <a:prstDash val="solid"/>
            <a:tailEnd type="triangle"/>
          </a:ln>
        </p:spPr>
      </p:sp>
      <p:sp>
        <p:nvSpPr>
          <p:cNvPr id="29" name="Text 27"/>
          <p:cNvSpPr/>
          <p:nvPr/>
        </p:nvSpPr>
        <p:spPr>
          <a:xfrm>
            <a:off x="8229600" y="2724912"/>
            <a:ext cx="777240" cy="320040"/>
          </a:xfrm>
          <a:prstGeom prst="rect">
            <a:avLst/>
          </a:prstGeom>
          <a:noFill/>
          <a:ln/>
        </p:spPr>
        <p:txBody>
          <a:bodyPr wrap="square" lIns="635" tIns="635" rIns="635" bIns="635" rtlCol="0" anchor="t"/>
          <a:lstStyle/>
          <a:p>
            <a:pPr marL="0" indent="0" algn="ctr">
              <a:lnSpc>
                <a:spcPct val="105000"/>
              </a:lnSpc>
              <a:buNone/>
            </a:pPr>
            <a:r>
              <a:rPr lang="en-US" sz="1000" dirty="0">
                <a:solidFill>
                  <a:srgbClr val="5B6573"/>
                </a:solidFill>
                <a:latin typeface="Segoe UI" pitchFamily="34" charset="0"/>
                <a:ea typeface="Segoe UI" pitchFamily="34" charset="-122"/>
                <a:cs typeface="Segoe UI" pitchFamily="34" charset="-120"/>
              </a:rPr>
              <a:t>Prisma</a:t>
            </a:r>
            <a:endParaRPr lang="en-US" sz="1000" dirty="0"/>
          </a:p>
        </p:txBody>
      </p:sp>
      <p:sp>
        <p:nvSpPr>
          <p:cNvPr id="30" name="Shape 28"/>
          <p:cNvSpPr/>
          <p:nvPr/>
        </p:nvSpPr>
        <p:spPr>
          <a:xfrm>
            <a:off x="8961120" y="2331720"/>
            <a:ext cx="2697480" cy="1600200"/>
          </a:xfrm>
          <a:prstGeom prst="roundRect">
            <a:avLst>
              <a:gd name="adj" fmla="val 4571"/>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31" name="Shape 29"/>
          <p:cNvSpPr/>
          <p:nvPr/>
        </p:nvSpPr>
        <p:spPr>
          <a:xfrm>
            <a:off x="8979408" y="2441448"/>
            <a:ext cx="64008" cy="1380744"/>
          </a:xfrm>
          <a:prstGeom prst="rect">
            <a:avLst/>
          </a:prstGeom>
          <a:solidFill>
            <a:srgbClr val="172B50"/>
          </a:solidFill>
          <a:ln w="12700">
            <a:solidFill>
              <a:srgbClr val="172B50"/>
            </a:solidFill>
            <a:prstDash val="solid"/>
          </a:ln>
        </p:spPr>
      </p:sp>
      <p:sp>
        <p:nvSpPr>
          <p:cNvPr id="32" name="Text 30"/>
          <p:cNvSpPr/>
          <p:nvPr/>
        </p:nvSpPr>
        <p:spPr>
          <a:xfrm>
            <a:off x="9217152" y="2459736"/>
            <a:ext cx="230428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PostgreSQL 18</a:t>
            </a:r>
            <a:endParaRPr lang="en-US" sz="1600" dirty="0"/>
          </a:p>
        </p:txBody>
      </p:sp>
      <p:sp>
        <p:nvSpPr>
          <p:cNvPr id="33" name="Text 31"/>
          <p:cNvSpPr/>
          <p:nvPr/>
        </p:nvSpPr>
        <p:spPr>
          <a:xfrm>
            <a:off x="9217152" y="2843784"/>
            <a:ext cx="2304288" cy="996696"/>
          </a:xfrm>
          <a:prstGeom prst="rect">
            <a:avLst/>
          </a:prstGeom>
          <a:noFill/>
          <a:ln/>
        </p:spPr>
        <p:txBody>
          <a:bodyPr wrap="square" lIns="635" tIns="635" rIns="635" bIns="635" rtlCol="0" anchor="t"/>
          <a:lstStyle/>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Prisma 7.10 · 42 modelos</a:t>
            </a:r>
            <a:endParaRPr lang="en-US" sz="1250" dirty="0"/>
          </a:p>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12 migraciones · constraints</a:t>
            </a:r>
            <a:endParaRPr lang="en-US" sz="1250" dirty="0"/>
          </a:p>
        </p:txBody>
      </p:sp>
      <p:sp>
        <p:nvSpPr>
          <p:cNvPr id="34" name="Text 32"/>
          <p:cNvSpPr/>
          <p:nvPr/>
        </p:nvSpPr>
        <p:spPr>
          <a:xfrm>
            <a:off x="548640" y="4956048"/>
            <a:ext cx="7315200" cy="32004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Semibold" pitchFamily="34" charset="0"/>
                <a:ea typeface="Segoe UI Semibold" pitchFamily="34" charset="-122"/>
                <a:cs typeface="Segoe UI Semibold" pitchFamily="34" charset="-120"/>
              </a:rPr>
              <a:t>Adaptadores externos (sin autoridad sobre el dominio)</a:t>
            </a:r>
            <a:endParaRPr lang="en-US" sz="1300" dirty="0"/>
          </a:p>
        </p:txBody>
      </p:sp>
      <p:sp>
        <p:nvSpPr>
          <p:cNvPr id="35" name="Text 33"/>
          <p:cNvSpPr/>
          <p:nvPr/>
        </p:nvSpPr>
        <p:spPr>
          <a:xfrm>
            <a:off x="54864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Resend</a:t>
            </a:r>
            <a:endParaRPr lang="en-US" sz="1200" dirty="0"/>
          </a:p>
        </p:txBody>
      </p:sp>
      <p:sp>
        <p:nvSpPr>
          <p:cNvPr id="36" name="Text 34"/>
          <p:cNvSpPr/>
          <p:nvPr/>
        </p:nvSpPr>
        <p:spPr>
          <a:xfrm>
            <a:off x="278892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Google OIDC</a:t>
            </a:r>
            <a:endParaRPr lang="en-US" sz="1200" dirty="0"/>
          </a:p>
        </p:txBody>
      </p:sp>
      <p:sp>
        <p:nvSpPr>
          <p:cNvPr id="37" name="Text 35"/>
          <p:cNvSpPr/>
          <p:nvPr/>
        </p:nvSpPr>
        <p:spPr>
          <a:xfrm>
            <a:off x="502920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Google Calendar</a:t>
            </a:r>
            <a:endParaRPr lang="en-US" sz="1200" dirty="0"/>
          </a:p>
        </p:txBody>
      </p:sp>
      <p:sp>
        <p:nvSpPr>
          <p:cNvPr id="38" name="Text 36"/>
          <p:cNvSpPr/>
          <p:nvPr/>
        </p:nvSpPr>
        <p:spPr>
          <a:xfrm>
            <a:off x="726948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OSM + Maps URLs</a:t>
            </a:r>
            <a:endParaRPr lang="en-US" sz="1200" dirty="0"/>
          </a:p>
        </p:txBody>
      </p:sp>
      <p:sp>
        <p:nvSpPr>
          <p:cNvPr id="39" name="Text 37"/>
          <p:cNvSpPr/>
          <p:nvPr/>
        </p:nvSpPr>
        <p:spPr>
          <a:xfrm>
            <a:off x="950976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Nager.Date</a:t>
            </a:r>
            <a:endParaRPr lang="en-US" sz="1200" dirty="0"/>
          </a:p>
        </p:txBody>
      </p:sp>
      <p:sp>
        <p:nvSpPr>
          <p:cNvPr id="40" name="Shape 38"/>
          <p:cNvSpPr/>
          <p:nvPr/>
        </p:nvSpPr>
        <p:spPr>
          <a:xfrm>
            <a:off x="6035040" y="4434840"/>
            <a:ext cx="914" cy="502920"/>
          </a:xfrm>
          <a:prstGeom prst="line">
            <a:avLst/>
          </a:prstGeom>
          <a:noFill/>
          <a:ln w="19050">
            <a:solidFill>
              <a:srgbClr val="C5CFD9"/>
            </a:solidFill>
            <a:prstDash val="solid"/>
            <a:tailEnd type="triangle"/>
          </a:ln>
        </p:spPr>
      </p:sp>
      <p:sp>
        <p:nvSpPr>
          <p:cNvPr id="4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MOTOR DE REASIGNACIÓN</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Reglas objetivas, explicables y sin doble asignación</a:t>
            </a:r>
            <a:endParaRPr lang="en-US" sz="2800" dirty="0"/>
          </a:p>
        </p:txBody>
      </p:sp>
      <p:sp>
        <p:nvSpPr>
          <p:cNvPr id="4" name="Text 2"/>
          <p:cNvSpPr/>
          <p:nvPr/>
        </p:nvSpPr>
        <p:spPr>
          <a:xfrm>
            <a:off x="594360" y="1664208"/>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5" name="Text 3"/>
          <p:cNvSpPr/>
          <p:nvPr/>
        </p:nvSpPr>
        <p:spPr>
          <a:xfrm>
            <a:off x="1234440" y="1572768"/>
            <a:ext cx="4937760" cy="365760"/>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Elegibilidad</a:t>
            </a:r>
            <a:endParaRPr lang="en-US" sz="1600" dirty="0"/>
          </a:p>
        </p:txBody>
      </p:sp>
      <p:sp>
        <p:nvSpPr>
          <p:cNvPr id="6" name="Text 4"/>
          <p:cNvSpPr/>
          <p:nvPr/>
        </p:nvSpPr>
        <p:spPr>
          <a:xfrm>
            <a:off x="1234440" y="1938528"/>
            <a:ext cx="4937760" cy="41148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Servicio, sede, días, rango horario y aviso mínimo</a:t>
            </a:r>
            <a:endParaRPr lang="en-US" sz="1300" dirty="0"/>
          </a:p>
        </p:txBody>
      </p:sp>
      <p:sp>
        <p:nvSpPr>
          <p:cNvPr id="7" name="Shape 5"/>
          <p:cNvSpPr/>
          <p:nvPr/>
        </p:nvSpPr>
        <p:spPr>
          <a:xfrm>
            <a:off x="845820" y="2194560"/>
            <a:ext cx="914" cy="548640"/>
          </a:xfrm>
          <a:prstGeom prst="line">
            <a:avLst/>
          </a:prstGeom>
          <a:noFill/>
          <a:ln w="19050">
            <a:solidFill>
              <a:srgbClr val="C5CFD9"/>
            </a:solidFill>
            <a:prstDash val="solid"/>
          </a:ln>
        </p:spPr>
      </p:sp>
      <p:sp>
        <p:nvSpPr>
          <p:cNvPr id="8" name="Text 6"/>
          <p:cNvSpPr/>
          <p:nvPr/>
        </p:nvSpPr>
        <p:spPr>
          <a:xfrm>
            <a:off x="594360" y="2743200"/>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9" name="Text 7"/>
          <p:cNvSpPr/>
          <p:nvPr/>
        </p:nvSpPr>
        <p:spPr>
          <a:xfrm>
            <a:off x="1234440" y="2651760"/>
            <a:ext cx="4937760" cy="365760"/>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Ranking</a:t>
            </a:r>
            <a:endParaRPr lang="en-US" sz="1600" dirty="0"/>
          </a:p>
        </p:txBody>
      </p:sp>
      <p:sp>
        <p:nvSpPr>
          <p:cNvPr id="10" name="Text 8"/>
          <p:cNvSpPr/>
          <p:nvPr/>
        </p:nvSpPr>
        <p:spPr>
          <a:xfrm>
            <a:off x="1234440" y="3017520"/>
            <a:ext cx="4937760" cy="41148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Política versionada por institución: prioridad y antigüedad</a:t>
            </a:r>
            <a:endParaRPr lang="en-US" sz="1300" dirty="0"/>
          </a:p>
        </p:txBody>
      </p:sp>
      <p:sp>
        <p:nvSpPr>
          <p:cNvPr id="11" name="Shape 9"/>
          <p:cNvSpPr/>
          <p:nvPr/>
        </p:nvSpPr>
        <p:spPr>
          <a:xfrm>
            <a:off x="845820" y="3273552"/>
            <a:ext cx="914" cy="548640"/>
          </a:xfrm>
          <a:prstGeom prst="line">
            <a:avLst/>
          </a:prstGeom>
          <a:noFill/>
          <a:ln w="19050">
            <a:solidFill>
              <a:srgbClr val="C5CFD9"/>
            </a:solidFill>
            <a:prstDash val="solid"/>
          </a:ln>
        </p:spPr>
      </p:sp>
      <p:sp>
        <p:nvSpPr>
          <p:cNvPr id="12" name="Text 10"/>
          <p:cNvSpPr/>
          <p:nvPr/>
        </p:nvSpPr>
        <p:spPr>
          <a:xfrm>
            <a:off x="594360" y="3822192"/>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3" name="Text 11"/>
          <p:cNvSpPr/>
          <p:nvPr/>
        </p:nvSpPr>
        <p:spPr>
          <a:xfrm>
            <a:off x="1234440" y="3730752"/>
            <a:ext cx="4937760" cy="365760"/>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Oferta con plazo</a:t>
            </a:r>
            <a:endParaRPr lang="en-US" sz="1600" dirty="0"/>
          </a:p>
        </p:txBody>
      </p:sp>
      <p:sp>
        <p:nvSpPr>
          <p:cNvPr id="14" name="Text 12"/>
          <p:cNvSpPr/>
          <p:nvPr/>
        </p:nvSpPr>
        <p:spPr>
          <a:xfrm>
            <a:off x="1234440" y="4096512"/>
            <a:ext cx="4937760" cy="41148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TTL configurable de 1 a 60 minutos</a:t>
            </a:r>
            <a:endParaRPr lang="en-US" sz="1300" dirty="0"/>
          </a:p>
        </p:txBody>
      </p:sp>
      <p:sp>
        <p:nvSpPr>
          <p:cNvPr id="15" name="Shape 13"/>
          <p:cNvSpPr/>
          <p:nvPr/>
        </p:nvSpPr>
        <p:spPr>
          <a:xfrm>
            <a:off x="845820" y="4352544"/>
            <a:ext cx="914" cy="548640"/>
          </a:xfrm>
          <a:prstGeom prst="line">
            <a:avLst/>
          </a:prstGeom>
          <a:noFill/>
          <a:ln w="19050">
            <a:solidFill>
              <a:srgbClr val="C5CFD9"/>
            </a:solidFill>
            <a:prstDash val="solid"/>
          </a:ln>
        </p:spPr>
      </p:sp>
      <p:sp>
        <p:nvSpPr>
          <p:cNvPr id="16" name="Text 14"/>
          <p:cNvSpPr/>
          <p:nvPr/>
        </p:nvSpPr>
        <p:spPr>
          <a:xfrm>
            <a:off x="594360" y="4901184"/>
            <a:ext cx="502920" cy="50292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1234440" y="4809744"/>
            <a:ext cx="4937760" cy="365760"/>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Continuidad</a:t>
            </a:r>
            <a:endParaRPr lang="en-US" sz="1600" dirty="0"/>
          </a:p>
        </p:txBody>
      </p:sp>
      <p:sp>
        <p:nvSpPr>
          <p:cNvPr id="18" name="Text 16"/>
          <p:cNvSpPr/>
          <p:nvPr/>
        </p:nvSpPr>
        <p:spPr>
          <a:xfrm>
            <a:off x="1234440" y="5175504"/>
            <a:ext cx="4937760" cy="41148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Rechazo o expiración: siguiente candidato</a:t>
            </a:r>
            <a:endParaRPr lang="en-US" sz="1300" dirty="0"/>
          </a:p>
        </p:txBody>
      </p:sp>
      <p:sp>
        <p:nvSpPr>
          <p:cNvPr id="19" name="Shape 17"/>
          <p:cNvSpPr/>
          <p:nvPr/>
        </p:nvSpPr>
        <p:spPr>
          <a:xfrm>
            <a:off x="6537960" y="1463040"/>
            <a:ext cx="5120640" cy="3246120"/>
          </a:xfrm>
          <a:prstGeom prst="roundRect">
            <a:avLst>
              <a:gd name="adj" fmla="val 2254"/>
            </a:avLst>
          </a:prstGeom>
          <a:solidFill>
            <a:srgbClr val="172B50"/>
          </a:solidFill>
          <a:ln w="12700">
            <a:solidFill>
              <a:srgbClr val="172B50"/>
            </a:solidFill>
            <a:prstDash val="solid"/>
          </a:ln>
          <a:effectLst>
            <a:outerShdw blurRad="76200" dist="25400" dir="5400000" algn="bl" rotWithShape="0">
              <a:srgbClr val="000000">
                <a:alpha val="12000"/>
              </a:srgbClr>
            </a:outerShdw>
          </a:effectLst>
        </p:spPr>
      </p:sp>
      <p:sp>
        <p:nvSpPr>
          <p:cNvPr id="20" name="Text 18"/>
          <p:cNvSpPr/>
          <p:nvPr/>
        </p:nvSpPr>
        <p:spPr>
          <a:xfrm>
            <a:off x="6766560" y="1600200"/>
            <a:ext cx="4663440" cy="365760"/>
          </a:xfrm>
          <a:prstGeom prst="rect">
            <a:avLst/>
          </a:prstGeom>
          <a:noFill/>
          <a:ln/>
        </p:spPr>
        <p:txBody>
          <a:bodyPr wrap="square" lIns="635" tIns="635" rIns="635" bIns="635" rtlCol="0" anchor="t"/>
          <a:lstStyle/>
          <a:p>
            <a:pPr marL="0" indent="0" algn="l">
              <a:lnSpc>
                <a:spcPct val="105000"/>
              </a:lnSpc>
              <a:buNone/>
            </a:pPr>
            <a:r>
              <a:rPr lang="en-US" sz="1300" dirty="0">
                <a:solidFill>
                  <a:srgbClr val="B9D9DC"/>
                </a:solidFill>
                <a:latin typeface="Segoe UI Semibold" pitchFamily="34" charset="0"/>
                <a:ea typeface="Segoe UI Semibold" pitchFamily="34" charset="-122"/>
                <a:cs typeface="Segoe UI Semibold" pitchFamily="34" charset="-120"/>
              </a:rPr>
              <a:t>Prueba de concurrencia · 17-10-2026</a:t>
            </a:r>
            <a:endParaRPr lang="en-US" sz="1300" dirty="0"/>
          </a:p>
        </p:txBody>
      </p:sp>
      <p:sp>
        <p:nvSpPr>
          <p:cNvPr id="21" name="Text 19"/>
          <p:cNvSpPr/>
          <p:nvPr/>
        </p:nvSpPr>
        <p:spPr>
          <a:xfrm>
            <a:off x="6766560" y="1965960"/>
            <a:ext cx="4663440" cy="1143000"/>
          </a:xfrm>
          <a:prstGeom prst="rect">
            <a:avLst/>
          </a:prstGeom>
          <a:noFill/>
          <a:ln/>
        </p:spPr>
        <p:txBody>
          <a:bodyPr wrap="square" lIns="635" tIns="635" rIns="635" bIns="635" rtlCol="0" anchor="t"/>
          <a:lstStyle/>
          <a:p>
            <a:pPr marL="0" indent="0" algn="l">
              <a:lnSpc>
                <a:spcPct val="105000"/>
              </a:lnSpc>
              <a:buNone/>
            </a:pPr>
            <a:r>
              <a:rPr lang="en-US" sz="6600" dirty="0">
                <a:solidFill>
                  <a:srgbClr val="FFFFFF"/>
                </a:solidFill>
                <a:latin typeface="Segoe UI Semibold" pitchFamily="34" charset="0"/>
                <a:ea typeface="Segoe UI Semibold" pitchFamily="34" charset="-122"/>
                <a:cs typeface="Segoe UI Semibold" pitchFamily="34" charset="-120"/>
              </a:rPr>
              <a:t>10 → 1</a:t>
            </a:r>
            <a:endParaRPr lang="en-US" sz="6600" dirty="0"/>
          </a:p>
        </p:txBody>
      </p:sp>
      <p:sp>
        <p:nvSpPr>
          <p:cNvPr id="22" name="Text 20"/>
          <p:cNvSpPr/>
          <p:nvPr/>
        </p:nvSpPr>
        <p:spPr>
          <a:xfrm>
            <a:off x="6766560" y="3154680"/>
            <a:ext cx="4663440" cy="1005840"/>
          </a:xfrm>
          <a:prstGeom prst="rect">
            <a:avLst/>
          </a:prstGeom>
          <a:noFill/>
          <a:ln/>
        </p:spPr>
        <p:txBody>
          <a:bodyPr wrap="square" lIns="635" tIns="635" rIns="635" bIns="635" rtlCol="0" anchor="t"/>
          <a:lstStyle/>
          <a:p>
            <a:pPr marL="0" indent="0" algn="l">
              <a:lnSpc>
                <a:spcPct val="115000"/>
              </a:lnSpc>
              <a:buNone/>
            </a:pPr>
            <a:r>
              <a:rPr lang="en-US" sz="1500" dirty="0">
                <a:solidFill>
                  <a:srgbClr val="FFFFFF"/>
                </a:solidFill>
                <a:latin typeface="Segoe UI" pitchFamily="34" charset="0"/>
                <a:ea typeface="Segoe UI" pitchFamily="34" charset="-122"/>
                <a:cs typeface="Segoe UI" pitchFamily="34" charset="-120"/>
              </a:rPr>
              <a:t>10 usuarios reservan el mismo cupo al mismo tiempo: 1 reserva confirmada y 9 rechazos 409. Sin doble asignación.</a:t>
            </a:r>
            <a:endParaRPr lang="en-US" sz="1500" dirty="0"/>
          </a:p>
        </p:txBody>
      </p:sp>
      <p:sp>
        <p:nvSpPr>
          <p:cNvPr id="23" name="Text 21"/>
          <p:cNvSpPr/>
          <p:nvPr/>
        </p:nvSpPr>
        <p:spPr>
          <a:xfrm>
            <a:off x="6537960" y="4937760"/>
            <a:ext cx="251460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Transacción Serializable</a:t>
            </a:r>
            <a:endParaRPr lang="en-US" sz="1150" dirty="0"/>
          </a:p>
        </p:txBody>
      </p:sp>
      <p:sp>
        <p:nvSpPr>
          <p:cNvPr id="24" name="Text 22"/>
          <p:cNvSpPr/>
          <p:nvPr/>
        </p:nvSpPr>
        <p:spPr>
          <a:xfrm>
            <a:off x="9144000" y="4937760"/>
            <a:ext cx="251460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lockVersion</a:t>
            </a:r>
            <a:endParaRPr lang="en-US" sz="1150" dirty="0"/>
          </a:p>
        </p:txBody>
      </p:sp>
      <p:sp>
        <p:nvSpPr>
          <p:cNvPr id="25" name="Text 23"/>
          <p:cNvSpPr/>
          <p:nvPr/>
        </p:nvSpPr>
        <p:spPr>
          <a:xfrm>
            <a:off x="6537960" y="5358384"/>
            <a:ext cx="251460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UNIQUE cupo ↔ cita</a:t>
            </a:r>
            <a:endParaRPr lang="en-US" sz="1150" dirty="0"/>
          </a:p>
        </p:txBody>
      </p:sp>
      <p:sp>
        <p:nvSpPr>
          <p:cNvPr id="26" name="Text 24"/>
          <p:cNvSpPr/>
          <p:nvPr/>
        </p:nvSpPr>
        <p:spPr>
          <a:xfrm>
            <a:off x="9144000" y="5358384"/>
            <a:ext cx="251460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Snapshots del ranking</a:t>
            </a:r>
            <a:endParaRPr lang="en-US" sz="115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APLICACIÓN WEB</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Personas: buscar, reservar, esperar y responder ofertas</a:t>
            </a:r>
            <a:endParaRPr lang="en-US" sz="2800" dirty="0"/>
          </a:p>
        </p:txBody>
      </p:sp>
      <p:sp>
        <p:nvSpPr>
          <p:cNvPr id="4" name="Shape 2"/>
          <p:cNvSpPr/>
          <p:nvPr/>
        </p:nvSpPr>
        <p:spPr>
          <a:xfrm>
            <a:off x="512064" y="1354672"/>
            <a:ext cx="4507992" cy="3581728"/>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5" name="Image 0" descr="15-oferta-disponible-con-plazo.png"/>
          <p:cNvPicPr>
            <a:picLocks noChangeAspect="1"/>
          </p:cNvPicPr>
          <p:nvPr/>
        </p:nvPicPr>
        <p:blipFill>
          <a:blip r:embed="rId3"/>
          <a:stretch>
            <a:fillRect/>
          </a:stretch>
        </p:blipFill>
        <p:spPr>
          <a:xfrm>
            <a:off x="548640" y="1391248"/>
            <a:ext cx="4434840" cy="3508576"/>
          </a:xfrm>
          <a:prstGeom prst="rect">
            <a:avLst/>
          </a:prstGeom>
        </p:spPr>
      </p:pic>
      <p:sp>
        <p:nvSpPr>
          <p:cNvPr id="6" name="Text 3"/>
          <p:cNvSpPr/>
          <p:nvPr/>
        </p:nvSpPr>
        <p:spPr>
          <a:xfrm>
            <a:off x="548640" y="4974336"/>
            <a:ext cx="4434840"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Oferta con plazo tras una cancelación</a:t>
            </a:r>
            <a:endParaRPr lang="en-US" sz="1200" dirty="0"/>
          </a:p>
        </p:txBody>
      </p:sp>
      <p:sp>
        <p:nvSpPr>
          <p:cNvPr id="7" name="Shape 4"/>
          <p:cNvSpPr/>
          <p:nvPr/>
        </p:nvSpPr>
        <p:spPr>
          <a:xfrm>
            <a:off x="5992154" y="1335024"/>
            <a:ext cx="4822365" cy="1655064"/>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8" name="Image 1" descr="08-resultados-cupos-disponibles.png"/>
          <p:cNvPicPr>
            <a:picLocks noChangeAspect="1"/>
          </p:cNvPicPr>
          <p:nvPr/>
        </p:nvPicPr>
        <p:blipFill>
          <a:blip r:embed="rId4"/>
          <a:stretch>
            <a:fillRect/>
          </a:stretch>
        </p:blipFill>
        <p:spPr>
          <a:xfrm>
            <a:off x="6028730" y="1371600"/>
            <a:ext cx="4749213" cy="1581912"/>
          </a:xfrm>
          <a:prstGeom prst="rect">
            <a:avLst/>
          </a:prstGeom>
        </p:spPr>
      </p:pic>
      <p:sp>
        <p:nvSpPr>
          <p:cNvPr id="9" name="Text 5"/>
          <p:cNvSpPr/>
          <p:nvPr/>
        </p:nvSpPr>
        <p:spPr>
          <a:xfrm>
            <a:off x="5166360" y="3008376"/>
            <a:ext cx="6473952"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Búsqueda: cupos disponibles</a:t>
            </a:r>
            <a:endParaRPr lang="en-US" sz="1200" dirty="0"/>
          </a:p>
        </p:txBody>
      </p:sp>
      <p:sp>
        <p:nvSpPr>
          <p:cNvPr id="10" name="Shape 6"/>
          <p:cNvSpPr/>
          <p:nvPr/>
        </p:nvSpPr>
        <p:spPr>
          <a:xfrm>
            <a:off x="6437392" y="3300984"/>
            <a:ext cx="3931887" cy="1655064"/>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11" name="Image 2" descr="17-mis-citas-cita-reasignada.png"/>
          <p:cNvPicPr>
            <a:picLocks noChangeAspect="1"/>
          </p:cNvPicPr>
          <p:nvPr/>
        </p:nvPicPr>
        <p:blipFill>
          <a:blip r:embed="rId5"/>
          <a:stretch>
            <a:fillRect/>
          </a:stretch>
        </p:blipFill>
        <p:spPr>
          <a:xfrm>
            <a:off x="6473968" y="3337560"/>
            <a:ext cx="3858735" cy="1581912"/>
          </a:xfrm>
          <a:prstGeom prst="rect">
            <a:avLst/>
          </a:prstGeom>
        </p:spPr>
      </p:pic>
      <p:sp>
        <p:nvSpPr>
          <p:cNvPr id="12" name="Text 7"/>
          <p:cNvSpPr/>
          <p:nvPr/>
        </p:nvSpPr>
        <p:spPr>
          <a:xfrm>
            <a:off x="5166360" y="4974336"/>
            <a:ext cx="6473952"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La cita reasignada, en Mis citas</a:t>
            </a:r>
            <a:endParaRPr lang="en-US" sz="1200" dirty="0"/>
          </a:p>
        </p:txBody>
      </p:sp>
      <p:sp>
        <p:nvSpPr>
          <p:cNvPr id="13" name="Text 8"/>
          <p:cNvSpPr/>
          <p:nvPr/>
        </p:nvSpPr>
        <p:spPr>
          <a:xfrm>
            <a:off x="54864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Búsqueda por fecha o flexible</a:t>
            </a:r>
            <a:endParaRPr lang="en-US" sz="1150" dirty="0"/>
          </a:p>
        </p:txBody>
      </p:sp>
      <p:sp>
        <p:nvSpPr>
          <p:cNvPr id="14" name="Text 9"/>
          <p:cNvSpPr/>
          <p:nvPr/>
        </p:nvSpPr>
        <p:spPr>
          <a:xfrm>
            <a:off x="278892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Mis citas y cancelación</a:t>
            </a:r>
            <a:endParaRPr lang="en-US" sz="1150" dirty="0"/>
          </a:p>
        </p:txBody>
      </p:sp>
      <p:sp>
        <p:nvSpPr>
          <p:cNvPr id="15" name="Text 10"/>
          <p:cNvSpPr/>
          <p:nvPr/>
        </p:nvSpPr>
        <p:spPr>
          <a:xfrm>
            <a:off x="502920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Lista de espera y preferencias</a:t>
            </a:r>
            <a:endParaRPr lang="en-US" sz="1150" dirty="0"/>
          </a:p>
        </p:txBody>
      </p:sp>
      <p:sp>
        <p:nvSpPr>
          <p:cNvPr id="16" name="Text 11"/>
          <p:cNvSpPr/>
          <p:nvPr/>
        </p:nvSpPr>
        <p:spPr>
          <a:xfrm>
            <a:off x="7269480" y="5349240"/>
            <a:ext cx="210312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50" dirty="0">
                <a:solidFill>
                  <a:srgbClr val="0B5F66"/>
                </a:solidFill>
                <a:latin typeface="Segoe UI Semibold" pitchFamily="34" charset="0"/>
                <a:ea typeface="Segoe UI Semibold" pitchFamily="34" charset="-122"/>
                <a:cs typeface="Segoe UI Semibold" pitchFamily="34" charset="-120"/>
              </a:rPr>
              <a:t>Login local y con Google</a:t>
            </a:r>
            <a:endParaRPr lang="en-US" sz="1150" dirty="0"/>
          </a:p>
        </p:txBody>
      </p:sp>
      <p:sp>
        <p:nvSpPr>
          <p:cNvPr id="17" name="Text 12"/>
          <p:cNvSpPr/>
          <p:nvPr/>
        </p:nvSpPr>
        <p:spPr>
          <a:xfrm>
            <a:off x="9509760" y="5349240"/>
            <a:ext cx="210312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50" dirty="0">
                <a:solidFill>
                  <a:srgbClr val="1E7A4F"/>
                </a:solidFill>
                <a:latin typeface="Segoe UI Semibold" pitchFamily="34" charset="0"/>
                <a:ea typeface="Segoe UI Semibold" pitchFamily="34" charset="-122"/>
                <a:cs typeface="Segoe UI Semibold" pitchFamily="34" charset="-120"/>
              </a:rPr>
              <a:t>138/138 pruebas</a:t>
            </a:r>
            <a:endParaRPr lang="en-US" sz="1150" dirty="0"/>
          </a:p>
        </p:txBody>
      </p:sp>
      <p:sp>
        <p:nvSpPr>
          <p:cNvPr id="18" name="Text 13"/>
          <p:cNvSpPr/>
          <p:nvPr/>
        </p:nvSpPr>
        <p:spPr>
          <a:xfrm>
            <a:off x="548640" y="5806440"/>
            <a:ext cx="10058400" cy="274320"/>
          </a:xfrm>
          <a:prstGeom prst="rect">
            <a:avLst/>
          </a:prstGeom>
          <a:noFill/>
          <a:ln/>
        </p:spPr>
        <p:txBody>
          <a:bodyPr wrap="square" lIns="635" tIns="635" rIns="635" bIns="635" rtlCol="0" anchor="t"/>
          <a:lstStyle/>
          <a:p>
            <a:pPr marL="0" indent="0" algn="l">
              <a:lnSpc>
                <a:spcPct val="105000"/>
              </a:lnSpc>
              <a:buNone/>
            </a:pPr>
            <a:r>
              <a:rPr lang="en-US" sz="1100" i="1" dirty="0">
                <a:solidFill>
                  <a:srgbClr val="5B6573"/>
                </a:solidFill>
                <a:latin typeface="Segoe UI" pitchFamily="34" charset="0"/>
                <a:ea typeface="Segoe UI" pitchFamily="34" charset="-122"/>
                <a:cs typeface="Segoe UI" pitchFamily="34" charset="-120"/>
              </a:rPr>
              <a:t>Capturas de la aplicación ejecutada en el entorno Docker preparado (17-10-2026), con datos ficticios.</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APLICACIÓN DESKTOP</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Instituciones: operar la agenda según permisos</a:t>
            </a:r>
            <a:endParaRPr lang="en-US" sz="2800" dirty="0"/>
          </a:p>
        </p:txBody>
      </p:sp>
      <p:sp>
        <p:nvSpPr>
          <p:cNvPr id="4" name="Shape 2"/>
          <p:cNvSpPr/>
          <p:nvPr/>
        </p:nvSpPr>
        <p:spPr>
          <a:xfrm>
            <a:off x="512064" y="1392837"/>
            <a:ext cx="6565392" cy="3505399"/>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5" name="Image 0" descr="15_image1.png"/>
          <p:cNvPicPr>
            <a:picLocks noChangeAspect="1"/>
          </p:cNvPicPr>
          <p:nvPr/>
        </p:nvPicPr>
        <p:blipFill>
          <a:blip r:embed="rId3"/>
          <a:stretch>
            <a:fillRect/>
          </a:stretch>
        </p:blipFill>
        <p:spPr>
          <a:xfrm>
            <a:off x="548640" y="1429413"/>
            <a:ext cx="6492240" cy="3432247"/>
          </a:xfrm>
          <a:prstGeom prst="rect">
            <a:avLst/>
          </a:prstGeom>
        </p:spPr>
      </p:pic>
      <p:sp>
        <p:nvSpPr>
          <p:cNvPr id="6" name="Text 3"/>
          <p:cNvSpPr/>
          <p:nvPr/>
        </p:nvSpPr>
        <p:spPr>
          <a:xfrm>
            <a:off x="548640" y="4974336"/>
            <a:ext cx="6492240"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Agenda institucional: reservas originadas en la Web</a:t>
            </a:r>
            <a:endParaRPr lang="en-US" sz="1200" dirty="0"/>
          </a:p>
        </p:txBody>
      </p:sp>
      <p:sp>
        <p:nvSpPr>
          <p:cNvPr id="7" name="Shape 4"/>
          <p:cNvSpPr/>
          <p:nvPr/>
        </p:nvSpPr>
        <p:spPr>
          <a:xfrm>
            <a:off x="7649358" y="1335024"/>
            <a:ext cx="3611077" cy="1655064"/>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8" name="Image 1" descr="reasignaciones.png"/>
          <p:cNvPicPr>
            <a:picLocks noChangeAspect="1"/>
          </p:cNvPicPr>
          <p:nvPr/>
        </p:nvPicPr>
        <p:blipFill>
          <a:blip r:embed="rId4"/>
          <a:stretch>
            <a:fillRect/>
          </a:stretch>
        </p:blipFill>
        <p:spPr>
          <a:xfrm>
            <a:off x="7685934" y="1371600"/>
            <a:ext cx="3537925" cy="1581912"/>
          </a:xfrm>
          <a:prstGeom prst="rect">
            <a:avLst/>
          </a:prstGeom>
        </p:spPr>
      </p:pic>
      <p:sp>
        <p:nvSpPr>
          <p:cNvPr id="9" name="Text 5"/>
          <p:cNvSpPr/>
          <p:nvPr/>
        </p:nvSpPr>
        <p:spPr>
          <a:xfrm>
            <a:off x="7269480" y="3008376"/>
            <a:ext cx="4370832"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Supervisión de una reasignación</a:t>
            </a:r>
            <a:endParaRPr lang="en-US" sz="1200" dirty="0"/>
          </a:p>
        </p:txBody>
      </p:sp>
      <p:sp>
        <p:nvSpPr>
          <p:cNvPr id="10" name="Shape 6"/>
          <p:cNvSpPr/>
          <p:nvPr/>
        </p:nvSpPr>
        <p:spPr>
          <a:xfrm>
            <a:off x="7939188" y="3300984"/>
            <a:ext cx="3031417" cy="1655064"/>
          </a:xfrm>
          <a:prstGeom prst="rect">
            <a:avLst/>
          </a:prstGeom>
          <a:solidFill>
            <a:srgbClr val="FFFFFF"/>
          </a:solidFill>
          <a:ln w="12700">
            <a:solidFill>
              <a:srgbClr val="C5CFD9"/>
            </a:solidFill>
            <a:prstDash val="solid"/>
          </a:ln>
          <a:effectLst>
            <a:outerShdw blurRad="101600" dist="38100" dir="5400000" algn="bl" rotWithShape="0">
              <a:srgbClr val="000000">
                <a:alpha val="18000"/>
              </a:srgbClr>
            </a:outerShdw>
          </a:effectLst>
        </p:spPr>
      </p:sp>
      <p:pic>
        <p:nvPicPr>
          <p:cNvPr id="11" name="Image 2" descr="reportes.png"/>
          <p:cNvPicPr>
            <a:picLocks noChangeAspect="1"/>
          </p:cNvPicPr>
          <p:nvPr/>
        </p:nvPicPr>
        <p:blipFill>
          <a:blip r:embed="rId5"/>
          <a:stretch>
            <a:fillRect/>
          </a:stretch>
        </p:blipFill>
        <p:spPr>
          <a:xfrm>
            <a:off x="7975764" y="3337560"/>
            <a:ext cx="2958265" cy="1581912"/>
          </a:xfrm>
          <a:prstGeom prst="rect">
            <a:avLst/>
          </a:prstGeom>
        </p:spPr>
      </p:pic>
      <p:sp>
        <p:nvSpPr>
          <p:cNvPr id="12" name="Text 7"/>
          <p:cNvSpPr/>
          <p:nvPr/>
        </p:nvSpPr>
        <p:spPr>
          <a:xfrm>
            <a:off x="7269480" y="4974336"/>
            <a:ext cx="4370832" cy="310896"/>
          </a:xfrm>
          <a:prstGeom prst="rect">
            <a:avLst/>
          </a:prstGeom>
          <a:noFill/>
          <a:ln/>
        </p:spPr>
        <p:txBody>
          <a:bodyPr wrap="square" lIns="635" tIns="635" rIns="635" bIns="635" rtlCol="0" anchor="t"/>
          <a:lstStyle/>
          <a:p>
            <a:pPr marL="0" indent="0" algn="ctr">
              <a:lnSpc>
                <a:spcPct val="105000"/>
              </a:lnSpc>
              <a:buNone/>
            </a:pPr>
            <a:r>
              <a:rPr lang="en-US" sz="1200" dirty="0">
                <a:solidFill>
                  <a:srgbClr val="172B50"/>
                </a:solidFill>
                <a:latin typeface="Segoe UI Semibold" pitchFamily="34" charset="0"/>
                <a:ea typeface="Segoe UI Semibold" pitchFamily="34" charset="-122"/>
                <a:cs typeface="Segoe UI Semibold" pitchFamily="34" charset="-120"/>
              </a:rPr>
              <a:t>Reportes por período</a:t>
            </a:r>
            <a:endParaRPr lang="en-US" sz="1200" dirty="0"/>
          </a:p>
        </p:txBody>
      </p:sp>
      <p:sp>
        <p:nvSpPr>
          <p:cNvPr id="13" name="Text 8"/>
          <p:cNvSpPr/>
          <p:nvPr/>
        </p:nvSpPr>
        <p:spPr>
          <a:xfrm>
            <a:off x="5486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Sedes y servicios</a:t>
            </a:r>
            <a:endParaRPr lang="en-US" sz="1100" dirty="0"/>
          </a:p>
        </p:txBody>
      </p:sp>
      <p:sp>
        <p:nvSpPr>
          <p:cNvPr id="14" name="Text 9"/>
          <p:cNvSpPr/>
          <p:nvPr/>
        </p:nvSpPr>
        <p:spPr>
          <a:xfrm>
            <a:off x="21488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Profesionales</a:t>
            </a:r>
            <a:endParaRPr lang="en-US" sz="1100" dirty="0"/>
          </a:p>
        </p:txBody>
      </p:sp>
      <p:sp>
        <p:nvSpPr>
          <p:cNvPr id="15" name="Text 10"/>
          <p:cNvSpPr/>
          <p:nvPr/>
        </p:nvSpPr>
        <p:spPr>
          <a:xfrm>
            <a:off x="37490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Agenda y bloqueos</a:t>
            </a:r>
            <a:endParaRPr lang="en-US" sz="1100" dirty="0"/>
          </a:p>
        </p:txBody>
      </p:sp>
      <p:sp>
        <p:nvSpPr>
          <p:cNvPr id="16" name="Text 11"/>
          <p:cNvSpPr/>
          <p:nvPr/>
        </p:nvSpPr>
        <p:spPr>
          <a:xfrm>
            <a:off x="53492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Asistencia</a:t>
            </a:r>
            <a:endParaRPr lang="en-US" sz="1100" dirty="0"/>
          </a:p>
        </p:txBody>
      </p:sp>
      <p:sp>
        <p:nvSpPr>
          <p:cNvPr id="17" name="Text 12"/>
          <p:cNvSpPr/>
          <p:nvPr/>
        </p:nvSpPr>
        <p:spPr>
          <a:xfrm>
            <a:off x="69494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Reasignaciones</a:t>
            </a:r>
            <a:endParaRPr lang="en-US" sz="1100" dirty="0"/>
          </a:p>
        </p:txBody>
      </p:sp>
      <p:sp>
        <p:nvSpPr>
          <p:cNvPr id="18" name="Text 13"/>
          <p:cNvSpPr/>
          <p:nvPr/>
        </p:nvSpPr>
        <p:spPr>
          <a:xfrm>
            <a:off x="85496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Reportes</a:t>
            </a:r>
            <a:endParaRPr lang="en-US" sz="1100" dirty="0"/>
          </a:p>
        </p:txBody>
      </p:sp>
      <p:sp>
        <p:nvSpPr>
          <p:cNvPr id="19" name="Text 14"/>
          <p:cNvSpPr/>
          <p:nvPr/>
        </p:nvSpPr>
        <p:spPr>
          <a:xfrm>
            <a:off x="10149840" y="5349240"/>
            <a:ext cx="1508760"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100" dirty="0">
                <a:solidFill>
                  <a:srgbClr val="0B5F66"/>
                </a:solidFill>
                <a:latin typeface="Segoe UI Semibold" pitchFamily="34" charset="0"/>
                <a:ea typeface="Segoe UI Semibold" pitchFamily="34" charset="-122"/>
                <a:cs typeface="Segoe UI Semibold" pitchFamily="34" charset="-120"/>
              </a:rPr>
              <a:t>Auditoría</a:t>
            </a:r>
            <a:endParaRPr lang="en-US" sz="1100" dirty="0"/>
          </a:p>
        </p:txBody>
      </p:sp>
      <p:sp>
        <p:nvSpPr>
          <p:cNvPr id="20" name="Text 15"/>
          <p:cNvSpPr/>
          <p:nvPr/>
        </p:nvSpPr>
        <p:spPr>
          <a:xfrm>
            <a:off x="548640" y="5806440"/>
            <a:ext cx="10058400" cy="274320"/>
          </a:xfrm>
          <a:prstGeom prst="rect">
            <a:avLst/>
          </a:prstGeom>
          <a:noFill/>
          <a:ln/>
        </p:spPr>
        <p:txBody>
          <a:bodyPr wrap="square" lIns="635" tIns="635" rIns="635" bIns="635" rtlCol="0" anchor="t"/>
          <a:lstStyle/>
          <a:p>
            <a:pPr marL="0" indent="0" algn="l">
              <a:lnSpc>
                <a:spcPct val="105000"/>
              </a:lnSpc>
              <a:buNone/>
            </a:pPr>
            <a:r>
              <a:rPr lang="en-US" sz="1100" i="1" dirty="0">
                <a:solidFill>
                  <a:srgbClr val="5B6573"/>
                </a:solidFill>
                <a:latin typeface="Segoe UI" pitchFamily="34" charset="0"/>
                <a:ea typeface="Segoe UI" pitchFamily="34" charset="-122"/>
                <a:cs typeface="Segoe UI" pitchFamily="34" charset="-120"/>
              </a:rPr>
              <a:t>Capturas de ejecución real incluidas en el documento de Mockups (15-10-2026). Tauri 2 · 165/165 pruebas.</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INTEGRACIONES EXTERNAS</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Cinco proveedores, ninguno es fuente de verdad</a:t>
            </a:r>
            <a:endParaRPr lang="en-US" sz="2800" dirty="0"/>
          </a:p>
        </p:txBody>
      </p:sp>
      <p:sp>
        <p:nvSpPr>
          <p:cNvPr id="4" name="Shape 2"/>
          <p:cNvSpPr/>
          <p:nvPr/>
        </p:nvSpPr>
        <p:spPr>
          <a:xfrm>
            <a:off x="548640" y="1508760"/>
            <a:ext cx="352044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5" name="Shape 3"/>
          <p:cNvSpPr/>
          <p:nvPr/>
        </p:nvSpPr>
        <p:spPr>
          <a:xfrm>
            <a:off x="566928" y="1618488"/>
            <a:ext cx="64008" cy="1563624"/>
          </a:xfrm>
          <a:prstGeom prst="rect">
            <a:avLst/>
          </a:prstGeom>
          <a:solidFill>
            <a:srgbClr val="008184"/>
          </a:solidFill>
          <a:ln w="12700">
            <a:solidFill>
              <a:srgbClr val="008184"/>
            </a:solidFill>
            <a:prstDash val="solid"/>
          </a:ln>
        </p:spPr>
      </p:sp>
      <p:sp>
        <p:nvSpPr>
          <p:cNvPr id="6" name="Text 4"/>
          <p:cNvSpPr/>
          <p:nvPr/>
        </p:nvSpPr>
        <p:spPr>
          <a:xfrm>
            <a:off x="804672" y="163677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Resend</a:t>
            </a:r>
            <a:endParaRPr lang="en-US" sz="1600" dirty="0"/>
          </a:p>
        </p:txBody>
      </p:sp>
      <p:sp>
        <p:nvSpPr>
          <p:cNvPr id="7" name="Text 5"/>
          <p:cNvSpPr/>
          <p:nvPr/>
        </p:nvSpPr>
        <p:spPr>
          <a:xfrm>
            <a:off x="804672" y="2020824"/>
            <a:ext cx="312724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Correo transaccional con outbox, reintentos e idempotencia</a:t>
            </a:r>
            <a:endParaRPr lang="en-US" sz="1300" dirty="0"/>
          </a:p>
        </p:txBody>
      </p:sp>
      <p:sp>
        <p:nvSpPr>
          <p:cNvPr id="8" name="Text 6"/>
          <p:cNvSpPr/>
          <p:nvPr/>
        </p:nvSpPr>
        <p:spPr>
          <a:xfrm>
            <a:off x="804672" y="2834640"/>
            <a:ext cx="306324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00" dirty="0">
                <a:solidFill>
                  <a:srgbClr val="1E7A4F"/>
                </a:solidFill>
                <a:latin typeface="Segoe UI Semibold" pitchFamily="34" charset="0"/>
                <a:ea typeface="Segoe UI Semibold" pitchFamily="34" charset="-122"/>
                <a:cs typeface="Segoe UI Semibold" pitchFamily="34" charset="-120"/>
              </a:rPr>
              <a:t>HU-039 · recibido en Gmail</a:t>
            </a:r>
            <a:endParaRPr lang="en-US" sz="1100" dirty="0"/>
          </a:p>
        </p:txBody>
      </p:sp>
      <p:sp>
        <p:nvSpPr>
          <p:cNvPr id="9" name="Shape 7"/>
          <p:cNvSpPr/>
          <p:nvPr/>
        </p:nvSpPr>
        <p:spPr>
          <a:xfrm>
            <a:off x="4297680" y="1508760"/>
            <a:ext cx="352044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0" name="Shape 8"/>
          <p:cNvSpPr/>
          <p:nvPr/>
        </p:nvSpPr>
        <p:spPr>
          <a:xfrm>
            <a:off x="4315968" y="1618488"/>
            <a:ext cx="64008" cy="1563624"/>
          </a:xfrm>
          <a:prstGeom prst="rect">
            <a:avLst/>
          </a:prstGeom>
          <a:solidFill>
            <a:srgbClr val="008184"/>
          </a:solidFill>
          <a:ln w="12700">
            <a:solidFill>
              <a:srgbClr val="008184"/>
            </a:solidFill>
            <a:prstDash val="solid"/>
          </a:ln>
        </p:spPr>
      </p:sp>
      <p:sp>
        <p:nvSpPr>
          <p:cNvPr id="11" name="Text 9"/>
          <p:cNvSpPr/>
          <p:nvPr/>
        </p:nvSpPr>
        <p:spPr>
          <a:xfrm>
            <a:off x="4553712" y="163677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Google OIDC</a:t>
            </a:r>
            <a:endParaRPr lang="en-US" sz="1600" dirty="0"/>
          </a:p>
        </p:txBody>
      </p:sp>
      <p:sp>
        <p:nvSpPr>
          <p:cNvPr id="12" name="Text 10"/>
          <p:cNvSpPr/>
          <p:nvPr/>
        </p:nvSpPr>
        <p:spPr>
          <a:xfrm>
            <a:off x="4553712" y="2020824"/>
            <a:ext cx="312724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Inicio de sesión adicional; no otorga roles ni permisos</a:t>
            </a:r>
            <a:endParaRPr lang="en-US" sz="1300" dirty="0"/>
          </a:p>
        </p:txBody>
      </p:sp>
      <p:sp>
        <p:nvSpPr>
          <p:cNvPr id="13" name="Text 11"/>
          <p:cNvSpPr/>
          <p:nvPr/>
        </p:nvSpPr>
        <p:spPr>
          <a:xfrm>
            <a:off x="4553712" y="2834640"/>
            <a:ext cx="306324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00" dirty="0">
                <a:solidFill>
                  <a:srgbClr val="1E7A4F"/>
                </a:solidFill>
                <a:latin typeface="Segoe UI Semibold" pitchFamily="34" charset="0"/>
                <a:ea typeface="Segoe UI Semibold" pitchFamily="34" charset="-122"/>
                <a:cs typeface="Segoe UI Semibold" pitchFamily="34" charset="-120"/>
              </a:rPr>
              <a:t>HU-040 · validado</a:t>
            </a:r>
            <a:endParaRPr lang="en-US" sz="1100" dirty="0"/>
          </a:p>
        </p:txBody>
      </p:sp>
      <p:sp>
        <p:nvSpPr>
          <p:cNvPr id="14" name="Shape 12"/>
          <p:cNvSpPr/>
          <p:nvPr/>
        </p:nvSpPr>
        <p:spPr>
          <a:xfrm>
            <a:off x="8046720" y="1508760"/>
            <a:ext cx="352044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5" name="Shape 13"/>
          <p:cNvSpPr/>
          <p:nvPr/>
        </p:nvSpPr>
        <p:spPr>
          <a:xfrm>
            <a:off x="8065008" y="1618488"/>
            <a:ext cx="64008" cy="1563624"/>
          </a:xfrm>
          <a:prstGeom prst="rect">
            <a:avLst/>
          </a:prstGeom>
          <a:solidFill>
            <a:srgbClr val="008184"/>
          </a:solidFill>
          <a:ln w="12700">
            <a:solidFill>
              <a:srgbClr val="008184"/>
            </a:solidFill>
            <a:prstDash val="solid"/>
          </a:ln>
        </p:spPr>
      </p:sp>
      <p:sp>
        <p:nvSpPr>
          <p:cNvPr id="16" name="Text 14"/>
          <p:cNvSpPr/>
          <p:nvPr/>
        </p:nvSpPr>
        <p:spPr>
          <a:xfrm>
            <a:off x="8302752" y="163677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Google Calendar</a:t>
            </a:r>
            <a:endParaRPr lang="en-US" sz="1600" dirty="0"/>
          </a:p>
        </p:txBody>
      </p:sp>
      <p:sp>
        <p:nvSpPr>
          <p:cNvPr id="17" name="Text 15"/>
          <p:cNvSpPr/>
          <p:nvPr/>
        </p:nvSpPr>
        <p:spPr>
          <a:xfrm>
            <a:off x="8302752" y="2020824"/>
            <a:ext cx="312724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Copia explícita de una cita propia al calendario</a:t>
            </a:r>
            <a:endParaRPr lang="en-US" sz="1300" dirty="0"/>
          </a:p>
        </p:txBody>
      </p:sp>
      <p:sp>
        <p:nvSpPr>
          <p:cNvPr id="18" name="Text 16"/>
          <p:cNvSpPr/>
          <p:nvPr/>
        </p:nvSpPr>
        <p:spPr>
          <a:xfrm>
            <a:off x="8302752" y="2834640"/>
            <a:ext cx="306324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00" dirty="0">
                <a:solidFill>
                  <a:srgbClr val="1E7A4F"/>
                </a:solidFill>
                <a:latin typeface="Segoe UI Semibold" pitchFamily="34" charset="0"/>
                <a:ea typeface="Segoe UI Semibold" pitchFamily="34" charset="-122"/>
                <a:cs typeface="Segoe UI Semibold" pitchFamily="34" charset="-120"/>
              </a:rPr>
              <a:t>HU-041 · validado</a:t>
            </a:r>
            <a:endParaRPr lang="en-US" sz="1100" dirty="0"/>
          </a:p>
        </p:txBody>
      </p:sp>
      <p:sp>
        <p:nvSpPr>
          <p:cNvPr id="19" name="Shape 17"/>
          <p:cNvSpPr/>
          <p:nvPr/>
        </p:nvSpPr>
        <p:spPr>
          <a:xfrm>
            <a:off x="548640" y="3520440"/>
            <a:ext cx="352044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20" name="Shape 18"/>
          <p:cNvSpPr/>
          <p:nvPr/>
        </p:nvSpPr>
        <p:spPr>
          <a:xfrm>
            <a:off x="566928" y="3630168"/>
            <a:ext cx="64008" cy="1563624"/>
          </a:xfrm>
          <a:prstGeom prst="rect">
            <a:avLst/>
          </a:prstGeom>
          <a:solidFill>
            <a:srgbClr val="008184"/>
          </a:solidFill>
          <a:ln w="12700">
            <a:solidFill>
              <a:srgbClr val="008184"/>
            </a:solidFill>
            <a:prstDash val="solid"/>
          </a:ln>
        </p:spPr>
      </p:sp>
      <p:sp>
        <p:nvSpPr>
          <p:cNvPr id="21" name="Text 19"/>
          <p:cNvSpPr/>
          <p:nvPr/>
        </p:nvSpPr>
        <p:spPr>
          <a:xfrm>
            <a:off x="804672" y="36484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OpenStreetMap + Maps URLs</a:t>
            </a:r>
            <a:endParaRPr lang="en-US" sz="1600" dirty="0"/>
          </a:p>
        </p:txBody>
      </p:sp>
      <p:sp>
        <p:nvSpPr>
          <p:cNvPr id="22" name="Text 20"/>
          <p:cNvSpPr/>
          <p:nvPr/>
        </p:nvSpPr>
        <p:spPr>
          <a:xfrm>
            <a:off x="804672" y="4032504"/>
            <a:ext cx="312724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Mapa de la sede y “Cómo llegar”, sin API key</a:t>
            </a:r>
            <a:endParaRPr lang="en-US" sz="1300" dirty="0"/>
          </a:p>
        </p:txBody>
      </p:sp>
      <p:sp>
        <p:nvSpPr>
          <p:cNvPr id="23" name="Text 21"/>
          <p:cNvSpPr/>
          <p:nvPr/>
        </p:nvSpPr>
        <p:spPr>
          <a:xfrm>
            <a:off x="804672" y="4846320"/>
            <a:ext cx="306324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00" dirty="0">
                <a:solidFill>
                  <a:srgbClr val="1E7A4F"/>
                </a:solidFill>
                <a:latin typeface="Segoe UI Semibold" pitchFamily="34" charset="0"/>
                <a:ea typeface="Segoe UI Semibold" pitchFamily="34" charset="-122"/>
                <a:cs typeface="Segoe UI Semibold" pitchFamily="34" charset="-120"/>
              </a:rPr>
              <a:t>HU-042 · integrado</a:t>
            </a:r>
            <a:endParaRPr lang="en-US" sz="1100" dirty="0"/>
          </a:p>
        </p:txBody>
      </p:sp>
      <p:sp>
        <p:nvSpPr>
          <p:cNvPr id="24" name="Shape 22"/>
          <p:cNvSpPr/>
          <p:nvPr/>
        </p:nvSpPr>
        <p:spPr>
          <a:xfrm>
            <a:off x="4297680" y="3520440"/>
            <a:ext cx="352044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25" name="Shape 23"/>
          <p:cNvSpPr/>
          <p:nvPr/>
        </p:nvSpPr>
        <p:spPr>
          <a:xfrm>
            <a:off x="4315968" y="3630168"/>
            <a:ext cx="64008" cy="1563624"/>
          </a:xfrm>
          <a:prstGeom prst="rect">
            <a:avLst/>
          </a:prstGeom>
          <a:solidFill>
            <a:srgbClr val="008184"/>
          </a:solidFill>
          <a:ln w="12700">
            <a:solidFill>
              <a:srgbClr val="008184"/>
            </a:solidFill>
            <a:prstDash val="solid"/>
          </a:ln>
        </p:spPr>
      </p:sp>
      <p:sp>
        <p:nvSpPr>
          <p:cNvPr id="26" name="Text 24"/>
          <p:cNvSpPr/>
          <p:nvPr/>
        </p:nvSpPr>
        <p:spPr>
          <a:xfrm>
            <a:off x="4553712" y="36484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Nager.Date</a:t>
            </a:r>
            <a:endParaRPr lang="en-US" sz="1600" dirty="0"/>
          </a:p>
        </p:txBody>
      </p:sp>
      <p:sp>
        <p:nvSpPr>
          <p:cNvPr id="27" name="Text 25"/>
          <p:cNvSpPr/>
          <p:nvPr/>
        </p:nvSpPr>
        <p:spPr>
          <a:xfrm>
            <a:off x="4553712" y="4032504"/>
            <a:ext cx="312724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Feriados de Chile mediante adaptador de lectura</a:t>
            </a:r>
            <a:endParaRPr lang="en-US" sz="1300" dirty="0"/>
          </a:p>
        </p:txBody>
      </p:sp>
      <p:sp>
        <p:nvSpPr>
          <p:cNvPr id="28" name="Text 26"/>
          <p:cNvSpPr/>
          <p:nvPr/>
        </p:nvSpPr>
        <p:spPr>
          <a:xfrm>
            <a:off x="4553712" y="4846320"/>
            <a:ext cx="3063240" cy="310896"/>
          </a:xfrm>
          <a:prstGeom prst="roundRect">
            <a:avLst>
              <a:gd name="adj" fmla="val 50000"/>
            </a:avLst>
          </a:prstGeom>
          <a:solidFill>
            <a:srgbClr val="E7F5EE"/>
          </a:solidFill>
          <a:ln w="9525">
            <a:solidFill>
              <a:srgbClr val="E7F5EE"/>
            </a:solidFill>
          </a:ln>
        </p:spPr>
        <p:txBody>
          <a:bodyPr wrap="square" lIns="0" tIns="0" rIns="0" bIns="0" rtlCol="0" anchor="ctr"/>
          <a:lstStyle/>
          <a:p>
            <a:pPr marL="0" indent="0" algn="ctr">
              <a:buNone/>
            </a:pPr>
            <a:r>
              <a:rPr lang="en-US" sz="1100" dirty="0">
                <a:solidFill>
                  <a:srgbClr val="1E7A4F"/>
                </a:solidFill>
                <a:latin typeface="Segoe UI Semibold" pitchFamily="34" charset="0"/>
                <a:ea typeface="Segoe UI Semibold" pitchFamily="34" charset="-122"/>
                <a:cs typeface="Segoe UI Semibold" pitchFamily="34" charset="-120"/>
              </a:rPr>
              <a:t>PR #174 · 17-10-2026</a:t>
            </a:r>
            <a:endParaRPr lang="en-US" sz="1100" dirty="0"/>
          </a:p>
        </p:txBody>
      </p:sp>
      <p:sp>
        <p:nvSpPr>
          <p:cNvPr id="29" name="Shape 27"/>
          <p:cNvSpPr/>
          <p:nvPr/>
        </p:nvSpPr>
        <p:spPr>
          <a:xfrm>
            <a:off x="8046720" y="3520440"/>
            <a:ext cx="3520440" cy="1783080"/>
          </a:xfrm>
          <a:prstGeom prst="roundRect">
            <a:avLst>
              <a:gd name="adj" fmla="val 4103"/>
            </a:avLst>
          </a:prstGeom>
          <a:solidFill>
            <a:srgbClr val="FBF4F3"/>
          </a:solidFill>
          <a:ln w="12700">
            <a:solidFill>
              <a:srgbClr val="C5CFD9"/>
            </a:solidFill>
            <a:prstDash val="solid"/>
          </a:ln>
          <a:effectLst>
            <a:outerShdw blurRad="76200" dist="25400" dir="5400000" algn="bl" rotWithShape="0">
              <a:srgbClr val="000000">
                <a:alpha val="12000"/>
              </a:srgbClr>
            </a:outerShdw>
          </a:effectLst>
        </p:spPr>
      </p:sp>
      <p:sp>
        <p:nvSpPr>
          <p:cNvPr id="30" name="Shape 28"/>
          <p:cNvSpPr/>
          <p:nvPr/>
        </p:nvSpPr>
        <p:spPr>
          <a:xfrm>
            <a:off x="8065008" y="3630168"/>
            <a:ext cx="64008" cy="1563624"/>
          </a:xfrm>
          <a:prstGeom prst="rect">
            <a:avLst/>
          </a:prstGeom>
          <a:solidFill>
            <a:srgbClr val="B42318"/>
          </a:solidFill>
          <a:ln w="12700">
            <a:solidFill>
              <a:srgbClr val="B42318"/>
            </a:solidFill>
            <a:prstDash val="solid"/>
          </a:ln>
        </p:spPr>
      </p:sp>
      <p:sp>
        <p:nvSpPr>
          <p:cNvPr id="31" name="Text 29"/>
          <p:cNvSpPr/>
          <p:nvPr/>
        </p:nvSpPr>
        <p:spPr>
          <a:xfrm>
            <a:off x="8302752" y="3648456"/>
            <a:ext cx="312724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WhatsApp Cloud API</a:t>
            </a:r>
            <a:endParaRPr lang="en-US" sz="1600" dirty="0"/>
          </a:p>
        </p:txBody>
      </p:sp>
      <p:sp>
        <p:nvSpPr>
          <p:cNvPr id="32" name="Text 30"/>
          <p:cNvSpPr/>
          <p:nvPr/>
        </p:nvSpPr>
        <p:spPr>
          <a:xfrm>
            <a:off x="8302752" y="4032504"/>
            <a:ext cx="3127248" cy="1179576"/>
          </a:xfrm>
          <a:prstGeom prst="rect">
            <a:avLst/>
          </a:prstGeom>
          <a:noFill/>
          <a:ln/>
        </p:spPr>
        <p:txBody>
          <a:bodyPr wrap="square" lIns="635" tIns="635" rIns="635" bIns="635" rtlCol="0" anchor="t"/>
          <a:lstStyle/>
          <a:p>
            <a:pPr marL="0" indent="0" algn="l">
              <a:lnSpc>
                <a:spcPct val="110000"/>
              </a:lnSpc>
              <a:buNone/>
            </a:pPr>
            <a:r>
              <a:rPr lang="en-US" sz="1250" dirty="0">
                <a:solidFill>
                  <a:srgbClr val="5B6573"/>
                </a:solidFill>
                <a:latin typeface="Segoe UI" pitchFamily="34" charset="0"/>
                <a:ea typeface="Segoe UI" pitchFamily="34" charset="-122"/>
                <a:cs typeface="Segoe UI" pitchFamily="34" charset="-120"/>
              </a:rPr>
              <a:t>Excluida el 15-10-2026: requisitos empresariales de Meta incompatibles con el contexto académico.</a:t>
            </a:r>
            <a:endParaRPr lang="en-US" sz="1250" dirty="0"/>
          </a:p>
        </p:txBody>
      </p:sp>
      <p:sp>
        <p:nvSpPr>
          <p:cNvPr id="33" name="Shape 31"/>
          <p:cNvSpPr/>
          <p:nvPr/>
        </p:nvSpPr>
        <p:spPr>
          <a:xfrm>
            <a:off x="548640" y="5623560"/>
            <a:ext cx="11094415" cy="548640"/>
          </a:xfrm>
          <a:prstGeom prst="roundRect">
            <a:avLst>
              <a:gd name="adj" fmla="val 13333"/>
            </a:avLst>
          </a:prstGeom>
          <a:solidFill>
            <a:srgbClr val="EDF8F8"/>
          </a:solidFill>
          <a:ln w="12700">
            <a:solidFill>
              <a:srgbClr val="EDF8F8"/>
            </a:solidFill>
            <a:prstDash val="solid"/>
          </a:ln>
        </p:spPr>
      </p:sp>
      <p:sp>
        <p:nvSpPr>
          <p:cNvPr id="34" name="Text 32"/>
          <p:cNvSpPr/>
          <p:nvPr/>
        </p:nvSpPr>
        <p:spPr>
          <a:xfrm>
            <a:off x="777240" y="5650992"/>
            <a:ext cx="10637215" cy="502920"/>
          </a:xfrm>
          <a:prstGeom prst="rect">
            <a:avLst/>
          </a:prstGeom>
          <a:noFill/>
          <a:ln/>
        </p:spPr>
        <p:txBody>
          <a:bodyPr wrap="square" lIns="635" tIns="635" rIns="635" bIns="635" rtlCol="0" anchor="ctr"/>
          <a:lstStyle/>
          <a:p>
            <a:pPr marL="0" indent="0" algn="l">
              <a:lnSpc>
                <a:spcPct val="105000"/>
              </a:lnSpc>
              <a:buNone/>
            </a:pPr>
            <a:r>
              <a:rPr lang="en-US" sz="1400" dirty="0">
                <a:solidFill>
                  <a:srgbClr val="0B5F66"/>
                </a:solidFill>
                <a:latin typeface="Segoe UI Semibold" pitchFamily="34" charset="0"/>
                <a:ea typeface="Segoe UI Semibold" pitchFamily="34" charset="-122"/>
                <a:cs typeface="Segoe UI Semibold" pitchFamily="34" charset="-120"/>
              </a:rPr>
              <a:t>Si un proveedor falla, la reserva confirmada no se revierte: PostgreSQL sigue siendo la autoridad.</a:t>
            </a:r>
            <a:endParaRPr lang="en-US" sz="1400" dirty="0"/>
          </a:p>
        </p:txBody>
      </p:sp>
      <p:sp>
        <p:nvSpPr>
          <p:cNvPr id="3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CALIDAD Y PRUEBAS</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Evidencia ejecutada el 17-10-2026</a:t>
            </a:r>
            <a:endParaRPr lang="en-US" sz="2800" dirty="0"/>
          </a:p>
        </p:txBody>
      </p:sp>
      <p:sp>
        <p:nvSpPr>
          <p:cNvPr id="4" name="Shape 2"/>
          <p:cNvSpPr/>
          <p:nvPr/>
        </p:nvSpPr>
        <p:spPr>
          <a:xfrm>
            <a:off x="548640" y="1508760"/>
            <a:ext cx="2633472" cy="2331720"/>
          </a:xfrm>
          <a:prstGeom prst="roundRect">
            <a:avLst>
              <a:gd name="adj" fmla="val 313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5" name="Shape 3"/>
          <p:cNvSpPr/>
          <p:nvPr/>
        </p:nvSpPr>
        <p:spPr>
          <a:xfrm>
            <a:off x="548640" y="1508760"/>
            <a:ext cx="2633472" cy="91440"/>
          </a:xfrm>
          <a:prstGeom prst="rect">
            <a:avLst/>
          </a:prstGeom>
          <a:solidFill>
            <a:srgbClr val="172B50"/>
          </a:solidFill>
          <a:ln w="12700">
            <a:solidFill>
              <a:srgbClr val="172B50"/>
            </a:solidFill>
            <a:prstDash val="solid"/>
          </a:ln>
        </p:spPr>
      </p:sp>
      <p:sp>
        <p:nvSpPr>
          <p:cNvPr id="6" name="Text 4"/>
          <p:cNvSpPr/>
          <p:nvPr/>
        </p:nvSpPr>
        <p:spPr>
          <a:xfrm>
            <a:off x="685800" y="1737360"/>
            <a:ext cx="2377440" cy="777240"/>
          </a:xfrm>
          <a:prstGeom prst="rect">
            <a:avLst/>
          </a:prstGeom>
          <a:noFill/>
          <a:ln/>
        </p:spPr>
        <p:txBody>
          <a:bodyPr wrap="square" lIns="635" tIns="635" rIns="635" bIns="635" rtlCol="0" anchor="t"/>
          <a:lstStyle/>
          <a:p>
            <a:pPr marL="0" indent="0" algn="l">
              <a:lnSpc>
                <a:spcPct val="105000"/>
              </a:lnSpc>
              <a:buNone/>
            </a:pPr>
            <a:r>
              <a:rPr lang="en-US" sz="4200" dirty="0">
                <a:solidFill>
                  <a:srgbClr val="172B50"/>
                </a:solidFill>
                <a:latin typeface="Segoe UI Semibold" pitchFamily="34" charset="0"/>
                <a:ea typeface="Segoe UI Semibold" pitchFamily="34" charset="-122"/>
                <a:cs typeface="Segoe UI Semibold" pitchFamily="34" charset="-120"/>
              </a:rPr>
              <a:t>999</a:t>
            </a:r>
            <a:endParaRPr lang="en-US" sz="4200" dirty="0"/>
          </a:p>
        </p:txBody>
      </p:sp>
      <p:sp>
        <p:nvSpPr>
          <p:cNvPr id="7" name="Text 5"/>
          <p:cNvSpPr/>
          <p:nvPr/>
        </p:nvSpPr>
        <p:spPr>
          <a:xfrm>
            <a:off x="713232" y="2560320"/>
            <a:ext cx="2331720" cy="54864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pruebas unitarias, 0 fallos</a:t>
            </a:r>
            <a:endParaRPr lang="en-US" sz="1400" dirty="0"/>
          </a:p>
        </p:txBody>
      </p:sp>
      <p:sp>
        <p:nvSpPr>
          <p:cNvPr id="8" name="Text 6"/>
          <p:cNvSpPr/>
          <p:nvPr/>
        </p:nvSpPr>
        <p:spPr>
          <a:xfrm>
            <a:off x="713232" y="3108960"/>
            <a:ext cx="2331720" cy="640080"/>
          </a:xfrm>
          <a:prstGeom prst="rect">
            <a:avLst/>
          </a:prstGeom>
          <a:noFill/>
          <a:ln/>
        </p:spPr>
        <p:txBody>
          <a:bodyPr wrap="square" lIns="635" tIns="635" rIns="635" bIns="635" rtlCol="0" anchor="t"/>
          <a:lstStyle/>
          <a:p>
            <a:pPr marL="0" indent="0" algn="l">
              <a:lnSpc>
                <a:spcPct val="105000"/>
              </a:lnSpc>
              <a:buNone/>
            </a:pPr>
            <a:r>
              <a:rPr lang="en-US" sz="1150" dirty="0">
                <a:solidFill>
                  <a:srgbClr val="5B6573"/>
                </a:solidFill>
                <a:latin typeface="Segoe UI" pitchFamily="34" charset="0"/>
                <a:ea typeface="Segoe UI" pitchFamily="34" charset="-122"/>
                <a:cs typeface="Segoe UI" pitchFamily="34" charset="-120"/>
              </a:rPr>
              <a:t>API 691 · Web 138 · Desktop 165 · core 5</a:t>
            </a:r>
            <a:endParaRPr lang="en-US" sz="1150" dirty="0"/>
          </a:p>
        </p:txBody>
      </p:sp>
      <p:sp>
        <p:nvSpPr>
          <p:cNvPr id="9" name="Shape 7"/>
          <p:cNvSpPr/>
          <p:nvPr/>
        </p:nvSpPr>
        <p:spPr>
          <a:xfrm>
            <a:off x="3364992" y="1508760"/>
            <a:ext cx="2633472" cy="2331720"/>
          </a:xfrm>
          <a:prstGeom prst="roundRect">
            <a:avLst>
              <a:gd name="adj" fmla="val 313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0" name="Shape 8"/>
          <p:cNvSpPr/>
          <p:nvPr/>
        </p:nvSpPr>
        <p:spPr>
          <a:xfrm>
            <a:off x="3364992" y="1508760"/>
            <a:ext cx="2633472" cy="91440"/>
          </a:xfrm>
          <a:prstGeom prst="rect">
            <a:avLst/>
          </a:prstGeom>
          <a:solidFill>
            <a:srgbClr val="008184"/>
          </a:solidFill>
          <a:ln w="12700">
            <a:solidFill>
              <a:srgbClr val="008184"/>
            </a:solidFill>
            <a:prstDash val="solid"/>
          </a:ln>
        </p:spPr>
      </p:sp>
      <p:sp>
        <p:nvSpPr>
          <p:cNvPr id="11" name="Text 9"/>
          <p:cNvSpPr/>
          <p:nvPr/>
        </p:nvSpPr>
        <p:spPr>
          <a:xfrm>
            <a:off x="3502152" y="1737360"/>
            <a:ext cx="2377440" cy="777240"/>
          </a:xfrm>
          <a:prstGeom prst="rect">
            <a:avLst/>
          </a:prstGeom>
          <a:noFill/>
          <a:ln/>
        </p:spPr>
        <p:txBody>
          <a:bodyPr wrap="square" lIns="635" tIns="635" rIns="635" bIns="635" rtlCol="0" anchor="t"/>
          <a:lstStyle/>
          <a:p>
            <a:pPr marL="0" indent="0" algn="l">
              <a:lnSpc>
                <a:spcPct val="105000"/>
              </a:lnSpc>
              <a:buNone/>
            </a:pPr>
            <a:r>
              <a:rPr lang="en-US" sz="3400" dirty="0">
                <a:solidFill>
                  <a:srgbClr val="008184"/>
                </a:solidFill>
                <a:latin typeface="Segoe UI Semibold" pitchFamily="34" charset="0"/>
                <a:ea typeface="Segoe UI Semibold" pitchFamily="34" charset="-122"/>
                <a:cs typeface="Segoe UI Semibold" pitchFamily="34" charset="-120"/>
              </a:rPr>
              <a:t>234/236</a:t>
            </a:r>
            <a:endParaRPr lang="en-US" sz="3400" dirty="0"/>
          </a:p>
        </p:txBody>
      </p:sp>
      <p:sp>
        <p:nvSpPr>
          <p:cNvPr id="12" name="Text 10"/>
          <p:cNvSpPr/>
          <p:nvPr/>
        </p:nvSpPr>
        <p:spPr>
          <a:xfrm>
            <a:off x="3529584" y="2560320"/>
            <a:ext cx="2331720" cy="54864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pruebas E2E con PostgreSQL real</a:t>
            </a:r>
            <a:endParaRPr lang="en-US" sz="1400" dirty="0"/>
          </a:p>
        </p:txBody>
      </p:sp>
      <p:sp>
        <p:nvSpPr>
          <p:cNvPr id="13" name="Text 11"/>
          <p:cNvSpPr/>
          <p:nvPr/>
        </p:nvSpPr>
        <p:spPr>
          <a:xfrm>
            <a:off x="3529584" y="3108960"/>
            <a:ext cx="2331720" cy="640080"/>
          </a:xfrm>
          <a:prstGeom prst="rect">
            <a:avLst/>
          </a:prstGeom>
          <a:noFill/>
          <a:ln/>
        </p:spPr>
        <p:txBody>
          <a:bodyPr wrap="square" lIns="635" tIns="635" rIns="635" bIns="635" rtlCol="0" anchor="t"/>
          <a:lstStyle/>
          <a:p>
            <a:pPr marL="0" indent="0" algn="l">
              <a:lnSpc>
                <a:spcPct val="105000"/>
              </a:lnSpc>
              <a:buNone/>
            </a:pPr>
            <a:r>
              <a:rPr lang="en-US" sz="1150" dirty="0">
                <a:solidFill>
                  <a:srgbClr val="5B6573"/>
                </a:solidFill>
                <a:latin typeface="Segoe UI" pitchFamily="34" charset="0"/>
                <a:ea typeface="Segoe UI" pitchFamily="34" charset="-122"/>
                <a:cs typeface="Segoe UI" pitchFamily="34" charset="-120"/>
              </a:rPr>
              <a:t>18 suites sobre una base aislada en Docker</a:t>
            </a:r>
            <a:endParaRPr lang="en-US" sz="1150" dirty="0"/>
          </a:p>
        </p:txBody>
      </p:sp>
      <p:sp>
        <p:nvSpPr>
          <p:cNvPr id="14" name="Shape 12"/>
          <p:cNvSpPr/>
          <p:nvPr/>
        </p:nvSpPr>
        <p:spPr>
          <a:xfrm>
            <a:off x="6181344" y="1508760"/>
            <a:ext cx="2633472" cy="2331720"/>
          </a:xfrm>
          <a:prstGeom prst="roundRect">
            <a:avLst>
              <a:gd name="adj" fmla="val 313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5" name="Shape 13"/>
          <p:cNvSpPr/>
          <p:nvPr/>
        </p:nvSpPr>
        <p:spPr>
          <a:xfrm>
            <a:off x="6181344" y="1508760"/>
            <a:ext cx="2633472" cy="91440"/>
          </a:xfrm>
          <a:prstGeom prst="rect">
            <a:avLst/>
          </a:prstGeom>
          <a:solidFill>
            <a:srgbClr val="0B5F66"/>
          </a:solidFill>
          <a:ln w="12700">
            <a:solidFill>
              <a:srgbClr val="0B5F66"/>
            </a:solidFill>
            <a:prstDash val="solid"/>
          </a:ln>
        </p:spPr>
      </p:sp>
      <p:sp>
        <p:nvSpPr>
          <p:cNvPr id="16" name="Text 14"/>
          <p:cNvSpPr/>
          <p:nvPr/>
        </p:nvSpPr>
        <p:spPr>
          <a:xfrm>
            <a:off x="6318504" y="1737360"/>
            <a:ext cx="2377440" cy="777240"/>
          </a:xfrm>
          <a:prstGeom prst="rect">
            <a:avLst/>
          </a:prstGeom>
          <a:noFill/>
          <a:ln/>
        </p:spPr>
        <p:txBody>
          <a:bodyPr wrap="square" lIns="635" tIns="635" rIns="635" bIns="635" rtlCol="0" anchor="t"/>
          <a:lstStyle/>
          <a:p>
            <a:pPr marL="0" indent="0" algn="l">
              <a:lnSpc>
                <a:spcPct val="105000"/>
              </a:lnSpc>
              <a:buNone/>
            </a:pPr>
            <a:r>
              <a:rPr lang="en-US" sz="4200" dirty="0">
                <a:solidFill>
                  <a:srgbClr val="0B5F66"/>
                </a:solidFill>
                <a:latin typeface="Segoe UI Semibold" pitchFamily="34" charset="0"/>
                <a:ea typeface="Segoe UI Semibold" pitchFamily="34" charset="-122"/>
                <a:cs typeface="Segoe UI Semibold" pitchFamily="34" charset="-120"/>
              </a:rPr>
              <a:t>35/35</a:t>
            </a:r>
            <a:endParaRPr lang="en-US" sz="4200" dirty="0"/>
          </a:p>
        </p:txBody>
      </p:sp>
      <p:sp>
        <p:nvSpPr>
          <p:cNvPr id="17" name="Text 15"/>
          <p:cNvSpPr/>
          <p:nvPr/>
        </p:nvSpPr>
        <p:spPr>
          <a:xfrm>
            <a:off x="6345936" y="2560320"/>
            <a:ext cx="2331720" cy="54864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verificaciones del flujo principal</a:t>
            </a:r>
            <a:endParaRPr lang="en-US" sz="1400" dirty="0"/>
          </a:p>
        </p:txBody>
      </p:sp>
      <p:sp>
        <p:nvSpPr>
          <p:cNvPr id="18" name="Text 16"/>
          <p:cNvSpPr/>
          <p:nvPr/>
        </p:nvSpPr>
        <p:spPr>
          <a:xfrm>
            <a:off x="6345936" y="3108960"/>
            <a:ext cx="2331720" cy="640080"/>
          </a:xfrm>
          <a:prstGeom prst="rect">
            <a:avLst/>
          </a:prstGeom>
          <a:noFill/>
          <a:ln/>
        </p:spPr>
        <p:txBody>
          <a:bodyPr wrap="square" lIns="635" tIns="635" rIns="635" bIns="635" rtlCol="0" anchor="t"/>
          <a:lstStyle/>
          <a:p>
            <a:pPr marL="0" indent="0" algn="l">
              <a:lnSpc>
                <a:spcPct val="105000"/>
              </a:lnSpc>
              <a:buNone/>
            </a:pPr>
            <a:r>
              <a:rPr lang="en-US" sz="1150" dirty="0">
                <a:solidFill>
                  <a:srgbClr val="5B6573"/>
                </a:solidFill>
                <a:latin typeface="Segoe UI" pitchFamily="34" charset="0"/>
                <a:ea typeface="Segoe UI" pitchFamily="34" charset="-122"/>
                <a:cs typeface="Segoe UI" pitchFamily="34" charset="-120"/>
              </a:rPr>
              <a:t>Prueba de humo vía nginx en Docker</a:t>
            </a:r>
            <a:endParaRPr lang="en-US" sz="1150" dirty="0"/>
          </a:p>
        </p:txBody>
      </p:sp>
      <p:sp>
        <p:nvSpPr>
          <p:cNvPr id="19" name="Shape 17"/>
          <p:cNvSpPr/>
          <p:nvPr/>
        </p:nvSpPr>
        <p:spPr>
          <a:xfrm>
            <a:off x="8997696" y="1508760"/>
            <a:ext cx="2633472" cy="2331720"/>
          </a:xfrm>
          <a:prstGeom prst="roundRect">
            <a:avLst>
              <a:gd name="adj" fmla="val 313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20" name="Shape 18"/>
          <p:cNvSpPr/>
          <p:nvPr/>
        </p:nvSpPr>
        <p:spPr>
          <a:xfrm>
            <a:off x="8997696" y="1508760"/>
            <a:ext cx="2633472" cy="91440"/>
          </a:xfrm>
          <a:prstGeom prst="rect">
            <a:avLst/>
          </a:prstGeom>
          <a:solidFill>
            <a:srgbClr val="5B6573"/>
          </a:solidFill>
          <a:ln w="12700">
            <a:solidFill>
              <a:srgbClr val="5B6573"/>
            </a:solidFill>
            <a:prstDash val="solid"/>
          </a:ln>
        </p:spPr>
      </p:sp>
      <p:sp>
        <p:nvSpPr>
          <p:cNvPr id="21" name="Text 19"/>
          <p:cNvSpPr/>
          <p:nvPr/>
        </p:nvSpPr>
        <p:spPr>
          <a:xfrm>
            <a:off x="9134856" y="1737360"/>
            <a:ext cx="2377440" cy="777240"/>
          </a:xfrm>
          <a:prstGeom prst="rect">
            <a:avLst/>
          </a:prstGeom>
          <a:noFill/>
          <a:ln/>
        </p:spPr>
        <p:txBody>
          <a:bodyPr wrap="square" lIns="635" tIns="635" rIns="635" bIns="635" rtlCol="0" anchor="t"/>
          <a:lstStyle/>
          <a:p>
            <a:pPr marL="0" indent="0" algn="l">
              <a:lnSpc>
                <a:spcPct val="105000"/>
              </a:lnSpc>
              <a:buNone/>
            </a:pPr>
            <a:r>
              <a:rPr lang="en-US" sz="3400" dirty="0">
                <a:solidFill>
                  <a:srgbClr val="5B6573"/>
                </a:solidFill>
                <a:latin typeface="Segoe UI Semibold" pitchFamily="34" charset="0"/>
                <a:ea typeface="Segoe UI Semibold" pitchFamily="34" charset="-122"/>
                <a:cs typeface="Segoe UI Semibold" pitchFamily="34" charset="-120"/>
              </a:rPr>
              <a:t>258 req/s</a:t>
            </a:r>
            <a:endParaRPr lang="en-US" sz="3400" dirty="0"/>
          </a:p>
        </p:txBody>
      </p:sp>
      <p:sp>
        <p:nvSpPr>
          <p:cNvPr id="22" name="Text 20"/>
          <p:cNvSpPr/>
          <p:nvPr/>
        </p:nvSpPr>
        <p:spPr>
          <a:xfrm>
            <a:off x="9162288" y="2560320"/>
            <a:ext cx="2331720" cy="54864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lectura de disponibilidad</a:t>
            </a:r>
            <a:endParaRPr lang="en-US" sz="1400" dirty="0"/>
          </a:p>
        </p:txBody>
      </p:sp>
      <p:sp>
        <p:nvSpPr>
          <p:cNvPr id="23" name="Text 21"/>
          <p:cNvSpPr/>
          <p:nvPr/>
        </p:nvSpPr>
        <p:spPr>
          <a:xfrm>
            <a:off x="9162288" y="3108960"/>
            <a:ext cx="2331720" cy="640080"/>
          </a:xfrm>
          <a:prstGeom prst="rect">
            <a:avLst/>
          </a:prstGeom>
          <a:noFill/>
          <a:ln/>
        </p:spPr>
        <p:txBody>
          <a:bodyPr wrap="square" lIns="635" tIns="635" rIns="635" bIns="635" rtlCol="0" anchor="t"/>
          <a:lstStyle/>
          <a:p>
            <a:pPr marL="0" indent="0" algn="l">
              <a:lnSpc>
                <a:spcPct val="105000"/>
              </a:lnSpc>
              <a:buNone/>
            </a:pPr>
            <a:r>
              <a:rPr lang="en-US" sz="1150" dirty="0">
                <a:solidFill>
                  <a:srgbClr val="5B6573"/>
                </a:solidFill>
                <a:latin typeface="Segoe UI" pitchFamily="34" charset="0"/>
                <a:ea typeface="Segoe UI" pitchFamily="34" charset="-122"/>
                <a:cs typeface="Segoe UI" pitchFamily="34" charset="-120"/>
              </a:rPr>
              <a:t>p95 92 ms · 20 concurrentes · indicativo, local</a:t>
            </a:r>
            <a:endParaRPr lang="en-US" sz="1150" dirty="0"/>
          </a:p>
        </p:txBody>
      </p:sp>
      <p:sp>
        <p:nvSpPr>
          <p:cNvPr id="24" name="Shape 22"/>
          <p:cNvSpPr/>
          <p:nvPr/>
        </p:nvSpPr>
        <p:spPr>
          <a:xfrm>
            <a:off x="548640" y="4160520"/>
            <a:ext cx="6675120"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25" name="Shape 23"/>
          <p:cNvSpPr/>
          <p:nvPr/>
        </p:nvSpPr>
        <p:spPr>
          <a:xfrm>
            <a:off x="566928" y="4270248"/>
            <a:ext cx="64008" cy="1563624"/>
          </a:xfrm>
          <a:prstGeom prst="rect">
            <a:avLst/>
          </a:prstGeom>
          <a:solidFill>
            <a:srgbClr val="9A5B00"/>
          </a:solidFill>
          <a:ln w="12700">
            <a:solidFill>
              <a:srgbClr val="9A5B00"/>
            </a:solidFill>
            <a:prstDash val="solid"/>
          </a:ln>
        </p:spPr>
      </p:sp>
      <p:sp>
        <p:nvSpPr>
          <p:cNvPr id="26" name="Text 24"/>
          <p:cNvSpPr/>
          <p:nvPr/>
        </p:nvSpPr>
        <p:spPr>
          <a:xfrm>
            <a:off x="804672" y="4288536"/>
            <a:ext cx="6281928"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Las 2 fallas E2E, explicadas</a:t>
            </a:r>
            <a:endParaRPr lang="en-US" sz="1600" dirty="0"/>
          </a:p>
        </p:txBody>
      </p:sp>
      <p:sp>
        <p:nvSpPr>
          <p:cNvPr id="27" name="Text 25"/>
          <p:cNvSpPr/>
          <p:nvPr/>
        </p:nvSpPr>
        <p:spPr>
          <a:xfrm>
            <a:off x="804672" y="4672584"/>
            <a:ext cx="6281928"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Una sola aserción desactualizada en la suite de auditoría: el código AUTH_GOOGLE_LINKED se agregó con Google OAuth (HU-040) y esa suite no lo ejercita. La suite de Google lo verifica 12/12. Corrección registrada para el Sprint 9.</a:t>
            </a:r>
            <a:endParaRPr lang="en-US" sz="1300" dirty="0"/>
          </a:p>
        </p:txBody>
      </p:sp>
      <p:sp>
        <p:nvSpPr>
          <p:cNvPr id="28" name="Shape 26"/>
          <p:cNvSpPr/>
          <p:nvPr/>
        </p:nvSpPr>
        <p:spPr>
          <a:xfrm>
            <a:off x="7452360" y="4160520"/>
            <a:ext cx="4187952" cy="1783080"/>
          </a:xfrm>
          <a:prstGeom prst="roundRect">
            <a:avLst>
              <a:gd name="adj" fmla="val 410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29" name="Shape 27"/>
          <p:cNvSpPr/>
          <p:nvPr/>
        </p:nvSpPr>
        <p:spPr>
          <a:xfrm>
            <a:off x="7470648" y="4270248"/>
            <a:ext cx="64008" cy="1563624"/>
          </a:xfrm>
          <a:prstGeom prst="rect">
            <a:avLst/>
          </a:prstGeom>
          <a:solidFill>
            <a:srgbClr val="B42318"/>
          </a:solidFill>
          <a:ln w="12700">
            <a:solidFill>
              <a:srgbClr val="B42318"/>
            </a:solidFill>
            <a:prstDash val="solid"/>
          </a:ln>
        </p:spPr>
      </p:sp>
      <p:sp>
        <p:nvSpPr>
          <p:cNvPr id="30" name="Text 28"/>
          <p:cNvSpPr/>
          <p:nvPr/>
        </p:nvSpPr>
        <p:spPr>
          <a:xfrm>
            <a:off x="7708392" y="4288536"/>
            <a:ext cx="3794760"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Pendiente de calidad</a:t>
            </a:r>
            <a:endParaRPr lang="en-US" sz="1600" dirty="0"/>
          </a:p>
        </p:txBody>
      </p:sp>
      <p:sp>
        <p:nvSpPr>
          <p:cNvPr id="31" name="Text 29"/>
          <p:cNvSpPr/>
          <p:nvPr/>
        </p:nvSpPr>
        <p:spPr>
          <a:xfrm>
            <a:off x="7708392" y="4672584"/>
            <a:ext cx="3794760" cy="1179576"/>
          </a:xfrm>
          <a:prstGeom prst="rect">
            <a:avLst/>
          </a:prstGeom>
          <a:noFill/>
          <a:ln/>
        </p:spPr>
        <p:txBody>
          <a:bodyPr wrap="square" lIns="635" tIns="635" rIns="635" bIns="635" rtlCol="0" anchor="t"/>
          <a:lstStyle/>
          <a:p>
            <a:pPr marL="0" indent="0" algn="l">
              <a:lnSpc>
                <a:spcPct val="110000"/>
              </a:lnSpc>
              <a:buNone/>
            </a:pPr>
            <a:r>
              <a:rPr lang="en-US" sz="1300" dirty="0">
                <a:solidFill>
                  <a:srgbClr val="5B6573"/>
                </a:solidFill>
                <a:latin typeface="Segoe UI" pitchFamily="34" charset="0"/>
                <a:ea typeface="Segoe UI" pitchFamily="34" charset="-122"/>
                <a:cs typeface="Segoe UI" pitchFamily="34" charset="-120"/>
              </a:rPr>
              <a:t>CI que ejecute las pruebas en cada PR · pruebas de seguridad dedicadas · 9 vulnerabilidades de dependencias (npm audit).</a:t>
            </a:r>
            <a:endParaRPr lang="en-US" sz="1300" dirty="0"/>
          </a:p>
        </p:txBody>
      </p:sp>
      <p:sp>
        <p:nvSpPr>
          <p:cNvPr id="32"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DESPLIEGUE</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Entorno reproducible con un solo comando</a:t>
            </a:r>
            <a:endParaRPr lang="en-US" sz="2800" dirty="0"/>
          </a:p>
        </p:txBody>
      </p:sp>
      <p:sp>
        <p:nvSpPr>
          <p:cNvPr id="4" name="Shape 2"/>
          <p:cNvSpPr/>
          <p:nvPr/>
        </p:nvSpPr>
        <p:spPr>
          <a:xfrm>
            <a:off x="548640" y="1828800"/>
            <a:ext cx="2377440" cy="1371600"/>
          </a:xfrm>
          <a:prstGeom prst="roundRect">
            <a:avLst>
              <a:gd name="adj" fmla="val 533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5" name="Text 3"/>
          <p:cNvSpPr/>
          <p:nvPr/>
        </p:nvSpPr>
        <p:spPr>
          <a:xfrm>
            <a:off x="731520" y="1965960"/>
            <a:ext cx="2011680" cy="411480"/>
          </a:xfrm>
          <a:prstGeom prst="rect">
            <a:avLst/>
          </a:prstGeom>
          <a:noFill/>
          <a:ln/>
        </p:spPr>
        <p:txBody>
          <a:bodyPr wrap="square" lIns="635" tIns="635" rIns="635" bIns="635" rtlCol="0" anchor="t"/>
          <a:lstStyle/>
          <a:p>
            <a:pPr marL="0" indent="0" algn="ctr">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db</a:t>
            </a:r>
            <a:endParaRPr lang="en-US" sz="1800" dirty="0"/>
          </a:p>
        </p:txBody>
      </p:sp>
      <p:sp>
        <p:nvSpPr>
          <p:cNvPr id="6" name="Text 4"/>
          <p:cNvSpPr/>
          <p:nvPr/>
        </p:nvSpPr>
        <p:spPr>
          <a:xfrm>
            <a:off x="685800" y="2395728"/>
            <a:ext cx="2103120" cy="73152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PostgreSQL 18</a:t>
            </a:r>
            <a:endParaRPr lang="en-US" sz="1200" dirty="0"/>
          </a:p>
        </p:txBody>
      </p:sp>
      <p:sp>
        <p:nvSpPr>
          <p:cNvPr id="7" name="Shape 5"/>
          <p:cNvSpPr/>
          <p:nvPr/>
        </p:nvSpPr>
        <p:spPr>
          <a:xfrm>
            <a:off x="2971800" y="2514600"/>
            <a:ext cx="228600" cy="914"/>
          </a:xfrm>
          <a:prstGeom prst="line">
            <a:avLst/>
          </a:prstGeom>
          <a:noFill/>
          <a:ln w="25400">
            <a:solidFill>
              <a:srgbClr val="008184"/>
            </a:solidFill>
            <a:prstDash val="solid"/>
            <a:tailEnd type="triangle"/>
          </a:ln>
        </p:spPr>
      </p:sp>
      <p:sp>
        <p:nvSpPr>
          <p:cNvPr id="8" name="Shape 6"/>
          <p:cNvSpPr/>
          <p:nvPr/>
        </p:nvSpPr>
        <p:spPr>
          <a:xfrm>
            <a:off x="3246120" y="1828800"/>
            <a:ext cx="2377440" cy="1371600"/>
          </a:xfrm>
          <a:prstGeom prst="roundRect">
            <a:avLst>
              <a:gd name="adj" fmla="val 533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9" name="Text 7"/>
          <p:cNvSpPr/>
          <p:nvPr/>
        </p:nvSpPr>
        <p:spPr>
          <a:xfrm>
            <a:off x="3429000" y="1965960"/>
            <a:ext cx="2011680" cy="411480"/>
          </a:xfrm>
          <a:prstGeom prst="rect">
            <a:avLst/>
          </a:prstGeom>
          <a:noFill/>
          <a:ln/>
        </p:spPr>
        <p:txBody>
          <a:bodyPr wrap="square" lIns="635" tIns="635" rIns="635" bIns="635" rtlCol="0" anchor="t"/>
          <a:lstStyle/>
          <a:p>
            <a:pPr marL="0" indent="0" algn="ctr">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migrate</a:t>
            </a:r>
            <a:endParaRPr lang="en-US" sz="1800" dirty="0"/>
          </a:p>
        </p:txBody>
      </p:sp>
      <p:sp>
        <p:nvSpPr>
          <p:cNvPr id="10" name="Text 8"/>
          <p:cNvSpPr/>
          <p:nvPr/>
        </p:nvSpPr>
        <p:spPr>
          <a:xfrm>
            <a:off x="3383280" y="2395728"/>
            <a:ext cx="2103120" cy="73152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12 migraciones + catálogos</a:t>
            </a:r>
            <a:endParaRPr lang="en-US" sz="1200" dirty="0"/>
          </a:p>
        </p:txBody>
      </p:sp>
      <p:sp>
        <p:nvSpPr>
          <p:cNvPr id="11" name="Shape 9"/>
          <p:cNvSpPr/>
          <p:nvPr/>
        </p:nvSpPr>
        <p:spPr>
          <a:xfrm>
            <a:off x="5669280" y="2514600"/>
            <a:ext cx="228600" cy="914"/>
          </a:xfrm>
          <a:prstGeom prst="line">
            <a:avLst/>
          </a:prstGeom>
          <a:noFill/>
          <a:ln w="25400">
            <a:solidFill>
              <a:srgbClr val="008184"/>
            </a:solidFill>
            <a:prstDash val="solid"/>
            <a:tailEnd type="triangle"/>
          </a:ln>
        </p:spPr>
      </p:sp>
      <p:sp>
        <p:nvSpPr>
          <p:cNvPr id="12" name="Shape 10"/>
          <p:cNvSpPr/>
          <p:nvPr/>
        </p:nvSpPr>
        <p:spPr>
          <a:xfrm>
            <a:off x="5943600" y="1828800"/>
            <a:ext cx="2377440" cy="1371600"/>
          </a:xfrm>
          <a:prstGeom prst="roundRect">
            <a:avLst>
              <a:gd name="adj" fmla="val 5333"/>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13" name="Text 11"/>
          <p:cNvSpPr/>
          <p:nvPr/>
        </p:nvSpPr>
        <p:spPr>
          <a:xfrm>
            <a:off x="6126480" y="1965960"/>
            <a:ext cx="2011680" cy="411480"/>
          </a:xfrm>
          <a:prstGeom prst="rect">
            <a:avLst/>
          </a:prstGeom>
          <a:noFill/>
          <a:ln/>
        </p:spPr>
        <p:txBody>
          <a:bodyPr wrap="square" lIns="635" tIns="635" rIns="635" bIns="635" rtlCol="0" anchor="t"/>
          <a:lstStyle/>
          <a:p>
            <a:pPr marL="0" indent="0" algn="ctr">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api</a:t>
            </a:r>
            <a:endParaRPr lang="en-US" sz="1800" dirty="0"/>
          </a:p>
        </p:txBody>
      </p:sp>
      <p:sp>
        <p:nvSpPr>
          <p:cNvPr id="14" name="Text 12"/>
          <p:cNvSpPr/>
          <p:nvPr/>
        </p:nvSpPr>
        <p:spPr>
          <a:xfrm>
            <a:off x="6080760" y="2395728"/>
            <a:ext cx="2103120" cy="73152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NestJS · :3000</a:t>
            </a:r>
            <a:endParaRPr lang="en-US" sz="1200" dirty="0"/>
          </a:p>
        </p:txBody>
      </p:sp>
      <p:sp>
        <p:nvSpPr>
          <p:cNvPr id="15" name="Shape 13"/>
          <p:cNvSpPr/>
          <p:nvPr/>
        </p:nvSpPr>
        <p:spPr>
          <a:xfrm>
            <a:off x="8366760" y="2514600"/>
            <a:ext cx="228600" cy="914"/>
          </a:xfrm>
          <a:prstGeom prst="line">
            <a:avLst/>
          </a:prstGeom>
          <a:noFill/>
          <a:ln w="25400">
            <a:solidFill>
              <a:srgbClr val="008184"/>
            </a:solidFill>
            <a:prstDash val="solid"/>
            <a:tailEnd type="triangle"/>
          </a:ln>
        </p:spPr>
      </p:sp>
      <p:sp>
        <p:nvSpPr>
          <p:cNvPr id="16" name="Shape 14"/>
          <p:cNvSpPr/>
          <p:nvPr/>
        </p:nvSpPr>
        <p:spPr>
          <a:xfrm>
            <a:off x="8641080" y="1828800"/>
            <a:ext cx="2377440" cy="1371600"/>
          </a:xfrm>
          <a:prstGeom prst="roundRect">
            <a:avLst>
              <a:gd name="adj" fmla="val 5333"/>
            </a:avLst>
          </a:prstGeom>
          <a:solidFill>
            <a:srgbClr val="EDF8F8"/>
          </a:solidFill>
          <a:ln w="12700">
            <a:solidFill>
              <a:srgbClr val="008184"/>
            </a:solidFill>
            <a:prstDash val="solid"/>
          </a:ln>
          <a:effectLst>
            <a:outerShdw blurRad="76200" dist="25400" dir="5400000" algn="bl" rotWithShape="0">
              <a:srgbClr val="000000">
                <a:alpha val="12000"/>
              </a:srgbClr>
            </a:outerShdw>
          </a:effectLst>
        </p:spPr>
      </p:sp>
      <p:sp>
        <p:nvSpPr>
          <p:cNvPr id="17" name="Text 15"/>
          <p:cNvSpPr/>
          <p:nvPr/>
        </p:nvSpPr>
        <p:spPr>
          <a:xfrm>
            <a:off x="8823960" y="1965960"/>
            <a:ext cx="2011680" cy="411480"/>
          </a:xfrm>
          <a:prstGeom prst="rect">
            <a:avLst/>
          </a:prstGeom>
          <a:noFill/>
          <a:ln/>
        </p:spPr>
        <p:txBody>
          <a:bodyPr wrap="square" lIns="635" tIns="635" rIns="635" bIns="635" rtlCol="0" anchor="t"/>
          <a:lstStyle/>
          <a:p>
            <a:pPr marL="0" indent="0" algn="ctr">
              <a:lnSpc>
                <a:spcPct val="105000"/>
              </a:lnSpc>
              <a:buNone/>
            </a:pPr>
            <a:r>
              <a:rPr lang="en-US" sz="1800" dirty="0">
                <a:solidFill>
                  <a:srgbClr val="172B50"/>
                </a:solidFill>
                <a:latin typeface="Segoe UI Semibold" pitchFamily="34" charset="0"/>
                <a:ea typeface="Segoe UI Semibold" pitchFamily="34" charset="-122"/>
                <a:cs typeface="Segoe UI Semibold" pitchFamily="34" charset="-120"/>
              </a:rPr>
              <a:t>web</a:t>
            </a:r>
            <a:endParaRPr lang="en-US" sz="1800" dirty="0"/>
          </a:p>
        </p:txBody>
      </p:sp>
      <p:sp>
        <p:nvSpPr>
          <p:cNvPr id="18" name="Text 16"/>
          <p:cNvSpPr/>
          <p:nvPr/>
        </p:nvSpPr>
        <p:spPr>
          <a:xfrm>
            <a:off x="8778240" y="2395728"/>
            <a:ext cx="2103120" cy="73152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nginx · :8080</a:t>
            </a:r>
            <a:endParaRPr lang="en-US" sz="1200" dirty="0"/>
          </a:p>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/api/v1 mismo origen</a:t>
            </a:r>
            <a:endParaRPr lang="en-US" sz="1200" dirty="0"/>
          </a:p>
        </p:txBody>
      </p:sp>
      <p:sp>
        <p:nvSpPr>
          <p:cNvPr id="19" name="Shape 17"/>
          <p:cNvSpPr/>
          <p:nvPr/>
        </p:nvSpPr>
        <p:spPr>
          <a:xfrm>
            <a:off x="548640" y="3520440"/>
            <a:ext cx="2377440" cy="960120"/>
          </a:xfrm>
          <a:prstGeom prst="roundRect">
            <a:avLst>
              <a:gd name="adj" fmla="val 7619"/>
            </a:avLst>
          </a:prstGeom>
          <a:solidFill>
            <a:srgbClr val="F3F8FB"/>
          </a:solidFill>
          <a:ln w="12700">
            <a:solidFill>
              <a:srgbClr val="C5CFD9"/>
            </a:solidFill>
            <a:prstDash val="solid"/>
          </a:ln>
        </p:spPr>
      </p:sp>
      <p:sp>
        <p:nvSpPr>
          <p:cNvPr id="20" name="Text 18"/>
          <p:cNvSpPr/>
          <p:nvPr/>
        </p:nvSpPr>
        <p:spPr>
          <a:xfrm>
            <a:off x="640080" y="3584448"/>
            <a:ext cx="2194560" cy="82296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seed (perfil demo)</a:t>
            </a:r>
            <a:endParaRPr lang="en-US" sz="1200" dirty="0"/>
          </a:p>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Datos de demostración</a:t>
            </a:r>
            <a:endParaRPr lang="en-US" sz="1200" dirty="0"/>
          </a:p>
        </p:txBody>
      </p:sp>
      <p:sp>
        <p:nvSpPr>
          <p:cNvPr id="21" name="Shape 19"/>
          <p:cNvSpPr/>
          <p:nvPr/>
        </p:nvSpPr>
        <p:spPr>
          <a:xfrm>
            <a:off x="8641080" y="3520440"/>
            <a:ext cx="2377440" cy="960120"/>
          </a:xfrm>
          <a:prstGeom prst="roundRect">
            <a:avLst>
              <a:gd name="adj" fmla="val 7619"/>
            </a:avLst>
          </a:prstGeom>
          <a:solidFill>
            <a:srgbClr val="F3F8FB"/>
          </a:solidFill>
          <a:ln w="12700">
            <a:solidFill>
              <a:srgbClr val="C5CFD9"/>
            </a:solidFill>
            <a:prstDash val="solid"/>
          </a:ln>
        </p:spPr>
      </p:sp>
      <p:sp>
        <p:nvSpPr>
          <p:cNvPr id="22" name="Text 20"/>
          <p:cNvSpPr/>
          <p:nvPr/>
        </p:nvSpPr>
        <p:spPr>
          <a:xfrm>
            <a:off x="8732520" y="3584448"/>
            <a:ext cx="2194560" cy="822960"/>
          </a:xfrm>
          <a:prstGeom prst="rect">
            <a:avLst/>
          </a:prstGeom>
          <a:noFill/>
          <a:ln/>
        </p:spPr>
        <p:txBody>
          <a:bodyPr wrap="square" lIns="635" tIns="635" rIns="635" bIns="635" rtlCol="0" anchor="t"/>
          <a:lstStyle/>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Desktop nativo</a:t>
            </a:r>
            <a:endParaRPr lang="en-US" sz="1200" dirty="0"/>
          </a:p>
          <a:p>
            <a:pPr marL="0" indent="0" algn="ctr">
              <a:lnSpc>
                <a:spcPct val="105000"/>
              </a:lnSpc>
              <a:buNone/>
            </a:pPr>
            <a:r>
              <a:rPr lang="en-US" sz="1200" dirty="0">
                <a:solidFill>
                  <a:srgbClr val="5B6573"/>
                </a:solidFill>
                <a:latin typeface="Segoe UI" pitchFamily="34" charset="0"/>
                <a:ea typeface="Segoe UI" pitchFamily="34" charset="-122"/>
                <a:cs typeface="Segoe UI" pitchFamily="34" charset="-120"/>
              </a:rPr>
              <a:t>localhost:3000/api/v1</a:t>
            </a:r>
            <a:endParaRPr lang="en-US" sz="1200" dirty="0"/>
          </a:p>
        </p:txBody>
      </p:sp>
      <p:sp>
        <p:nvSpPr>
          <p:cNvPr id="23" name="Shape 21"/>
          <p:cNvSpPr/>
          <p:nvPr/>
        </p:nvSpPr>
        <p:spPr>
          <a:xfrm flipH="1" flipV="1">
            <a:off x="8183880" y="3227832"/>
            <a:ext cx="548640" cy="292608"/>
          </a:xfrm>
          <a:prstGeom prst="line">
            <a:avLst/>
          </a:prstGeom>
          <a:noFill/>
          <a:ln w="19050">
            <a:solidFill>
              <a:srgbClr val="5B6573"/>
            </a:solidFill>
            <a:prstDash val="solid"/>
            <a:tailEnd type="triangle"/>
          </a:ln>
        </p:spPr>
      </p:sp>
      <p:sp>
        <p:nvSpPr>
          <p:cNvPr id="24" name="Shape 22"/>
          <p:cNvSpPr/>
          <p:nvPr/>
        </p:nvSpPr>
        <p:spPr>
          <a:xfrm flipV="1">
            <a:off x="1737360" y="3227832"/>
            <a:ext cx="914" cy="292608"/>
          </a:xfrm>
          <a:prstGeom prst="line">
            <a:avLst/>
          </a:prstGeom>
          <a:noFill/>
          <a:ln w="19050">
            <a:solidFill>
              <a:srgbClr val="5B6573"/>
            </a:solidFill>
            <a:prstDash val="dash"/>
            <a:tailEnd type="triangle"/>
          </a:ln>
        </p:spPr>
      </p:sp>
      <p:sp>
        <p:nvSpPr>
          <p:cNvPr id="25" name="Text 23"/>
          <p:cNvSpPr/>
          <p:nvPr/>
        </p:nvSpPr>
        <p:spPr>
          <a:xfrm>
            <a:off x="3246120" y="3611880"/>
            <a:ext cx="5074920" cy="685800"/>
          </a:xfrm>
          <a:prstGeom prst="roundRect">
            <a:avLst>
              <a:gd name="adj" fmla="val 13333"/>
            </a:avLst>
          </a:prstGeom>
          <a:solidFill>
            <a:srgbClr val="172B50"/>
          </a:solidFill>
          <a:ln>
            <a:solidFill>
              <a:srgbClr val="172B50"/>
            </a:solidFill>
          </a:ln>
        </p:spPr>
        <p:txBody>
          <a:bodyPr wrap="square" rtlCol="0" anchor="ctr"/>
          <a:lstStyle/>
          <a:p>
            <a:pPr marL="0" indent="0" algn="ctr">
              <a:buNone/>
            </a:pPr>
            <a:r>
              <a:rPr lang="en-US" sz="2000" dirty="0">
                <a:solidFill>
                  <a:srgbClr val="FFFFFF"/>
                </a:solidFill>
                <a:latin typeface="Consolas" pitchFamily="34" charset="0"/>
                <a:ea typeface="Consolas" pitchFamily="34" charset="-122"/>
                <a:cs typeface="Consolas" pitchFamily="34" charset="-120"/>
              </a:rPr>
              <a:t>docker compose up -d --build</a:t>
            </a:r>
            <a:endParaRPr lang="en-US" sz="2000" dirty="0"/>
          </a:p>
        </p:txBody>
      </p:sp>
      <p:sp>
        <p:nvSpPr>
          <p:cNvPr id="26" name="Text 24"/>
          <p:cNvSpPr/>
          <p:nvPr/>
        </p:nvSpPr>
        <p:spPr>
          <a:xfrm>
            <a:off x="548640" y="493776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Build en 1 min 05 s</a:t>
            </a:r>
            <a:endParaRPr lang="en-US" sz="1200" dirty="0"/>
          </a:p>
        </p:txBody>
      </p:sp>
      <p:sp>
        <p:nvSpPr>
          <p:cNvPr id="27" name="Text 25"/>
          <p:cNvSpPr/>
          <p:nvPr/>
        </p:nvSpPr>
        <p:spPr>
          <a:xfrm>
            <a:off x="3364992" y="493776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Todos los servicios healthy</a:t>
            </a:r>
            <a:endParaRPr lang="en-US" sz="1200" dirty="0"/>
          </a:p>
        </p:txBody>
      </p:sp>
      <p:sp>
        <p:nvSpPr>
          <p:cNvPr id="28" name="Text 26"/>
          <p:cNvSpPr/>
          <p:nvPr/>
        </p:nvSpPr>
        <p:spPr>
          <a:xfrm>
            <a:off x="6181344" y="493776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Secretos sólo en .env</a:t>
            </a:r>
            <a:endParaRPr lang="en-US" sz="1200" dirty="0"/>
          </a:p>
        </p:txBody>
      </p:sp>
      <p:sp>
        <p:nvSpPr>
          <p:cNvPr id="29" name="Text 27"/>
          <p:cNvSpPr/>
          <p:nvPr/>
        </p:nvSpPr>
        <p:spPr>
          <a:xfrm>
            <a:off x="8997696" y="493776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En integración al repositorio</a:t>
            </a:r>
            <a:endParaRPr lang="en-US" sz="1200" dirty="0"/>
          </a:p>
        </p:txBody>
      </p:sp>
      <p:sp>
        <p:nvSpPr>
          <p:cNvPr id="30" name="Shape 28"/>
          <p:cNvSpPr/>
          <p:nvPr/>
        </p:nvSpPr>
        <p:spPr>
          <a:xfrm>
            <a:off x="548640" y="5440680"/>
            <a:ext cx="11094415" cy="566928"/>
          </a:xfrm>
          <a:prstGeom prst="roundRect">
            <a:avLst>
              <a:gd name="adj" fmla="val 12903"/>
            </a:avLst>
          </a:prstGeom>
          <a:solidFill>
            <a:srgbClr val="FFF4E0"/>
          </a:solidFill>
          <a:ln w="12700">
            <a:solidFill>
              <a:srgbClr val="FFF4E0"/>
            </a:solidFill>
            <a:prstDash val="solid"/>
          </a:ln>
        </p:spPr>
      </p:sp>
      <p:sp>
        <p:nvSpPr>
          <p:cNvPr id="31" name="Text 29"/>
          <p:cNvSpPr/>
          <p:nvPr/>
        </p:nvSpPr>
        <p:spPr>
          <a:xfrm>
            <a:off x="731520" y="5468112"/>
            <a:ext cx="10728655" cy="512064"/>
          </a:xfrm>
          <a:prstGeom prst="rect">
            <a:avLst/>
          </a:prstGeom>
          <a:noFill/>
          <a:ln/>
        </p:spPr>
        <p:txBody>
          <a:bodyPr wrap="square" lIns="635" tIns="635" rIns="635" bIns="635" rtlCol="0" anchor="ctr"/>
          <a:lstStyle/>
          <a:p>
            <a:pPr marL="0" indent="0" algn="l">
              <a:lnSpc>
                <a:spcPct val="105000"/>
              </a:lnSpc>
              <a:buNone/>
            </a:pPr>
            <a:r>
              <a:rPr lang="en-US" sz="1250" dirty="0">
                <a:solidFill>
                  <a:srgbClr val="9A5B00"/>
                </a:solidFill>
                <a:latin typeface="Segoe UI Semibold" pitchFamily="34" charset="0"/>
                <a:ea typeface="Segoe UI Semibold" pitchFamily="34" charset="-122"/>
                <a:cs typeface="Segoe UI Semibold" pitchFamily="34" charset="-120"/>
              </a:rPr>
              <a:t>Configuración preparada y verificada el 17-10-2026; en integración al repositorio (anexo Propuesta_Docker). Responde al compromiso de Docker del Stack v0.2 y del Release Plan.</a:t>
            </a:r>
            <a:endParaRPr lang="en-US" sz="1250" dirty="0"/>
          </a:p>
        </p:txBody>
      </p:sp>
      <p:sp>
        <p:nvSpPr>
          <p:cNvPr id="32"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GESTIÓN DEL PROYECTO</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Scrum en 9 Sprints, con trazabilidad en GitHub</a:t>
            </a:r>
            <a:endParaRPr lang="en-US" sz="2800" dirty="0"/>
          </a:p>
        </p:txBody>
      </p:sp>
      <p:sp>
        <p:nvSpPr>
          <p:cNvPr id="4" name="Shape 2"/>
          <p:cNvSpPr/>
          <p:nvPr/>
        </p:nvSpPr>
        <p:spPr>
          <a:xfrm>
            <a:off x="548640" y="1554480"/>
            <a:ext cx="1161288" cy="1051560"/>
          </a:xfrm>
          <a:prstGeom prst="roundRect">
            <a:avLst>
              <a:gd name="adj" fmla="val 5217"/>
            </a:avLst>
          </a:prstGeom>
          <a:solidFill>
            <a:srgbClr val="E6F4F4"/>
          </a:solidFill>
          <a:ln w="12700">
            <a:solidFill>
              <a:srgbClr val="B7DCDC"/>
            </a:solidFill>
            <a:prstDash val="solid"/>
          </a:ln>
        </p:spPr>
      </p:sp>
      <p:sp>
        <p:nvSpPr>
          <p:cNvPr id="5" name="Text 3"/>
          <p:cNvSpPr/>
          <p:nvPr/>
        </p:nvSpPr>
        <p:spPr>
          <a:xfrm>
            <a:off x="548640"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S1</a:t>
            </a:r>
            <a:endParaRPr lang="en-US" sz="1600" dirty="0"/>
          </a:p>
        </p:txBody>
      </p:sp>
      <p:sp>
        <p:nvSpPr>
          <p:cNvPr id="6" name="Text 4"/>
          <p:cNvSpPr/>
          <p:nvPr/>
        </p:nvSpPr>
        <p:spPr>
          <a:xfrm>
            <a:off x="576072"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Análisis</a:t>
            </a:r>
            <a:endParaRPr lang="en-US" sz="1100" dirty="0"/>
          </a:p>
        </p:txBody>
      </p:sp>
      <p:sp>
        <p:nvSpPr>
          <p:cNvPr id="7" name="Shape 5"/>
          <p:cNvSpPr/>
          <p:nvPr/>
        </p:nvSpPr>
        <p:spPr>
          <a:xfrm>
            <a:off x="1801368" y="1554480"/>
            <a:ext cx="1161288" cy="1051560"/>
          </a:xfrm>
          <a:prstGeom prst="roundRect">
            <a:avLst>
              <a:gd name="adj" fmla="val 5217"/>
            </a:avLst>
          </a:prstGeom>
          <a:solidFill>
            <a:srgbClr val="E6F4F4"/>
          </a:solidFill>
          <a:ln w="12700">
            <a:solidFill>
              <a:srgbClr val="B7DCDC"/>
            </a:solidFill>
            <a:prstDash val="solid"/>
          </a:ln>
        </p:spPr>
      </p:sp>
      <p:sp>
        <p:nvSpPr>
          <p:cNvPr id="8" name="Text 6"/>
          <p:cNvSpPr/>
          <p:nvPr/>
        </p:nvSpPr>
        <p:spPr>
          <a:xfrm>
            <a:off x="1801368"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S2</a:t>
            </a:r>
            <a:endParaRPr lang="en-US" sz="1600" dirty="0"/>
          </a:p>
        </p:txBody>
      </p:sp>
      <p:sp>
        <p:nvSpPr>
          <p:cNvPr id="9" name="Text 7"/>
          <p:cNvSpPr/>
          <p:nvPr/>
        </p:nvSpPr>
        <p:spPr>
          <a:xfrm>
            <a:off x="1828800"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Configuración</a:t>
            </a:r>
            <a:endParaRPr lang="en-US" sz="1100" dirty="0"/>
          </a:p>
        </p:txBody>
      </p:sp>
      <p:sp>
        <p:nvSpPr>
          <p:cNvPr id="10" name="Shape 8"/>
          <p:cNvSpPr/>
          <p:nvPr/>
        </p:nvSpPr>
        <p:spPr>
          <a:xfrm>
            <a:off x="3054096" y="1554480"/>
            <a:ext cx="1161288" cy="1051560"/>
          </a:xfrm>
          <a:prstGeom prst="roundRect">
            <a:avLst>
              <a:gd name="adj" fmla="val 5217"/>
            </a:avLst>
          </a:prstGeom>
          <a:solidFill>
            <a:srgbClr val="E6F4F4"/>
          </a:solidFill>
          <a:ln w="12700">
            <a:solidFill>
              <a:srgbClr val="B7DCDC"/>
            </a:solidFill>
            <a:prstDash val="solid"/>
          </a:ln>
        </p:spPr>
      </p:sp>
      <p:sp>
        <p:nvSpPr>
          <p:cNvPr id="11" name="Text 9"/>
          <p:cNvSpPr/>
          <p:nvPr/>
        </p:nvSpPr>
        <p:spPr>
          <a:xfrm>
            <a:off x="3054096"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S3</a:t>
            </a:r>
            <a:endParaRPr lang="en-US" sz="1600" dirty="0"/>
          </a:p>
        </p:txBody>
      </p:sp>
      <p:sp>
        <p:nvSpPr>
          <p:cNvPr id="12" name="Text 10"/>
          <p:cNvSpPr/>
          <p:nvPr/>
        </p:nvSpPr>
        <p:spPr>
          <a:xfrm>
            <a:off x="3081528"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Seguridad</a:t>
            </a:r>
            <a:endParaRPr lang="en-US" sz="1100" dirty="0"/>
          </a:p>
        </p:txBody>
      </p:sp>
      <p:sp>
        <p:nvSpPr>
          <p:cNvPr id="13" name="Shape 11"/>
          <p:cNvSpPr/>
          <p:nvPr/>
        </p:nvSpPr>
        <p:spPr>
          <a:xfrm>
            <a:off x="4306824" y="1554480"/>
            <a:ext cx="1161288" cy="1051560"/>
          </a:xfrm>
          <a:prstGeom prst="roundRect">
            <a:avLst>
              <a:gd name="adj" fmla="val 5217"/>
            </a:avLst>
          </a:prstGeom>
          <a:solidFill>
            <a:srgbClr val="E6F4F4"/>
          </a:solidFill>
          <a:ln w="12700">
            <a:solidFill>
              <a:srgbClr val="B7DCDC"/>
            </a:solidFill>
            <a:prstDash val="solid"/>
          </a:ln>
        </p:spPr>
      </p:sp>
      <p:sp>
        <p:nvSpPr>
          <p:cNvPr id="14" name="Text 12"/>
          <p:cNvSpPr/>
          <p:nvPr/>
        </p:nvSpPr>
        <p:spPr>
          <a:xfrm>
            <a:off x="4306824"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S4</a:t>
            </a:r>
            <a:endParaRPr lang="en-US" sz="1600" dirty="0"/>
          </a:p>
        </p:txBody>
      </p:sp>
      <p:sp>
        <p:nvSpPr>
          <p:cNvPr id="15" name="Text 13"/>
          <p:cNvSpPr/>
          <p:nvPr/>
        </p:nvSpPr>
        <p:spPr>
          <a:xfrm>
            <a:off x="4334256"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Agenda base</a:t>
            </a:r>
            <a:endParaRPr lang="en-US" sz="1100" dirty="0"/>
          </a:p>
        </p:txBody>
      </p:sp>
      <p:sp>
        <p:nvSpPr>
          <p:cNvPr id="16" name="Shape 14"/>
          <p:cNvSpPr/>
          <p:nvPr/>
        </p:nvSpPr>
        <p:spPr>
          <a:xfrm>
            <a:off x="5559552" y="1554480"/>
            <a:ext cx="1161288" cy="1051560"/>
          </a:xfrm>
          <a:prstGeom prst="roundRect">
            <a:avLst>
              <a:gd name="adj" fmla="val 5217"/>
            </a:avLst>
          </a:prstGeom>
          <a:solidFill>
            <a:srgbClr val="E6F4F4"/>
          </a:solidFill>
          <a:ln w="12700">
            <a:solidFill>
              <a:srgbClr val="B7DCDC"/>
            </a:solidFill>
            <a:prstDash val="solid"/>
          </a:ln>
        </p:spPr>
      </p:sp>
      <p:sp>
        <p:nvSpPr>
          <p:cNvPr id="17" name="Text 15"/>
          <p:cNvSpPr/>
          <p:nvPr/>
        </p:nvSpPr>
        <p:spPr>
          <a:xfrm>
            <a:off x="5559552"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S5</a:t>
            </a:r>
            <a:endParaRPr lang="en-US" sz="1600" dirty="0"/>
          </a:p>
        </p:txBody>
      </p:sp>
      <p:sp>
        <p:nvSpPr>
          <p:cNvPr id="18" name="Text 16"/>
          <p:cNvSpPr/>
          <p:nvPr/>
        </p:nvSpPr>
        <p:spPr>
          <a:xfrm>
            <a:off x="5586984"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Citas y espera</a:t>
            </a:r>
            <a:endParaRPr lang="en-US" sz="1100" dirty="0"/>
          </a:p>
        </p:txBody>
      </p:sp>
      <p:sp>
        <p:nvSpPr>
          <p:cNvPr id="19" name="Shape 17"/>
          <p:cNvSpPr/>
          <p:nvPr/>
        </p:nvSpPr>
        <p:spPr>
          <a:xfrm>
            <a:off x="6812280" y="1554480"/>
            <a:ext cx="1161288" cy="1051560"/>
          </a:xfrm>
          <a:prstGeom prst="roundRect">
            <a:avLst>
              <a:gd name="adj" fmla="val 5217"/>
            </a:avLst>
          </a:prstGeom>
          <a:solidFill>
            <a:srgbClr val="E6F4F4"/>
          </a:solidFill>
          <a:ln w="12700">
            <a:solidFill>
              <a:srgbClr val="B7DCDC"/>
            </a:solidFill>
            <a:prstDash val="solid"/>
          </a:ln>
        </p:spPr>
      </p:sp>
      <p:sp>
        <p:nvSpPr>
          <p:cNvPr id="20" name="Text 18"/>
          <p:cNvSpPr/>
          <p:nvPr/>
        </p:nvSpPr>
        <p:spPr>
          <a:xfrm>
            <a:off x="6812280"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S6</a:t>
            </a:r>
            <a:endParaRPr lang="en-US" sz="1600" dirty="0"/>
          </a:p>
        </p:txBody>
      </p:sp>
      <p:sp>
        <p:nvSpPr>
          <p:cNvPr id="21" name="Text 19"/>
          <p:cNvSpPr/>
          <p:nvPr/>
        </p:nvSpPr>
        <p:spPr>
          <a:xfrm>
            <a:off x="6839712"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Reasignación</a:t>
            </a:r>
            <a:endParaRPr lang="en-US" sz="1100" dirty="0"/>
          </a:p>
        </p:txBody>
      </p:sp>
      <p:sp>
        <p:nvSpPr>
          <p:cNvPr id="22" name="Shape 20"/>
          <p:cNvSpPr/>
          <p:nvPr/>
        </p:nvSpPr>
        <p:spPr>
          <a:xfrm>
            <a:off x="8065008" y="1554480"/>
            <a:ext cx="1161288" cy="1051560"/>
          </a:xfrm>
          <a:prstGeom prst="roundRect">
            <a:avLst>
              <a:gd name="adj" fmla="val 5217"/>
            </a:avLst>
          </a:prstGeom>
          <a:solidFill>
            <a:srgbClr val="E6F4F4"/>
          </a:solidFill>
          <a:ln w="12700">
            <a:solidFill>
              <a:srgbClr val="B7DCDC"/>
            </a:solidFill>
            <a:prstDash val="solid"/>
          </a:ln>
        </p:spPr>
      </p:sp>
      <p:sp>
        <p:nvSpPr>
          <p:cNvPr id="23" name="Text 21"/>
          <p:cNvSpPr/>
          <p:nvPr/>
        </p:nvSpPr>
        <p:spPr>
          <a:xfrm>
            <a:off x="8065008"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S7</a:t>
            </a:r>
            <a:endParaRPr lang="en-US" sz="1600" dirty="0"/>
          </a:p>
        </p:txBody>
      </p:sp>
      <p:sp>
        <p:nvSpPr>
          <p:cNvPr id="24" name="Text 22"/>
          <p:cNvSpPr/>
          <p:nvPr/>
        </p:nvSpPr>
        <p:spPr>
          <a:xfrm>
            <a:off x="8092440"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Desktop y UX</a:t>
            </a:r>
            <a:endParaRPr lang="en-US" sz="1100" dirty="0"/>
          </a:p>
        </p:txBody>
      </p:sp>
      <p:sp>
        <p:nvSpPr>
          <p:cNvPr id="25" name="Shape 23"/>
          <p:cNvSpPr/>
          <p:nvPr/>
        </p:nvSpPr>
        <p:spPr>
          <a:xfrm>
            <a:off x="9317736" y="1554480"/>
            <a:ext cx="1161288" cy="1051560"/>
          </a:xfrm>
          <a:prstGeom prst="roundRect">
            <a:avLst>
              <a:gd name="adj" fmla="val 5217"/>
            </a:avLst>
          </a:prstGeom>
          <a:solidFill>
            <a:srgbClr val="EDF8F8"/>
          </a:solidFill>
          <a:ln w="12700">
            <a:solidFill>
              <a:srgbClr val="008184"/>
            </a:solidFill>
            <a:prstDash val="solid"/>
          </a:ln>
        </p:spPr>
      </p:sp>
      <p:sp>
        <p:nvSpPr>
          <p:cNvPr id="26" name="Text 24"/>
          <p:cNvSpPr/>
          <p:nvPr/>
        </p:nvSpPr>
        <p:spPr>
          <a:xfrm>
            <a:off x="9317736"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0B5F66"/>
                </a:solidFill>
                <a:latin typeface="Segoe UI Semibold" pitchFamily="34" charset="0"/>
                <a:ea typeface="Segoe UI Semibold" pitchFamily="34" charset="-122"/>
                <a:cs typeface="Segoe UI Semibold" pitchFamily="34" charset="-120"/>
              </a:rPr>
              <a:t>S8</a:t>
            </a:r>
            <a:endParaRPr lang="en-US" sz="1600" dirty="0"/>
          </a:p>
        </p:txBody>
      </p:sp>
      <p:sp>
        <p:nvSpPr>
          <p:cNvPr id="27" name="Text 25"/>
          <p:cNvSpPr/>
          <p:nvPr/>
        </p:nvSpPr>
        <p:spPr>
          <a:xfrm>
            <a:off x="9345168"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Integraciones</a:t>
            </a:r>
            <a:endParaRPr lang="en-US" sz="1100" dirty="0"/>
          </a:p>
        </p:txBody>
      </p:sp>
      <p:sp>
        <p:nvSpPr>
          <p:cNvPr id="28" name="Shape 26"/>
          <p:cNvSpPr/>
          <p:nvPr/>
        </p:nvSpPr>
        <p:spPr>
          <a:xfrm>
            <a:off x="10570464" y="1554480"/>
            <a:ext cx="1161288" cy="1051560"/>
          </a:xfrm>
          <a:prstGeom prst="roundRect">
            <a:avLst>
              <a:gd name="adj" fmla="val 5217"/>
            </a:avLst>
          </a:prstGeom>
          <a:solidFill>
            <a:srgbClr val="FFF4E0"/>
          </a:solidFill>
          <a:ln w="12700">
            <a:solidFill>
              <a:srgbClr val="9A5B00"/>
            </a:solidFill>
            <a:prstDash val="solid"/>
          </a:ln>
        </p:spPr>
      </p:sp>
      <p:sp>
        <p:nvSpPr>
          <p:cNvPr id="29" name="Text 27"/>
          <p:cNvSpPr/>
          <p:nvPr/>
        </p:nvSpPr>
        <p:spPr>
          <a:xfrm>
            <a:off x="10570464" y="1627632"/>
            <a:ext cx="1161288" cy="365760"/>
          </a:xfrm>
          <a:prstGeom prst="rect">
            <a:avLst/>
          </a:prstGeom>
          <a:noFill/>
          <a:ln/>
        </p:spPr>
        <p:txBody>
          <a:bodyPr wrap="square" lIns="635" tIns="635" rIns="635" bIns="635" rtlCol="0" anchor="t"/>
          <a:lstStyle/>
          <a:p>
            <a:pPr marL="0" indent="0" algn="ctr">
              <a:lnSpc>
                <a:spcPct val="105000"/>
              </a:lnSpc>
              <a:buNone/>
            </a:pPr>
            <a:r>
              <a:rPr lang="en-US" sz="1600" dirty="0">
                <a:solidFill>
                  <a:srgbClr val="9A5B00"/>
                </a:solidFill>
                <a:latin typeface="Segoe UI Semibold" pitchFamily="34" charset="0"/>
                <a:ea typeface="Segoe UI Semibold" pitchFamily="34" charset="-122"/>
                <a:cs typeface="Segoe UI Semibold" pitchFamily="34" charset="-120"/>
              </a:rPr>
              <a:t>S9</a:t>
            </a:r>
            <a:endParaRPr lang="en-US" sz="1600" dirty="0"/>
          </a:p>
        </p:txBody>
      </p:sp>
      <p:sp>
        <p:nvSpPr>
          <p:cNvPr id="30" name="Text 28"/>
          <p:cNvSpPr/>
          <p:nvPr/>
        </p:nvSpPr>
        <p:spPr>
          <a:xfrm>
            <a:off x="10597896" y="2011680"/>
            <a:ext cx="1106424" cy="502920"/>
          </a:xfrm>
          <a:prstGeom prst="rect">
            <a:avLst/>
          </a:prstGeom>
          <a:noFill/>
          <a:ln/>
        </p:spPr>
        <p:txBody>
          <a:bodyPr wrap="square" lIns="635" tIns="635" rIns="635" bIns="635" rtlCol="0" anchor="t"/>
          <a:lstStyle/>
          <a:p>
            <a:pPr marL="0" indent="0" algn="ctr">
              <a:lnSpc>
                <a:spcPct val="105000"/>
              </a:lnSpc>
              <a:buNone/>
            </a:pPr>
            <a:r>
              <a:rPr lang="en-US" sz="1100" dirty="0">
                <a:solidFill>
                  <a:srgbClr val="172B50"/>
                </a:solidFill>
                <a:latin typeface="Segoe UI" pitchFamily="34" charset="0"/>
                <a:ea typeface="Segoe UI" pitchFamily="34" charset="-122"/>
                <a:cs typeface="Segoe UI" pitchFamily="34" charset="-120"/>
              </a:rPr>
              <a:t>Cierre</a:t>
            </a:r>
            <a:endParaRPr lang="en-US" sz="1100" dirty="0"/>
          </a:p>
        </p:txBody>
      </p:sp>
      <p:sp>
        <p:nvSpPr>
          <p:cNvPr id="31" name="Text 29"/>
          <p:cNvSpPr/>
          <p:nvPr/>
        </p:nvSpPr>
        <p:spPr>
          <a:xfrm>
            <a:off x="548640" y="2670048"/>
            <a:ext cx="1828800" cy="274320"/>
          </a:xfrm>
          <a:prstGeom prst="rect">
            <a:avLst/>
          </a:prstGeom>
          <a:noFill/>
          <a:ln/>
        </p:spPr>
        <p:txBody>
          <a:bodyPr wrap="square" lIns="635" tIns="635" rIns="635" bIns="635" rtlCol="0" anchor="t"/>
          <a:lstStyle/>
          <a:p>
            <a:pPr marL="0" indent="0" algn="l">
              <a:lnSpc>
                <a:spcPct val="105000"/>
              </a:lnSpc>
              <a:buNone/>
            </a:pPr>
            <a:r>
              <a:rPr lang="en-US" sz="1050" dirty="0">
                <a:solidFill>
                  <a:srgbClr val="5B6573"/>
                </a:solidFill>
                <a:latin typeface="Segoe UI" pitchFamily="34" charset="0"/>
                <a:ea typeface="Segoe UI" pitchFamily="34" charset="-122"/>
                <a:cs typeface="Segoe UI" pitchFamily="34" charset="-120"/>
              </a:rPr>
              <a:t>27-08-2026</a:t>
            </a:r>
            <a:endParaRPr lang="en-US" sz="1050" dirty="0"/>
          </a:p>
        </p:txBody>
      </p:sp>
      <p:sp>
        <p:nvSpPr>
          <p:cNvPr id="32" name="Text 30"/>
          <p:cNvSpPr/>
          <p:nvPr/>
        </p:nvSpPr>
        <p:spPr>
          <a:xfrm>
            <a:off x="5669280" y="2670048"/>
            <a:ext cx="5989320" cy="274320"/>
          </a:xfrm>
          <a:prstGeom prst="rect">
            <a:avLst/>
          </a:prstGeom>
          <a:noFill/>
          <a:ln/>
        </p:spPr>
        <p:txBody>
          <a:bodyPr wrap="square" lIns="635" tIns="635" rIns="635" bIns="635" rtlCol="0" anchor="t"/>
          <a:lstStyle/>
          <a:p>
            <a:pPr marL="0" indent="0" algn="r">
              <a:lnSpc>
                <a:spcPct val="105000"/>
              </a:lnSpc>
              <a:buNone/>
            </a:pPr>
            <a:r>
              <a:rPr lang="en-US" sz="1050" dirty="0">
                <a:solidFill>
                  <a:srgbClr val="9A5B00"/>
                </a:solidFill>
                <a:latin typeface="Segoe UI Semibold" pitchFamily="34" charset="0"/>
                <a:ea typeface="Segoe UI Semibold" pitchFamily="34" charset="-122"/>
                <a:cs typeface="Segoe UI Semibold" pitchFamily="34" charset="-120"/>
              </a:rPr>
              <a:t>S8: HU integradas, cierre formal pendiente · S9 en curso (16-10 → 29-10)</a:t>
            </a:r>
            <a:endParaRPr lang="en-US" sz="1050" dirty="0"/>
          </a:p>
        </p:txBody>
      </p:sp>
      <p:sp>
        <p:nvSpPr>
          <p:cNvPr id="33" name="Text 31"/>
          <p:cNvSpPr/>
          <p:nvPr/>
        </p:nvSpPr>
        <p:spPr>
          <a:xfrm>
            <a:off x="548640" y="3108960"/>
            <a:ext cx="2651760" cy="685800"/>
          </a:xfrm>
          <a:prstGeom prst="rect">
            <a:avLst/>
          </a:prstGeom>
          <a:noFill/>
          <a:ln/>
        </p:spPr>
        <p:txBody>
          <a:bodyPr wrap="square" lIns="635" tIns="635" rIns="635" bIns="635" rtlCol="0" anchor="t"/>
          <a:lstStyle/>
          <a:p>
            <a:pPr marL="0" indent="0" algn="l">
              <a:lnSpc>
                <a:spcPct val="105000"/>
              </a:lnSpc>
              <a:buNone/>
            </a:pPr>
            <a:r>
              <a:rPr lang="en-US" sz="3800" dirty="0">
                <a:solidFill>
                  <a:srgbClr val="172B50"/>
                </a:solidFill>
                <a:latin typeface="Segoe UI Semibold" pitchFamily="34" charset="0"/>
                <a:ea typeface="Segoe UI Semibold" pitchFamily="34" charset="-122"/>
                <a:cs typeface="Segoe UI Semibold" pitchFamily="34" charset="-120"/>
              </a:rPr>
              <a:t>42</a:t>
            </a:r>
            <a:endParaRPr lang="en-US" sz="3800" dirty="0"/>
          </a:p>
        </p:txBody>
      </p:sp>
      <p:sp>
        <p:nvSpPr>
          <p:cNvPr id="34" name="Text 32"/>
          <p:cNvSpPr/>
          <p:nvPr/>
        </p:nvSpPr>
        <p:spPr>
          <a:xfrm>
            <a:off x="548640" y="3749040"/>
            <a:ext cx="2651760" cy="36576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HU terminadas</a:t>
            </a:r>
            <a:endParaRPr lang="en-US" sz="1300" dirty="0"/>
          </a:p>
        </p:txBody>
      </p:sp>
      <p:sp>
        <p:nvSpPr>
          <p:cNvPr id="35" name="Text 33"/>
          <p:cNvSpPr/>
          <p:nvPr/>
        </p:nvSpPr>
        <p:spPr>
          <a:xfrm>
            <a:off x="3364992" y="3108960"/>
            <a:ext cx="2651760" cy="685800"/>
          </a:xfrm>
          <a:prstGeom prst="rect">
            <a:avLst/>
          </a:prstGeom>
          <a:noFill/>
          <a:ln/>
        </p:spPr>
        <p:txBody>
          <a:bodyPr wrap="square" lIns="635" tIns="635" rIns="635" bIns="635" rtlCol="0" anchor="t"/>
          <a:lstStyle/>
          <a:p>
            <a:pPr marL="0" indent="0" algn="l">
              <a:lnSpc>
                <a:spcPct val="105000"/>
              </a:lnSpc>
              <a:buNone/>
            </a:pPr>
            <a:r>
              <a:rPr lang="en-US" sz="3800" dirty="0">
                <a:solidFill>
                  <a:srgbClr val="172B50"/>
                </a:solidFill>
                <a:latin typeface="Segoe UI Semibold" pitchFamily="34" charset="0"/>
                <a:ea typeface="Segoe UI Semibold" pitchFamily="34" charset="-122"/>
                <a:cs typeface="Segoe UI Semibold" pitchFamily="34" charset="-120"/>
              </a:rPr>
              <a:t>1</a:t>
            </a:r>
            <a:endParaRPr lang="en-US" sz="3800" dirty="0"/>
          </a:p>
        </p:txBody>
      </p:sp>
      <p:sp>
        <p:nvSpPr>
          <p:cNvPr id="36" name="Text 34"/>
          <p:cNvSpPr/>
          <p:nvPr/>
        </p:nvSpPr>
        <p:spPr>
          <a:xfrm>
            <a:off x="3364992" y="3749040"/>
            <a:ext cx="2651760" cy="36576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HU excluida (WhatsApp)</a:t>
            </a:r>
            <a:endParaRPr lang="en-US" sz="1300" dirty="0"/>
          </a:p>
        </p:txBody>
      </p:sp>
      <p:sp>
        <p:nvSpPr>
          <p:cNvPr id="37" name="Text 35"/>
          <p:cNvSpPr/>
          <p:nvPr/>
        </p:nvSpPr>
        <p:spPr>
          <a:xfrm>
            <a:off x="6181344" y="3108960"/>
            <a:ext cx="2651760" cy="685800"/>
          </a:xfrm>
          <a:prstGeom prst="rect">
            <a:avLst/>
          </a:prstGeom>
          <a:noFill/>
          <a:ln/>
        </p:spPr>
        <p:txBody>
          <a:bodyPr wrap="square" lIns="635" tIns="635" rIns="635" bIns="635" rtlCol="0" anchor="t"/>
          <a:lstStyle/>
          <a:p>
            <a:pPr marL="0" indent="0" algn="l">
              <a:lnSpc>
                <a:spcPct val="105000"/>
              </a:lnSpc>
              <a:buNone/>
            </a:pPr>
            <a:r>
              <a:rPr lang="en-US" sz="3800" dirty="0">
                <a:solidFill>
                  <a:srgbClr val="172B50"/>
                </a:solidFill>
                <a:latin typeface="Segoe UI Semibold" pitchFamily="34" charset="0"/>
                <a:ea typeface="Segoe UI Semibold" pitchFamily="34" charset="-122"/>
                <a:cs typeface="Segoe UI Semibold" pitchFamily="34" charset="-120"/>
              </a:rPr>
              <a:t>78</a:t>
            </a:r>
            <a:endParaRPr lang="en-US" sz="3800" dirty="0"/>
          </a:p>
        </p:txBody>
      </p:sp>
      <p:sp>
        <p:nvSpPr>
          <p:cNvPr id="38" name="Text 36"/>
          <p:cNvSpPr/>
          <p:nvPr/>
        </p:nvSpPr>
        <p:spPr>
          <a:xfrm>
            <a:off x="6181344" y="3749040"/>
            <a:ext cx="2651760" cy="36576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Pull Requests</a:t>
            </a:r>
            <a:endParaRPr lang="en-US" sz="1300" dirty="0"/>
          </a:p>
        </p:txBody>
      </p:sp>
      <p:sp>
        <p:nvSpPr>
          <p:cNvPr id="39" name="Text 37"/>
          <p:cNvSpPr/>
          <p:nvPr/>
        </p:nvSpPr>
        <p:spPr>
          <a:xfrm>
            <a:off x="8997696" y="3108960"/>
            <a:ext cx="2651760" cy="685800"/>
          </a:xfrm>
          <a:prstGeom prst="rect">
            <a:avLst/>
          </a:prstGeom>
          <a:noFill/>
          <a:ln/>
        </p:spPr>
        <p:txBody>
          <a:bodyPr wrap="square" lIns="635" tIns="635" rIns="635" bIns="635" rtlCol="0" anchor="t"/>
          <a:lstStyle/>
          <a:p>
            <a:pPr marL="0" indent="0" algn="l">
              <a:lnSpc>
                <a:spcPct val="105000"/>
              </a:lnSpc>
              <a:buNone/>
            </a:pPr>
            <a:r>
              <a:rPr lang="en-US" sz="3800" dirty="0">
                <a:solidFill>
                  <a:srgbClr val="172B50"/>
                </a:solidFill>
                <a:latin typeface="Segoe UI Semibold" pitchFamily="34" charset="0"/>
                <a:ea typeface="Segoe UI Semibold" pitchFamily="34" charset="-122"/>
                <a:cs typeface="Segoe UI Semibold" pitchFamily="34" charset="-120"/>
              </a:rPr>
              <a:t>164</a:t>
            </a:r>
            <a:endParaRPr lang="en-US" sz="3800" dirty="0"/>
          </a:p>
        </p:txBody>
      </p:sp>
      <p:sp>
        <p:nvSpPr>
          <p:cNvPr id="40" name="Text 38"/>
          <p:cNvSpPr/>
          <p:nvPr/>
        </p:nvSpPr>
        <p:spPr>
          <a:xfrm>
            <a:off x="8997696" y="3749040"/>
            <a:ext cx="2651760" cy="36576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commits</a:t>
            </a:r>
            <a:endParaRPr lang="en-US" sz="1300" dirty="0"/>
          </a:p>
        </p:txBody>
      </p:sp>
      <p:sp>
        <p:nvSpPr>
          <p:cNvPr id="41" name="Shape 39"/>
          <p:cNvSpPr/>
          <p:nvPr/>
        </p:nvSpPr>
        <p:spPr>
          <a:xfrm>
            <a:off x="548640" y="4389120"/>
            <a:ext cx="11094415" cy="1325880"/>
          </a:xfrm>
          <a:prstGeom prst="roundRect">
            <a:avLst>
              <a:gd name="adj" fmla="val 5517"/>
            </a:avLst>
          </a:prstGeom>
          <a:solidFill>
            <a:srgbClr val="FFFFFF"/>
          </a:solidFill>
          <a:ln w="12700">
            <a:solidFill>
              <a:srgbClr val="C5CFD9"/>
            </a:solidFill>
            <a:prstDash val="solid"/>
          </a:ln>
          <a:effectLst>
            <a:outerShdw blurRad="76200" dist="25400" dir="5400000" algn="bl" rotWithShape="0">
              <a:srgbClr val="000000">
                <a:alpha val="12000"/>
              </a:srgbClr>
            </a:outerShdw>
          </a:effectLst>
        </p:spPr>
      </p:sp>
      <p:sp>
        <p:nvSpPr>
          <p:cNvPr id="42" name="Shape 40"/>
          <p:cNvSpPr/>
          <p:nvPr/>
        </p:nvSpPr>
        <p:spPr>
          <a:xfrm>
            <a:off x="566928" y="4498848"/>
            <a:ext cx="64008" cy="1106424"/>
          </a:xfrm>
          <a:prstGeom prst="rect">
            <a:avLst/>
          </a:prstGeom>
          <a:solidFill>
            <a:srgbClr val="172B50"/>
          </a:solidFill>
          <a:ln w="12700">
            <a:solidFill>
              <a:srgbClr val="172B50"/>
            </a:solidFill>
            <a:prstDash val="solid"/>
          </a:ln>
        </p:spPr>
      </p:sp>
      <p:sp>
        <p:nvSpPr>
          <p:cNvPr id="43" name="Text 41"/>
          <p:cNvSpPr/>
          <p:nvPr/>
        </p:nvSpPr>
        <p:spPr>
          <a:xfrm>
            <a:off x="804672" y="4517136"/>
            <a:ext cx="10701223" cy="384048"/>
          </a:xfrm>
          <a:prstGeom prst="rect">
            <a:avLst/>
          </a:prstGeom>
          <a:noFill/>
          <a:ln/>
        </p:spPr>
        <p:txBody>
          <a:bodyPr wrap="square" lIns="635" tIns="635" rIns="635" bIns="635" rtlCol="0" anchor="t"/>
          <a:lstStyle/>
          <a:p>
            <a:pPr marL="0" indent="0" algn="l">
              <a:lnSpc>
                <a:spcPct val="105000"/>
              </a:lnSpc>
              <a:buNone/>
            </a:pPr>
            <a:r>
              <a:rPr lang="en-US" sz="1600" dirty="0">
                <a:solidFill>
                  <a:srgbClr val="172B50"/>
                </a:solidFill>
                <a:latin typeface="Segoe UI Semibold" pitchFamily="34" charset="0"/>
                <a:ea typeface="Segoe UI Semibold" pitchFamily="34" charset="-122"/>
                <a:cs typeface="Segoe UI Semibold" pitchFamily="34" charset="-120"/>
              </a:rPr>
              <a:t>Lecciones aprendidas</a:t>
            </a:r>
            <a:endParaRPr lang="en-US" sz="1600" dirty="0"/>
          </a:p>
        </p:txBody>
      </p:sp>
      <p:sp>
        <p:nvSpPr>
          <p:cNvPr id="44" name="Text 42"/>
          <p:cNvSpPr/>
          <p:nvPr/>
        </p:nvSpPr>
        <p:spPr>
          <a:xfrm>
            <a:off x="804672" y="4901184"/>
            <a:ext cx="10701223" cy="722376"/>
          </a:xfrm>
          <a:prstGeom prst="rect">
            <a:avLst/>
          </a:prstGeom>
          <a:noFill/>
          <a:ln/>
        </p:spPr>
        <p:txBody>
          <a:bodyPr wrap="square" lIns="635" tIns="635" rIns="635" bIns="635" rtlCol="0" anchor="t"/>
          <a:lstStyle/>
          <a:p>
            <a:pPr marL="0" indent="0" algn="l">
              <a:lnSpc>
                <a:spcPct val="110000"/>
              </a:lnSpc>
              <a:buNone/>
            </a:pPr>
            <a:r>
              <a:rPr lang="en-US" sz="1400" dirty="0">
                <a:solidFill>
                  <a:srgbClr val="5B6573"/>
                </a:solidFill>
                <a:latin typeface="Segoe UI" pitchFamily="34" charset="0"/>
                <a:ea typeface="Segoe UI" pitchFamily="34" charset="-122"/>
                <a:cs typeface="Segoe UI" pitchFamily="34" charset="-120"/>
              </a:rPr>
              <a:t>Verificar la viabilidad de un proveedor antes de comprometer la HU · registrar Review y Retrospective con acta en cada Sprint · mantener backlog y documentos sincronizados con el código · ninguna funcionalidad sin HU previa.</a:t>
            </a:r>
            <a:endParaRPr lang="en-US" sz="1400" dirty="0"/>
          </a:p>
        </p:txBody>
      </p:sp>
      <p:sp>
        <p:nvSpPr>
          <p:cNvPr id="4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INNOVACIÓN</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De una agenda pasiva a una lista de espera activa</a:t>
            </a:r>
            <a:endParaRPr lang="en-US" sz="2800" dirty="0"/>
          </a:p>
        </p:txBody>
      </p:sp>
      <p:sp>
        <p:nvSpPr>
          <p:cNvPr id="4" name="Shape 2"/>
          <p:cNvSpPr/>
          <p:nvPr/>
        </p:nvSpPr>
        <p:spPr>
          <a:xfrm>
            <a:off x="548640" y="1508760"/>
            <a:ext cx="5120640" cy="2971800"/>
          </a:xfrm>
          <a:prstGeom prst="roundRect">
            <a:avLst>
              <a:gd name="adj" fmla="val 2462"/>
            </a:avLst>
          </a:prstGeom>
          <a:solidFill>
            <a:srgbClr val="F3F8FB"/>
          </a:solidFill>
          <a:ln w="12700">
            <a:solidFill>
              <a:srgbClr val="C5CFD9"/>
            </a:solidFill>
            <a:prstDash val="solid"/>
          </a:ln>
        </p:spPr>
      </p:sp>
      <p:sp>
        <p:nvSpPr>
          <p:cNvPr id="5" name="Text 3"/>
          <p:cNvSpPr/>
          <p:nvPr/>
        </p:nvSpPr>
        <p:spPr>
          <a:xfrm>
            <a:off x="777240" y="1645920"/>
            <a:ext cx="4663440" cy="411480"/>
          </a:xfrm>
          <a:prstGeom prst="rect">
            <a:avLst/>
          </a:prstGeom>
          <a:noFill/>
          <a:ln/>
        </p:spPr>
        <p:txBody>
          <a:bodyPr wrap="square" lIns="635" tIns="635" rIns="635" bIns="635" rtlCol="0" anchor="t"/>
          <a:lstStyle/>
          <a:p>
            <a:pPr marL="0" indent="0" algn="l">
              <a:lnSpc>
                <a:spcPct val="105000"/>
              </a:lnSpc>
              <a:buNone/>
            </a:pPr>
            <a:r>
              <a:rPr lang="en-US" sz="1800" dirty="0">
                <a:solidFill>
                  <a:srgbClr val="5B6573"/>
                </a:solidFill>
                <a:latin typeface="Segoe UI Semibold" pitchFamily="34" charset="0"/>
                <a:ea typeface="Segoe UI Semibold" pitchFamily="34" charset="-122"/>
                <a:cs typeface="Segoe UI Semibold" pitchFamily="34" charset="-120"/>
              </a:rPr>
              <a:t>Gestión tradicional</a:t>
            </a:r>
            <a:endParaRPr lang="en-US" sz="1800" dirty="0"/>
          </a:p>
        </p:txBody>
      </p:sp>
      <p:sp>
        <p:nvSpPr>
          <p:cNvPr id="6" name="Text 4"/>
          <p:cNvSpPr/>
          <p:nvPr/>
        </p:nvSpPr>
        <p:spPr>
          <a:xfrm>
            <a:off x="777240" y="2148840"/>
            <a:ext cx="4663440" cy="2743200"/>
          </a:xfrm>
          <a:prstGeom prst="rect">
            <a:avLst/>
          </a:prstGeom>
          <a:noFill/>
          <a:ln/>
        </p:spPr>
        <p:txBody>
          <a:bodyPr wrap="square" lIns="635" tIns="635" rIns="635" bIns="635" rtlCol="0" anchor="t"/>
          <a:lstStyle/>
          <a:p>
            <a:pPr marL="342900" indent="-342900" algn="l">
              <a:lnSpc>
                <a:spcPct val="150000"/>
              </a:lnSpc>
              <a:buSzPct val="100000"/>
              <a:buChar char="–"/>
            </a:pPr>
            <a:r>
              <a:rPr lang="en-US" sz="1600" dirty="0">
                <a:solidFill>
                  <a:srgbClr val="5B6573"/>
                </a:solidFill>
                <a:latin typeface="Segoe UI" pitchFamily="34" charset="0"/>
                <a:ea typeface="Segoe UI" pitchFamily="34" charset="-122"/>
                <a:cs typeface="Segoe UI" pitchFamily="34" charset="-120"/>
              </a:rPr>
              <a:t>Llamadas y planillas para reasignar</a:t>
            </a:r>
            <a:endParaRPr lang="en-US" sz="1600" dirty="0"/>
          </a:p>
          <a:p>
            <a:pPr marL="342900" indent="-342900" algn="l">
              <a:lnSpc>
                <a:spcPct val="150000"/>
              </a:lnSpc>
              <a:buSzPct val="100000"/>
              <a:buChar char="–"/>
            </a:pPr>
            <a:r>
              <a:rPr lang="en-US" sz="1600" dirty="0">
                <a:solidFill>
                  <a:srgbClr val="5B6573"/>
                </a:solidFill>
                <a:latin typeface="Segoe UI" pitchFamily="34" charset="0"/>
                <a:ea typeface="Segoe UI" pitchFamily="34" charset="-122"/>
                <a:cs typeface="Segoe UI" pitchFamily="34" charset="-120"/>
              </a:rPr>
              <a:t>La lista de espera no reacciona sola</a:t>
            </a:r>
            <a:endParaRPr lang="en-US" sz="1600" dirty="0"/>
          </a:p>
          <a:p>
            <a:pPr marL="342900" indent="-342900" algn="l">
              <a:lnSpc>
                <a:spcPct val="150000"/>
              </a:lnSpc>
              <a:buSzPct val="100000"/>
              <a:buChar char="–"/>
            </a:pPr>
            <a:r>
              <a:rPr lang="en-US" sz="1600" dirty="0">
                <a:solidFill>
                  <a:srgbClr val="5B6573"/>
                </a:solidFill>
                <a:latin typeface="Segoe UI" pitchFamily="34" charset="0"/>
                <a:ea typeface="Segoe UI" pitchFamily="34" charset="-122"/>
                <a:cs typeface="Segoe UI" pitchFamily="34" charset="-120"/>
              </a:rPr>
              <a:t>Criterios poco transparentes</a:t>
            </a:r>
            <a:endParaRPr lang="en-US" sz="1600" dirty="0"/>
          </a:p>
          <a:p>
            <a:pPr marL="342900" indent="-342900" algn="l">
              <a:lnSpc>
                <a:spcPct val="150000"/>
              </a:lnSpc>
              <a:buSzPct val="100000"/>
              <a:buChar char="–"/>
            </a:pPr>
            <a:r>
              <a:rPr lang="en-US" sz="1600" dirty="0">
                <a:solidFill>
                  <a:srgbClr val="5B6573"/>
                </a:solidFill>
                <a:latin typeface="Segoe UI" pitchFamily="34" charset="0"/>
                <a:ea typeface="Segoe UI" pitchFamily="34" charset="-122"/>
                <a:cs typeface="Segoe UI" pitchFamily="34" charset="-120"/>
              </a:rPr>
              <a:t>Sin registro de quién recibió la oferta</a:t>
            </a:r>
            <a:endParaRPr lang="en-US" sz="1600" dirty="0"/>
          </a:p>
        </p:txBody>
      </p:sp>
      <p:sp>
        <p:nvSpPr>
          <p:cNvPr id="7" name="Shape 5"/>
          <p:cNvSpPr/>
          <p:nvPr/>
        </p:nvSpPr>
        <p:spPr>
          <a:xfrm>
            <a:off x="5806440" y="2990088"/>
            <a:ext cx="548640" cy="914"/>
          </a:xfrm>
          <a:prstGeom prst="line">
            <a:avLst/>
          </a:prstGeom>
          <a:noFill/>
          <a:ln w="38100">
            <a:solidFill>
              <a:srgbClr val="008184"/>
            </a:solidFill>
            <a:prstDash val="solid"/>
            <a:tailEnd type="triangle"/>
          </a:ln>
        </p:spPr>
      </p:sp>
      <p:sp>
        <p:nvSpPr>
          <p:cNvPr id="8" name="Shape 6"/>
          <p:cNvSpPr/>
          <p:nvPr/>
        </p:nvSpPr>
        <p:spPr>
          <a:xfrm>
            <a:off x="6492240" y="1508760"/>
            <a:ext cx="5148072" cy="2971800"/>
          </a:xfrm>
          <a:prstGeom prst="roundRect">
            <a:avLst>
              <a:gd name="adj" fmla="val 2462"/>
            </a:avLst>
          </a:prstGeom>
          <a:solidFill>
            <a:srgbClr val="EDF8F8"/>
          </a:solidFill>
          <a:ln w="12700">
            <a:solidFill>
              <a:srgbClr val="008184"/>
            </a:solidFill>
            <a:prstDash val="solid"/>
          </a:ln>
          <a:effectLst>
            <a:outerShdw blurRad="76200" dist="25400" dir="5400000" algn="bl" rotWithShape="0">
              <a:srgbClr val="000000">
                <a:alpha val="12000"/>
              </a:srgbClr>
            </a:outerShdw>
          </a:effectLst>
        </p:spPr>
      </p:sp>
      <p:sp>
        <p:nvSpPr>
          <p:cNvPr id="9" name="Text 7"/>
          <p:cNvSpPr/>
          <p:nvPr/>
        </p:nvSpPr>
        <p:spPr>
          <a:xfrm>
            <a:off x="6720840" y="1645920"/>
            <a:ext cx="4663440" cy="411480"/>
          </a:xfrm>
          <a:prstGeom prst="rect">
            <a:avLst/>
          </a:prstGeom>
          <a:noFill/>
          <a:ln/>
        </p:spPr>
        <p:txBody>
          <a:bodyPr wrap="square" lIns="635" tIns="635" rIns="635" bIns="635" rtlCol="0" anchor="t"/>
          <a:lstStyle/>
          <a:p>
            <a:pPr marL="0" indent="0" algn="l">
              <a:lnSpc>
                <a:spcPct val="105000"/>
              </a:lnSpc>
              <a:buNone/>
            </a:pPr>
            <a:r>
              <a:rPr lang="en-US" sz="1800" dirty="0">
                <a:solidFill>
                  <a:srgbClr val="0B5F66"/>
                </a:solidFill>
                <a:latin typeface="Segoe UI Semibold" pitchFamily="34" charset="0"/>
                <a:ea typeface="Segoe UI Semibold" pitchFamily="34" charset="-122"/>
                <a:cs typeface="Segoe UI Semibold" pitchFamily="34" charset="-120"/>
              </a:rPr>
              <a:t>CitaJusta</a:t>
            </a:r>
            <a:endParaRPr lang="en-US" sz="1800" dirty="0"/>
          </a:p>
        </p:txBody>
      </p:sp>
      <p:sp>
        <p:nvSpPr>
          <p:cNvPr id="10" name="Text 8"/>
          <p:cNvSpPr/>
          <p:nvPr/>
        </p:nvSpPr>
        <p:spPr>
          <a:xfrm>
            <a:off x="6720840" y="2148840"/>
            <a:ext cx="4754880" cy="2743200"/>
          </a:xfrm>
          <a:prstGeom prst="rect">
            <a:avLst/>
          </a:prstGeom>
          <a:noFill/>
          <a:ln/>
        </p:spPr>
        <p:txBody>
          <a:bodyPr wrap="square" lIns="635" tIns="635" rIns="635" bIns="635" rtlCol="0" anchor="t"/>
          <a:lstStyle/>
          <a:p>
            <a:pPr marL="342900" indent="-342900" algn="l">
              <a:lnSpc>
                <a:spcPct val="150000"/>
              </a:lnSpc>
              <a:buSzPct val="100000"/>
              <a:buChar char="✓"/>
            </a:pPr>
            <a:r>
              <a:rPr lang="en-US" sz="1600" dirty="0">
                <a:solidFill>
                  <a:srgbClr val="172B50"/>
                </a:solidFill>
                <a:latin typeface="Segoe UI" pitchFamily="34" charset="0"/>
                <a:ea typeface="Segoe UI" pitchFamily="34" charset="-122"/>
                <a:cs typeface="Segoe UI" pitchFamily="34" charset="-120"/>
              </a:rPr>
              <a:t>Oferta automática al cancelar</a:t>
            </a:r>
            <a:endParaRPr lang="en-US" sz="1600" dirty="0"/>
          </a:p>
          <a:p>
            <a:pPr marL="342900" indent="-342900" algn="l">
              <a:lnSpc>
                <a:spcPct val="150000"/>
              </a:lnSpc>
              <a:buSzPct val="100000"/>
              <a:buChar char="✓"/>
            </a:pPr>
            <a:r>
              <a:rPr lang="en-US" sz="1600" dirty="0">
                <a:solidFill>
                  <a:srgbClr val="172B50"/>
                </a:solidFill>
                <a:latin typeface="Segoe UI" pitchFamily="34" charset="0"/>
                <a:ea typeface="Segoe UI" pitchFamily="34" charset="-122"/>
                <a:cs typeface="Segoe UI" pitchFamily="34" charset="-120"/>
              </a:rPr>
              <a:t>Ranking explicable con políticas versionadas</a:t>
            </a:r>
            <a:endParaRPr lang="en-US" sz="1600" dirty="0"/>
          </a:p>
          <a:p>
            <a:pPr marL="342900" indent="-342900" algn="l">
              <a:lnSpc>
                <a:spcPct val="150000"/>
              </a:lnSpc>
              <a:buSzPct val="100000"/>
              <a:buChar char="✓"/>
            </a:pPr>
            <a:r>
              <a:rPr lang="en-US" sz="1600" dirty="0">
                <a:solidFill>
                  <a:srgbClr val="172B50"/>
                </a:solidFill>
                <a:latin typeface="Segoe UI" pitchFamily="34" charset="0"/>
                <a:ea typeface="Segoe UI" pitchFamily="34" charset="-122"/>
                <a:cs typeface="Segoe UI" pitchFamily="34" charset="-120"/>
              </a:rPr>
              <a:t>Integridad garantizada por la base de datos</a:t>
            </a:r>
            <a:endParaRPr lang="en-US" sz="1600" dirty="0"/>
          </a:p>
          <a:p>
            <a:pPr marL="342900" indent="-342900" algn="l">
              <a:lnSpc>
                <a:spcPct val="150000"/>
              </a:lnSpc>
              <a:buSzPct val="100000"/>
              <a:buChar char="✓"/>
            </a:pPr>
            <a:r>
              <a:rPr lang="en-US" sz="1600" dirty="0">
                <a:solidFill>
                  <a:srgbClr val="172B50"/>
                </a:solidFill>
                <a:latin typeface="Segoe UI" pitchFamily="34" charset="0"/>
                <a:ea typeface="Segoe UI" pitchFamily="34" charset="-122"/>
                <a:cs typeface="Segoe UI" pitchFamily="34" charset="-120"/>
              </a:rPr>
              <a:t>Trazabilidad completa y multi-institución</a:t>
            </a:r>
            <a:endParaRPr lang="en-US" sz="1600" dirty="0"/>
          </a:p>
        </p:txBody>
      </p:sp>
      <p:sp>
        <p:nvSpPr>
          <p:cNvPr id="11" name="Text 9"/>
          <p:cNvSpPr/>
          <p:nvPr/>
        </p:nvSpPr>
        <p:spPr>
          <a:xfrm>
            <a:off x="548640" y="4846320"/>
            <a:ext cx="10972800" cy="320040"/>
          </a:xfrm>
          <a:prstGeom prst="rect">
            <a:avLst/>
          </a:prstGeom>
          <a:noFill/>
          <a:ln/>
        </p:spPr>
        <p:txBody>
          <a:bodyPr wrap="square" lIns="635" tIns="635" rIns="635" bIns="635" rtlCol="0" anchor="t"/>
          <a:lstStyle/>
          <a:p>
            <a:pPr marL="0" indent="0" algn="l">
              <a:lnSpc>
                <a:spcPct val="105000"/>
              </a:lnSpc>
              <a:buNone/>
            </a:pPr>
            <a:r>
              <a:rPr lang="en-US" sz="1300" dirty="0">
                <a:solidFill>
                  <a:srgbClr val="5B6573"/>
                </a:solidFill>
                <a:latin typeface="Segoe UI" pitchFamily="34" charset="0"/>
                <a:ea typeface="Segoe UI" pitchFamily="34" charset="-122"/>
                <a:cs typeface="Segoe UI" pitchFamily="34" charset="-120"/>
              </a:rPr>
              <a:t>Indicadores ya calculados por Reportes para medir el impacto en una implementación real:</a:t>
            </a:r>
            <a:endParaRPr lang="en-US" sz="1300" dirty="0"/>
          </a:p>
        </p:txBody>
      </p:sp>
      <p:sp>
        <p:nvSpPr>
          <p:cNvPr id="12" name="Text 10"/>
          <p:cNvSpPr/>
          <p:nvPr/>
        </p:nvSpPr>
        <p:spPr>
          <a:xfrm>
            <a:off x="548640" y="525780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Cupos liberados</a:t>
            </a:r>
            <a:endParaRPr lang="en-US" sz="1200" dirty="0"/>
          </a:p>
        </p:txBody>
      </p:sp>
      <p:sp>
        <p:nvSpPr>
          <p:cNvPr id="13" name="Text 11"/>
          <p:cNvSpPr/>
          <p:nvPr/>
        </p:nvSpPr>
        <p:spPr>
          <a:xfrm>
            <a:off x="3364992" y="525780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Cupos recuperados</a:t>
            </a:r>
            <a:endParaRPr lang="en-US" sz="1200" dirty="0"/>
          </a:p>
        </p:txBody>
      </p:sp>
      <p:sp>
        <p:nvSpPr>
          <p:cNvPr id="14" name="Text 12"/>
          <p:cNvSpPr/>
          <p:nvPr/>
        </p:nvSpPr>
        <p:spPr>
          <a:xfrm>
            <a:off x="6181344" y="525780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Tasa de recuperación</a:t>
            </a:r>
            <a:endParaRPr lang="en-US" sz="1200" dirty="0"/>
          </a:p>
        </p:txBody>
      </p:sp>
      <p:sp>
        <p:nvSpPr>
          <p:cNvPr id="15" name="Text 13"/>
          <p:cNvSpPr/>
          <p:nvPr/>
        </p:nvSpPr>
        <p:spPr>
          <a:xfrm>
            <a:off x="8997696" y="5257800"/>
            <a:ext cx="2633472" cy="310896"/>
          </a:xfrm>
          <a:prstGeom prst="roundRect">
            <a:avLst>
              <a:gd name="adj" fmla="val 50000"/>
            </a:avLst>
          </a:prstGeom>
          <a:solidFill>
            <a:srgbClr val="E6F4F4"/>
          </a:solidFill>
          <a:ln w="9525">
            <a:solidFill>
              <a:srgbClr val="E6F4F4"/>
            </a:solidFill>
          </a:ln>
        </p:spPr>
        <p:txBody>
          <a:bodyPr wrap="square" lIns="0" tIns="0" rIns="0" bIns="0" rtlCol="0" anchor="ctr"/>
          <a:lstStyle/>
          <a:p>
            <a:pPr marL="0" indent="0" algn="ctr">
              <a:buNone/>
            </a:pPr>
            <a:r>
              <a:rPr lang="en-US" sz="1200" dirty="0">
                <a:solidFill>
                  <a:srgbClr val="0B5F66"/>
                </a:solidFill>
                <a:latin typeface="Segoe UI Semibold" pitchFamily="34" charset="0"/>
                <a:ea typeface="Segoe UI Semibold" pitchFamily="34" charset="-122"/>
                <a:cs typeface="Segoe UI Semibold" pitchFamily="34" charset="-120"/>
              </a:rPr>
              <a:t>Ofertas aceptadas / expiradas</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ESTADO Y PRÓXIMOS PASOS</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Lo que está listo y lo que cerramos en el Sprint 9</a:t>
            </a:r>
            <a:endParaRPr lang="en-US" sz="2800" dirty="0"/>
          </a:p>
        </p:txBody>
      </p:sp>
      <p:sp>
        <p:nvSpPr>
          <p:cNvPr id="4" name="Shape 2"/>
          <p:cNvSpPr/>
          <p:nvPr/>
        </p:nvSpPr>
        <p:spPr>
          <a:xfrm>
            <a:off x="548640" y="1508760"/>
            <a:ext cx="5440680" cy="3931920"/>
          </a:xfrm>
          <a:prstGeom prst="roundRect">
            <a:avLst>
              <a:gd name="adj" fmla="val 1860"/>
            </a:avLst>
          </a:prstGeom>
          <a:solidFill>
            <a:srgbClr val="E7F5EE"/>
          </a:solidFill>
          <a:ln w="12700">
            <a:solidFill>
              <a:srgbClr val="E7F5EE"/>
            </a:solidFill>
            <a:prstDash val="solid"/>
          </a:ln>
        </p:spPr>
      </p:sp>
      <p:sp>
        <p:nvSpPr>
          <p:cNvPr id="5" name="Text 3"/>
          <p:cNvSpPr/>
          <p:nvPr/>
        </p:nvSpPr>
        <p:spPr>
          <a:xfrm>
            <a:off x="777240" y="1645920"/>
            <a:ext cx="4937760" cy="411480"/>
          </a:xfrm>
          <a:prstGeom prst="rect">
            <a:avLst/>
          </a:prstGeom>
          <a:noFill/>
          <a:ln/>
        </p:spPr>
        <p:txBody>
          <a:bodyPr wrap="square" lIns="635" tIns="635" rIns="635" bIns="635" rtlCol="0" anchor="t"/>
          <a:lstStyle/>
          <a:p>
            <a:pPr marL="0" indent="0" algn="l">
              <a:lnSpc>
                <a:spcPct val="105000"/>
              </a:lnSpc>
              <a:buNone/>
            </a:pPr>
            <a:r>
              <a:rPr lang="en-US" sz="2000" dirty="0">
                <a:solidFill>
                  <a:srgbClr val="1E7A4F"/>
                </a:solidFill>
                <a:latin typeface="Segoe UI Semibold" pitchFamily="34" charset="0"/>
                <a:ea typeface="Segoe UI Semibold" pitchFamily="34" charset="-122"/>
                <a:cs typeface="Segoe UI Semibold" pitchFamily="34" charset="-120"/>
              </a:rPr>
              <a:t>Listo</a:t>
            </a:r>
            <a:endParaRPr lang="en-US" sz="2000" dirty="0"/>
          </a:p>
        </p:txBody>
      </p:sp>
      <p:sp>
        <p:nvSpPr>
          <p:cNvPr id="6" name="Text 4"/>
          <p:cNvSpPr/>
          <p:nvPr/>
        </p:nvSpPr>
        <p:spPr>
          <a:xfrm>
            <a:off x="777240" y="2148840"/>
            <a:ext cx="5029200" cy="3566160"/>
          </a:xfrm>
          <a:prstGeom prst="rect">
            <a:avLst/>
          </a:prstGeom>
          <a:noFill/>
          <a:ln/>
        </p:spPr>
        <p:txBody>
          <a:bodyPr wrap="square" lIns="635" tIns="635" rIns="635" bIns="635" rtlCol="0" anchor="t"/>
          <a:lstStyle/>
          <a:p>
            <a:pPr marL="342900" indent="-342900" algn="l">
              <a:lnSpc>
                <a:spcPct val="150000"/>
              </a:lnSpc>
              <a:buSzPct val="100000"/>
              <a:buChar char="✓"/>
            </a:pPr>
            <a:r>
              <a:rPr lang="en-US" sz="1550" dirty="0">
                <a:solidFill>
                  <a:srgbClr val="172B50"/>
                </a:solidFill>
                <a:latin typeface="Segoe UI" pitchFamily="34" charset="0"/>
                <a:ea typeface="Segoe UI" pitchFamily="34" charset="-122"/>
                <a:cs typeface="Segoe UI" pitchFamily="34" charset="-120"/>
              </a:rPr>
              <a:t>MVP Web y Desktop integrados con la API</a:t>
            </a:r>
            <a:endParaRPr lang="en-US" sz="1550" dirty="0"/>
          </a:p>
          <a:p>
            <a:pPr marL="342900" indent="-342900" algn="l">
              <a:lnSpc>
                <a:spcPct val="150000"/>
              </a:lnSpc>
              <a:buSzPct val="100000"/>
              <a:buChar char="✓"/>
            </a:pPr>
            <a:r>
              <a:rPr lang="en-US" sz="1550" dirty="0">
                <a:solidFill>
                  <a:srgbClr val="172B50"/>
                </a:solidFill>
                <a:latin typeface="Segoe UI" pitchFamily="34" charset="0"/>
                <a:ea typeface="Segoe UI" pitchFamily="34" charset="-122"/>
                <a:cs typeface="Segoe UI" pitchFamily="34" charset="-120"/>
              </a:rPr>
              <a:t>Motor de reasignación con expiración automática</a:t>
            </a:r>
            <a:endParaRPr lang="en-US" sz="1550" dirty="0"/>
          </a:p>
          <a:p>
            <a:pPr marL="342900" indent="-342900" algn="l">
              <a:lnSpc>
                <a:spcPct val="150000"/>
              </a:lnSpc>
              <a:buSzPct val="100000"/>
              <a:buChar char="✓"/>
            </a:pPr>
            <a:r>
              <a:rPr lang="en-US" sz="1550">
                <a:solidFill>
                  <a:srgbClr val="172B50"/>
                </a:solidFill>
                <a:latin typeface="Segoe UI" pitchFamily="34" charset="0"/>
                <a:ea typeface="Segoe UI" pitchFamily="34" charset="-122"/>
                <a:cs typeface="Segoe UI" pitchFamily="34" charset="-120"/>
              </a:rPr>
              <a:t>Cinco integraciones externas implementadas</a:t>
            </a:r>
            <a:endParaRPr lang="en-US" sz="1550" dirty="0"/>
          </a:p>
          <a:p>
            <a:pPr marL="342900" indent="-342900" algn="l">
              <a:lnSpc>
                <a:spcPct val="150000"/>
              </a:lnSpc>
              <a:buSzPct val="100000"/>
              <a:buChar char="✓"/>
            </a:pPr>
            <a:r>
              <a:rPr lang="en-US" sz="1550" dirty="0">
                <a:solidFill>
                  <a:srgbClr val="172B50"/>
                </a:solidFill>
                <a:latin typeface="Segoe UI" pitchFamily="34" charset="0"/>
                <a:ea typeface="Segoe UI" pitchFamily="34" charset="-122"/>
                <a:cs typeface="Segoe UI" pitchFamily="34" charset="-120"/>
              </a:rPr>
              <a:t>Configuración Docker preparada y verificada</a:t>
            </a:r>
            <a:endParaRPr lang="en-US" sz="1550" dirty="0"/>
          </a:p>
          <a:p>
            <a:pPr marL="342900" indent="-342900" algn="l">
              <a:lnSpc>
                <a:spcPct val="150000"/>
              </a:lnSpc>
              <a:buSzPct val="100000"/>
              <a:buChar char="✓"/>
            </a:pPr>
            <a:r>
              <a:rPr lang="en-US" sz="1550" dirty="0">
                <a:solidFill>
                  <a:srgbClr val="172B50"/>
                </a:solidFill>
                <a:latin typeface="Segoe UI" pitchFamily="34" charset="0"/>
                <a:ea typeface="Segoe UI" pitchFamily="34" charset="-122"/>
                <a:cs typeface="Segoe UI" pitchFamily="34" charset="-120"/>
              </a:rPr>
              <a:t>Documentación y evidencias de la Fase 2</a:t>
            </a:r>
            <a:endParaRPr lang="en-US" sz="1550" dirty="0"/>
          </a:p>
        </p:txBody>
      </p:sp>
      <p:sp>
        <p:nvSpPr>
          <p:cNvPr id="7" name="Shape 5"/>
          <p:cNvSpPr/>
          <p:nvPr/>
        </p:nvSpPr>
        <p:spPr>
          <a:xfrm>
            <a:off x="6199632" y="1508760"/>
            <a:ext cx="5440680" cy="3931920"/>
          </a:xfrm>
          <a:prstGeom prst="roundRect">
            <a:avLst>
              <a:gd name="adj" fmla="val 1860"/>
            </a:avLst>
          </a:prstGeom>
          <a:solidFill>
            <a:srgbClr val="FFF4E0"/>
          </a:solidFill>
          <a:ln w="12700">
            <a:solidFill>
              <a:srgbClr val="FFF4E0"/>
            </a:solidFill>
            <a:prstDash val="solid"/>
          </a:ln>
        </p:spPr>
      </p:sp>
      <p:sp>
        <p:nvSpPr>
          <p:cNvPr id="8" name="Text 6"/>
          <p:cNvSpPr/>
          <p:nvPr/>
        </p:nvSpPr>
        <p:spPr>
          <a:xfrm>
            <a:off x="6428232" y="1645920"/>
            <a:ext cx="4937760" cy="411480"/>
          </a:xfrm>
          <a:prstGeom prst="rect">
            <a:avLst/>
          </a:prstGeom>
          <a:noFill/>
          <a:ln/>
        </p:spPr>
        <p:txBody>
          <a:bodyPr wrap="square" lIns="635" tIns="635" rIns="635" bIns="635" rtlCol="0" anchor="t"/>
          <a:lstStyle/>
          <a:p>
            <a:pPr marL="0" indent="0" algn="l">
              <a:lnSpc>
                <a:spcPct val="105000"/>
              </a:lnSpc>
              <a:buNone/>
            </a:pPr>
            <a:r>
              <a:rPr lang="en-US" sz="2000" dirty="0">
                <a:solidFill>
                  <a:srgbClr val="9A5B00"/>
                </a:solidFill>
                <a:latin typeface="Segoe UI Semibold" pitchFamily="34" charset="0"/>
                <a:ea typeface="Segoe UI Semibold" pitchFamily="34" charset="-122"/>
                <a:cs typeface="Segoe UI Semibold" pitchFamily="34" charset="-120"/>
              </a:rPr>
              <a:t>Pendiente (Sprint 9)</a:t>
            </a:r>
            <a:endParaRPr lang="en-US" sz="2000" dirty="0"/>
          </a:p>
        </p:txBody>
      </p:sp>
      <p:sp>
        <p:nvSpPr>
          <p:cNvPr id="9" name="Text 7"/>
          <p:cNvSpPr/>
          <p:nvPr/>
        </p:nvSpPr>
        <p:spPr>
          <a:xfrm>
            <a:off x="6428232" y="2148840"/>
            <a:ext cx="5029200" cy="3657600"/>
          </a:xfrm>
          <a:prstGeom prst="rect">
            <a:avLst/>
          </a:prstGeom>
          <a:noFill/>
          <a:ln/>
        </p:spPr>
        <p:txBody>
          <a:bodyPr wrap="square" lIns="635" tIns="635" rIns="635" bIns="635" rtlCol="0" anchor="t"/>
          <a:lstStyle/>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Integrar la configuración Docker al repositorio</a:t>
            </a:r>
            <a:endParaRPr lang="en-US" sz="1550" dirty="0"/>
          </a:p>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Hardening: CORS explícito, helmet y rate limiting</a:t>
            </a:r>
            <a:endParaRPr lang="en-US" sz="1550" dirty="0"/>
          </a:p>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Documentación OpenAPI / Swagger</a:t>
            </a:r>
            <a:endParaRPr lang="en-US" sz="1550" dirty="0"/>
          </a:p>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CI que ejecute las pruebas en cada PR</a:t>
            </a:r>
            <a:endParaRPr lang="en-US" sz="1550" dirty="0"/>
          </a:p>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Validación visual del correo V2 en Gmail</a:t>
            </a:r>
            <a:endParaRPr lang="en-US" sz="1550" dirty="0"/>
          </a:p>
          <a:p>
            <a:pPr marL="342900" indent="-342900" algn="l">
              <a:lnSpc>
                <a:spcPct val="142000"/>
              </a:lnSpc>
              <a:buSzPct val="100000"/>
              <a:buChar char="○"/>
            </a:pPr>
            <a:r>
              <a:rPr lang="en-US" sz="1550" dirty="0">
                <a:solidFill>
                  <a:srgbClr val="172B50"/>
                </a:solidFill>
                <a:latin typeface="Segoe UI" pitchFamily="34" charset="0"/>
                <a:ea typeface="Segoe UI" pitchFamily="34" charset="-122"/>
                <a:cs typeface="Segoe UI" pitchFamily="34" charset="-120"/>
              </a:rPr>
              <a:t>Corregir la prueba E2E desactualizada y las dependencias vulnerables</a:t>
            </a:r>
            <a:endParaRPr lang="en-US" sz="155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B50"/>
        </a:solidFill>
        <a:effectLst/>
      </p:bgPr>
    </p:bg>
    <p:spTree>
      <p:nvGrpSpPr>
        <p:cNvPr id="1" name=""/>
        <p:cNvGrpSpPr/>
        <p:nvPr/>
      </p:nvGrpSpPr>
      <p:grpSpPr>
        <a:xfrm>
          <a:off x="0" y="0"/>
          <a:ext cx="0" cy="0"/>
          <a:chOff x="0" y="0"/>
          <a:chExt cx="0" cy="0"/>
        </a:xfrm>
      </p:grpSpPr>
      <p:sp>
        <p:nvSpPr>
          <p:cNvPr id="2" name="Shape 0"/>
          <p:cNvSpPr/>
          <p:nvPr/>
        </p:nvSpPr>
        <p:spPr>
          <a:xfrm>
            <a:off x="8778240" y="-914400"/>
            <a:ext cx="4754880" cy="4754880"/>
          </a:xfrm>
          <a:prstGeom prst="ellipse">
            <a:avLst/>
          </a:prstGeom>
          <a:solidFill>
            <a:srgbClr val="1E3762"/>
          </a:solidFill>
          <a:ln w="12700">
            <a:solidFill>
              <a:srgbClr val="24406E"/>
            </a:solidFill>
            <a:prstDash val="solid"/>
          </a:ln>
        </p:spPr>
      </p:sp>
      <p:sp>
        <p:nvSpPr>
          <p:cNvPr id="3" name="Shape 1"/>
          <p:cNvSpPr/>
          <p:nvPr/>
        </p:nvSpPr>
        <p:spPr>
          <a:xfrm>
            <a:off x="9966960" y="2743200"/>
            <a:ext cx="3291840" cy="3291840"/>
          </a:xfrm>
          <a:prstGeom prst="ellipse">
            <a:avLst/>
          </a:prstGeom>
          <a:solidFill>
            <a:srgbClr val="1E3762"/>
          </a:solidFill>
          <a:ln w="12700">
            <a:solidFill>
              <a:srgbClr val="24406E"/>
            </a:solidFill>
            <a:prstDash val="solid"/>
          </a:ln>
        </p:spPr>
      </p:sp>
      <p:sp>
        <p:nvSpPr>
          <p:cNvPr id="4" name="Text 2"/>
          <p:cNvSpPr/>
          <p:nvPr/>
        </p:nvSpPr>
        <p:spPr>
          <a:xfrm>
            <a:off x="822960" y="1280160"/>
            <a:ext cx="9601200" cy="1188720"/>
          </a:xfrm>
          <a:prstGeom prst="rect">
            <a:avLst/>
          </a:prstGeom>
          <a:noFill/>
          <a:ln/>
        </p:spPr>
        <p:txBody>
          <a:bodyPr wrap="square" lIns="635" tIns="635" rIns="635" bIns="635" rtlCol="0" anchor="t"/>
          <a:lstStyle/>
          <a:p>
            <a:pPr marL="0" indent="0" algn="l">
              <a:lnSpc>
                <a:spcPct val="105000"/>
              </a:lnSpc>
              <a:buNone/>
            </a:pPr>
            <a:r>
              <a:rPr lang="en-US" sz="3400" i="1" dirty="0">
                <a:solidFill>
                  <a:srgbClr val="FFFFFF"/>
                </a:solidFill>
                <a:latin typeface="Segoe UI Semibold" pitchFamily="34" charset="0"/>
                <a:ea typeface="Segoe UI Semibold" pitchFamily="34" charset="-122"/>
                <a:cs typeface="Segoe UI Semibold" pitchFamily="34" charset="-120"/>
              </a:rPr>
              <a:t>“Una cita cancelada no debería perderse.”</a:t>
            </a:r>
            <a:endParaRPr lang="en-US" sz="3400" dirty="0"/>
          </a:p>
        </p:txBody>
      </p:sp>
      <p:sp>
        <p:nvSpPr>
          <p:cNvPr id="5" name="Text 3"/>
          <p:cNvSpPr/>
          <p:nvPr/>
        </p:nvSpPr>
        <p:spPr>
          <a:xfrm>
            <a:off x="822960" y="2743200"/>
            <a:ext cx="7315200" cy="731520"/>
          </a:xfrm>
          <a:prstGeom prst="rect">
            <a:avLst/>
          </a:prstGeom>
          <a:noFill/>
          <a:ln/>
        </p:spPr>
        <p:txBody>
          <a:bodyPr wrap="square" lIns="635" tIns="635" rIns="635" bIns="635" rtlCol="0" anchor="t"/>
          <a:lstStyle/>
          <a:p>
            <a:pPr marL="0" indent="0" algn="l">
              <a:lnSpc>
                <a:spcPct val="105000"/>
              </a:lnSpc>
              <a:buNone/>
            </a:pPr>
            <a:r>
              <a:rPr lang="en-US" sz="3000" dirty="0">
                <a:solidFill>
                  <a:srgbClr val="7FD3D6"/>
                </a:solidFill>
                <a:latin typeface="Segoe UI Semibold" pitchFamily="34" charset="0"/>
                <a:ea typeface="Segoe UI Semibold" pitchFamily="34" charset="-122"/>
                <a:cs typeface="Segoe UI Semibold" pitchFamily="34" charset="-120"/>
              </a:rPr>
              <a:t>Gracias · ¿Preguntas?</a:t>
            </a:r>
            <a:endParaRPr lang="en-US" sz="3000" dirty="0"/>
          </a:p>
        </p:txBody>
      </p:sp>
      <p:sp>
        <p:nvSpPr>
          <p:cNvPr id="6" name="Text 4"/>
          <p:cNvSpPr/>
          <p:nvPr/>
        </p:nvSpPr>
        <p:spPr>
          <a:xfrm>
            <a:off x="822960" y="3657600"/>
            <a:ext cx="7315200" cy="411480"/>
          </a:xfrm>
          <a:prstGeom prst="rect">
            <a:avLst/>
          </a:prstGeom>
          <a:noFill/>
          <a:ln/>
        </p:spPr>
        <p:txBody>
          <a:bodyPr wrap="square" lIns="635" tIns="635" rIns="635" bIns="635" rtlCol="0" anchor="t"/>
          <a:lstStyle/>
          <a:p>
            <a:pPr marL="0" indent="0" algn="l">
              <a:lnSpc>
                <a:spcPct val="105000"/>
              </a:lnSpc>
              <a:buNone/>
            </a:pPr>
            <a:r>
              <a:rPr lang="en-US" sz="1600" dirty="0">
                <a:solidFill>
                  <a:srgbClr val="B9D9DC"/>
                </a:solidFill>
                <a:latin typeface="Segoe UI" pitchFamily="34" charset="0"/>
                <a:ea typeface="Segoe UI" pitchFamily="34" charset="-122"/>
                <a:cs typeface="Segoe UI" pitchFamily="34" charset="-120"/>
              </a:rPr>
              <a:t>github.com/torresmatias23/CitaJusta</a:t>
            </a:r>
            <a:endParaRPr lang="en-US" sz="1600" dirty="0"/>
          </a:p>
        </p:txBody>
      </p:sp>
      <p:sp>
        <p:nvSpPr>
          <p:cNvPr id="7" name="Shape 5"/>
          <p:cNvSpPr/>
          <p:nvPr/>
        </p:nvSpPr>
        <p:spPr>
          <a:xfrm>
            <a:off x="822960" y="4800600"/>
            <a:ext cx="3291840" cy="1417320"/>
          </a:xfrm>
          <a:prstGeom prst="roundRect">
            <a:avLst>
              <a:gd name="adj" fmla="val 5161"/>
            </a:avLst>
          </a:prstGeom>
          <a:solidFill>
            <a:srgbClr val="FFFFFF"/>
          </a:solidFill>
          <a:ln w="12700">
            <a:solidFill>
              <a:srgbClr val="FFFFFF"/>
            </a:solidFill>
            <a:prstDash val="solid"/>
          </a:ln>
        </p:spPr>
      </p:sp>
      <p:pic>
        <p:nvPicPr>
          <p:cNvPr id="8" name="Image 0" descr="logo-citajusta-crop.png"/>
          <p:cNvPicPr>
            <a:picLocks noChangeAspect="1"/>
          </p:cNvPicPr>
          <p:nvPr/>
        </p:nvPicPr>
        <p:blipFill>
          <a:blip r:embed="rId3"/>
          <a:stretch>
            <a:fillRect/>
          </a:stretch>
        </p:blipFill>
        <p:spPr>
          <a:xfrm>
            <a:off x="1417320" y="4959492"/>
            <a:ext cx="2103120" cy="1099537"/>
          </a:xfrm>
          <a:prstGeom prst="rect">
            <a:avLst/>
          </a:prstGeom>
        </p:spPr>
      </p:pic>
      <p:sp>
        <p:nvSpPr>
          <p:cNvPr id="9" name="Shape 6"/>
          <p:cNvSpPr/>
          <p:nvPr/>
        </p:nvSpPr>
        <p:spPr>
          <a:xfrm>
            <a:off x="4343400" y="4800600"/>
            <a:ext cx="3291840" cy="1417320"/>
          </a:xfrm>
          <a:prstGeom prst="roundRect">
            <a:avLst>
              <a:gd name="adj" fmla="val 5161"/>
            </a:avLst>
          </a:prstGeom>
          <a:solidFill>
            <a:srgbClr val="FFFFFF"/>
          </a:solidFill>
          <a:ln w="12700">
            <a:solidFill>
              <a:srgbClr val="FFFFFF"/>
            </a:solidFill>
            <a:prstDash val="solid"/>
          </a:ln>
        </p:spPr>
      </p:sp>
      <p:pic>
        <p:nvPicPr>
          <p:cNvPr id="10" name="Image 1" descr="logo-duoc-crop.png"/>
          <p:cNvPicPr>
            <a:picLocks noChangeAspect="1"/>
          </p:cNvPicPr>
          <p:nvPr/>
        </p:nvPicPr>
        <p:blipFill>
          <a:blip r:embed="rId4"/>
          <a:stretch>
            <a:fillRect/>
          </a:stretch>
        </p:blipFill>
        <p:spPr>
          <a:xfrm>
            <a:off x="4572000" y="5191978"/>
            <a:ext cx="2834640" cy="634564"/>
          </a:xfrm>
          <a:prstGeom prst="rect">
            <a:avLst/>
          </a:prstGeom>
        </p:spPr>
      </p:pic>
      <p:sp>
        <p:nvSpPr>
          <p:cNvPr id="11" name="Text 7"/>
          <p:cNvSpPr/>
          <p:nvPr/>
        </p:nvSpPr>
        <p:spPr>
          <a:xfrm>
            <a:off x="822960" y="6400800"/>
            <a:ext cx="8229600" cy="320040"/>
          </a:xfrm>
          <a:prstGeom prst="rect">
            <a:avLst/>
          </a:prstGeom>
          <a:noFill/>
          <a:ln/>
        </p:spPr>
        <p:txBody>
          <a:bodyPr wrap="square" lIns="635" tIns="635" rIns="635" bIns="635" rtlCol="0" anchor="t"/>
          <a:lstStyle/>
          <a:p>
            <a:pPr marL="0" indent="0" algn="l">
              <a:lnSpc>
                <a:spcPct val="105000"/>
              </a:lnSpc>
              <a:buNone/>
            </a:pPr>
            <a:r>
              <a:rPr lang="en-US" sz="1200" dirty="0">
                <a:solidFill>
                  <a:srgbClr val="9FB3C8"/>
                </a:solidFill>
                <a:latin typeface="Segoe UI" pitchFamily="34" charset="0"/>
                <a:ea typeface="Segoe UI" pitchFamily="34" charset="-122"/>
                <a:cs typeface="Segoe UI" pitchFamily="34" charset="-120"/>
              </a:rPr>
              <a:t>Matías Andrés Torres · Bastian Sepúlveda · Diego Simón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rtlCol="0" anchor="ctr"/>
          <a:lstStyle/>
          <a:p>
            <a:pPr marL="0" indent="0">
              <a:buNone/>
            </a:pPr>
            <a:r>
              <a:rPr lang="en-US" sz="1200" kern="0" spc="200" dirty="0">
                <a:solidFill>
                  <a:srgbClr val="008184"/>
                </a:solidFill>
                <a:latin typeface="Segoe UI Semibold" pitchFamily="34" charset="0"/>
                <a:ea typeface="Segoe UI Semibold" pitchFamily="34" charset="-122"/>
                <a:cs typeface="Segoe UI Semibold" pitchFamily="34" charset="-120"/>
              </a:rPr>
              <a:t>ANEXO · DIAPOSITIVA OCULTA</a:t>
            </a:r>
            <a:endParaRPr lang="en-US" sz="1200" dirty="0"/>
          </a:p>
        </p:txBody>
      </p:sp>
      <p:sp>
        <p:nvSpPr>
          <p:cNvPr id="3" name="Text 1"/>
          <p:cNvSpPr/>
          <p:nvPr/>
        </p:nvSpPr>
        <p:spPr>
          <a:xfrm>
            <a:off x="548640" y="566928"/>
            <a:ext cx="11094415" cy="731520"/>
          </a:xfrm>
          <a:prstGeom prst="rect">
            <a:avLst/>
          </a:prstGeom>
          <a:noFill/>
          <a:ln/>
        </p:spPr>
        <p:txBody>
          <a:bodyPr wrap="square" rtlCol="0" anchor="t"/>
          <a:lstStyle/>
          <a:p>
            <a:pPr marL="0" indent="0">
              <a:buNone/>
            </a:pPr>
            <a:r>
              <a:rPr lang="en-US" sz="2800" dirty="0">
                <a:solidFill>
                  <a:srgbClr val="172B50"/>
                </a:solidFill>
                <a:latin typeface="Segoe UI Semibold" pitchFamily="34" charset="0"/>
                <a:ea typeface="Segoe UI Semibold" pitchFamily="34" charset="-122"/>
                <a:cs typeface="Segoe UI Semibold" pitchFamily="34" charset="-120"/>
              </a:rPr>
              <a:t>Guion de la demo en vivo con Docker (≈ 4 minutos)</a:t>
            </a:r>
            <a:endParaRPr lang="en-US" sz="2800" dirty="0"/>
          </a:p>
        </p:txBody>
      </p:sp>
      <p:sp>
        <p:nvSpPr>
          <p:cNvPr id="4" name="Text 2"/>
          <p:cNvSpPr/>
          <p:nvPr/>
        </p:nvSpPr>
        <p:spPr>
          <a:xfrm>
            <a:off x="548640" y="1508760"/>
            <a:ext cx="411480" cy="411480"/>
          </a:xfrm>
          <a:prstGeom prst="ellipse">
            <a:avLst/>
          </a:prstGeom>
          <a:solidFill>
            <a:srgbClr val="9A5B00"/>
          </a:solidFill>
          <a:ln>
            <a:solidFill>
              <a:srgbClr val="9A5B00"/>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5" name="Text 3"/>
          <p:cNvSpPr/>
          <p:nvPr/>
        </p:nvSpPr>
        <p:spPr>
          <a:xfrm>
            <a:off x="1097280" y="1490472"/>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Requisito</a:t>
            </a:r>
            <a:endParaRPr lang="en-US" sz="1400" dirty="0"/>
          </a:p>
        </p:txBody>
      </p:sp>
      <p:sp>
        <p:nvSpPr>
          <p:cNvPr id="6" name="Text 4"/>
          <p:cNvSpPr/>
          <p:nvPr/>
        </p:nvSpPr>
        <p:spPr>
          <a:xfrm>
            <a:off x="3108960" y="1417320"/>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Copiar Anexos\Propuesta_Docker a la raíz del repo según GUIA_DOCKER.md</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(o usar la versión ya integrada por Matías en el repositorio)</a:t>
            </a:r>
            <a:endParaRPr lang="en-US" sz="1100" dirty="0"/>
          </a:p>
        </p:txBody>
      </p:sp>
      <p:sp>
        <p:nvSpPr>
          <p:cNvPr id="7" name="Text 5"/>
          <p:cNvSpPr/>
          <p:nvPr/>
        </p:nvSpPr>
        <p:spPr>
          <a:xfrm>
            <a:off x="548640" y="2203704"/>
            <a:ext cx="411480" cy="41148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8" name="Text 6"/>
          <p:cNvSpPr/>
          <p:nvPr/>
        </p:nvSpPr>
        <p:spPr>
          <a:xfrm>
            <a:off x="1097280" y="2185416"/>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Levantar</a:t>
            </a:r>
            <a:endParaRPr lang="en-US" sz="1400" dirty="0"/>
          </a:p>
        </p:txBody>
      </p:sp>
      <p:sp>
        <p:nvSpPr>
          <p:cNvPr id="9" name="Text 7"/>
          <p:cNvSpPr/>
          <p:nvPr/>
        </p:nvSpPr>
        <p:spPr>
          <a:xfrm>
            <a:off x="3108960" y="2112264"/>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Copy-Item .env.example .env   (completar secretos)</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docker compose up -d --build   ·   docker compose ps → todos healthy</a:t>
            </a:r>
            <a:endParaRPr lang="en-US" sz="1100" dirty="0"/>
          </a:p>
        </p:txBody>
      </p:sp>
      <p:sp>
        <p:nvSpPr>
          <p:cNvPr id="10" name="Text 8"/>
          <p:cNvSpPr/>
          <p:nvPr/>
        </p:nvSpPr>
        <p:spPr>
          <a:xfrm>
            <a:off x="548640" y="2898648"/>
            <a:ext cx="411480" cy="41148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1" name="Text 9"/>
          <p:cNvSpPr/>
          <p:nvPr/>
        </p:nvSpPr>
        <p:spPr>
          <a:xfrm>
            <a:off x="1097280" y="2880360"/>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Datos demo</a:t>
            </a:r>
            <a:endParaRPr lang="en-US" sz="1400" dirty="0"/>
          </a:p>
        </p:txBody>
      </p:sp>
      <p:sp>
        <p:nvSpPr>
          <p:cNvPr id="12" name="Text 10"/>
          <p:cNvSpPr/>
          <p:nvPr/>
        </p:nvSpPr>
        <p:spPr>
          <a:xfrm>
            <a:off x="3108960" y="2807208"/>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docker compose --profile demo run --rm seed</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docker compose --profile demo run --rm seed node scripts/seed-booking-demo.mjs</a:t>
            </a:r>
            <a:endParaRPr lang="en-US" sz="1100" dirty="0"/>
          </a:p>
        </p:txBody>
      </p:sp>
      <p:sp>
        <p:nvSpPr>
          <p:cNvPr id="13" name="Text 11"/>
          <p:cNvSpPr/>
          <p:nvPr/>
        </p:nvSpPr>
        <p:spPr>
          <a:xfrm>
            <a:off x="548640" y="3593592"/>
            <a:ext cx="411480" cy="41148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14" name="Text 12"/>
          <p:cNvSpPr/>
          <p:nvPr/>
        </p:nvSpPr>
        <p:spPr>
          <a:xfrm>
            <a:off x="1097280" y="3575304"/>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Reservar (A)</a:t>
            </a:r>
            <a:endParaRPr lang="en-US" sz="1400" dirty="0"/>
          </a:p>
        </p:txBody>
      </p:sp>
      <p:sp>
        <p:nvSpPr>
          <p:cNvPr id="15" name="Text 13"/>
          <p:cNvSpPr/>
          <p:nvPr/>
        </p:nvSpPr>
        <p:spPr>
          <a:xfrm>
            <a:off x="3108960" y="3502152"/>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http://localhost:8080 → Registro A → Institución Demo CitaJusta → Sede Centro Demo → Atención General Demo → Soy flexible 30 días → Reservar</a:t>
            </a:r>
            <a:endParaRPr lang="en-US" sz="1100" dirty="0"/>
          </a:p>
        </p:txBody>
      </p:sp>
      <p:sp>
        <p:nvSpPr>
          <p:cNvPr id="16" name="Text 14"/>
          <p:cNvSpPr/>
          <p:nvPr/>
        </p:nvSpPr>
        <p:spPr>
          <a:xfrm>
            <a:off x="548640" y="4288536"/>
            <a:ext cx="411480" cy="41148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5</a:t>
            </a:r>
            <a:endParaRPr lang="en-US" sz="1300" dirty="0"/>
          </a:p>
        </p:txBody>
      </p:sp>
      <p:sp>
        <p:nvSpPr>
          <p:cNvPr id="17" name="Text 15"/>
          <p:cNvSpPr/>
          <p:nvPr/>
        </p:nvSpPr>
        <p:spPr>
          <a:xfrm>
            <a:off x="1097280" y="4270248"/>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Esperar (B)</a:t>
            </a:r>
            <a:endParaRPr lang="en-US" sz="1400" dirty="0"/>
          </a:p>
        </p:txBody>
      </p:sp>
      <p:sp>
        <p:nvSpPr>
          <p:cNvPr id="18" name="Text 16"/>
          <p:cNvSpPr/>
          <p:nvPr/>
        </p:nvSpPr>
        <p:spPr>
          <a:xfrm>
            <a:off x="3108960" y="4197096"/>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Ventana privada → Registro B → Lista de espera del servicio → Preferencias: día del cupo, 08:00–20:00, Sede Centro Demo</a:t>
            </a:r>
            <a:endParaRPr lang="en-US" sz="1100" dirty="0"/>
          </a:p>
        </p:txBody>
      </p:sp>
      <p:sp>
        <p:nvSpPr>
          <p:cNvPr id="19" name="Text 17"/>
          <p:cNvSpPr/>
          <p:nvPr/>
        </p:nvSpPr>
        <p:spPr>
          <a:xfrm>
            <a:off x="548640" y="4983480"/>
            <a:ext cx="411480" cy="411480"/>
          </a:xfrm>
          <a:prstGeom prst="ellipse">
            <a:avLst/>
          </a:prstGeom>
          <a:solidFill>
            <a:srgbClr val="008184"/>
          </a:solidFill>
          <a:ln>
            <a:solidFill>
              <a:srgbClr val="008184"/>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6</a:t>
            </a:r>
            <a:endParaRPr lang="en-US" sz="1300" dirty="0"/>
          </a:p>
        </p:txBody>
      </p:sp>
      <p:sp>
        <p:nvSpPr>
          <p:cNvPr id="20" name="Text 18"/>
          <p:cNvSpPr/>
          <p:nvPr/>
        </p:nvSpPr>
        <p:spPr>
          <a:xfrm>
            <a:off x="1097280" y="4965192"/>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Cancelar y ofertar</a:t>
            </a:r>
            <a:endParaRPr lang="en-US" sz="1400" dirty="0"/>
          </a:p>
        </p:txBody>
      </p:sp>
      <p:sp>
        <p:nvSpPr>
          <p:cNvPr id="21" name="Text 19"/>
          <p:cNvSpPr/>
          <p:nvPr/>
        </p:nvSpPr>
        <p:spPr>
          <a:xfrm>
            <a:off x="3108960" y="4892040"/>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A: Mis citas → Cancelar  ·  B: Ofertas → oferta PENDIENTE con plazo → Aceptar → Mis citas de B</a:t>
            </a:r>
            <a:endParaRPr lang="en-US" sz="1100" dirty="0"/>
          </a:p>
        </p:txBody>
      </p:sp>
      <p:sp>
        <p:nvSpPr>
          <p:cNvPr id="22" name="Text 20"/>
          <p:cNvSpPr/>
          <p:nvPr/>
        </p:nvSpPr>
        <p:spPr>
          <a:xfrm>
            <a:off x="548640" y="5678424"/>
            <a:ext cx="411480" cy="411480"/>
          </a:xfrm>
          <a:prstGeom prst="ellipse">
            <a:avLst/>
          </a:prstGeom>
          <a:solidFill>
            <a:srgbClr val="9A5B00"/>
          </a:solidFill>
          <a:ln>
            <a:solidFill>
              <a:srgbClr val="9A5B00"/>
            </a:solidFill>
          </a:ln>
        </p:spPr>
        <p:txBody>
          <a:bodyPr wrap="square" lIns="0" tIns="0" rIns="0" bIns="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7</a:t>
            </a:r>
            <a:endParaRPr lang="en-US" sz="1300" dirty="0"/>
          </a:p>
        </p:txBody>
      </p:sp>
      <p:sp>
        <p:nvSpPr>
          <p:cNvPr id="23" name="Text 21"/>
          <p:cNvSpPr/>
          <p:nvPr/>
        </p:nvSpPr>
        <p:spPr>
          <a:xfrm>
            <a:off x="1097280" y="5660136"/>
            <a:ext cx="2011680" cy="457200"/>
          </a:xfrm>
          <a:prstGeom prst="rect">
            <a:avLst/>
          </a:prstGeom>
          <a:noFill/>
          <a:ln/>
        </p:spPr>
        <p:txBody>
          <a:bodyPr wrap="square" lIns="635" tIns="635" rIns="635" bIns="635" rtlCol="0" anchor="t"/>
          <a:lstStyle/>
          <a:p>
            <a:pPr marL="0" indent="0" algn="l">
              <a:lnSpc>
                <a:spcPct val="105000"/>
              </a:lnSpc>
              <a:buNone/>
            </a:pPr>
            <a:r>
              <a:rPr lang="en-US" sz="1400" dirty="0">
                <a:solidFill>
                  <a:srgbClr val="172B50"/>
                </a:solidFill>
                <a:latin typeface="Segoe UI Semibold" pitchFamily="34" charset="0"/>
                <a:ea typeface="Segoe UI Semibold" pitchFamily="34" charset="-122"/>
                <a:cs typeface="Segoe UI Semibold" pitchFamily="34" charset="-120"/>
              </a:rPr>
              <a:t>Plan B</a:t>
            </a:r>
            <a:endParaRPr lang="en-US" sz="1400" dirty="0"/>
          </a:p>
        </p:txBody>
      </p:sp>
      <p:sp>
        <p:nvSpPr>
          <p:cNvPr id="24" name="Text 22"/>
          <p:cNvSpPr/>
          <p:nvPr/>
        </p:nvSpPr>
        <p:spPr>
          <a:xfrm>
            <a:off x="3108960" y="5586984"/>
            <a:ext cx="8531352" cy="621792"/>
          </a:xfrm>
          <a:prstGeom prst="rect">
            <a:avLst/>
          </a:prstGeom>
          <a:solidFill>
            <a:srgbClr val="F3F8FB"/>
          </a:solidFill>
          <a:ln w="9525">
            <a:solidFill>
              <a:srgbClr val="E4E9EF"/>
            </a:solidFill>
          </a:ln>
        </p:spPr>
        <p:txBody>
          <a:bodyPr wrap="square" lIns="1016" tIns="1016" rIns="1016" bIns="1016" rtlCol="0" anchor="ctr"/>
          <a:lstStyle/>
          <a:p>
            <a:pPr marL="0" indent="0">
              <a:buNone/>
            </a:pPr>
            <a:r>
              <a:rPr lang="en-US" sz="1100" dirty="0">
                <a:solidFill>
                  <a:srgbClr val="1F2937"/>
                </a:solidFill>
                <a:latin typeface="Consolas" pitchFamily="34" charset="0"/>
                <a:ea typeface="Consolas" pitchFamily="34" charset="-122"/>
                <a:cs typeface="Consolas" pitchFamily="34" charset="-120"/>
              </a:rPr>
              <a:t>Si falla la red o Docker: mostrar Evidencias\03_capturas_web y 02_docker_y_e2e\05-smoke-flujo-principal.txt</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3"/>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3911</Words>
  <Application>Microsoft Office PowerPoint</Application>
  <PresentationFormat>Panorámica</PresentationFormat>
  <Paragraphs>349</Paragraphs>
  <Slides>16</Slides>
  <Notes>16</Notes>
  <HiddenSlides>1</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Consolas</vt:lpstr>
      <vt:lpstr>Segoe UI</vt:lpstr>
      <vt:lpstr>Segoe UI Semibold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 Puente Alto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CitaJusta — Presentación final Fase 2</dc:title>
  <dc:subject>PptxGenJS Presentation</dc:subject>
  <dc:creator>Equipo CitaJusta</dc:creator>
  <cp:lastModifiedBy>DIEGO . SIMON CANALES</cp:lastModifiedBy>
  <cp:revision>2</cp:revision>
  <dcterms:created xsi:type="dcterms:W3CDTF">2026-10-17T18:27:24Z</dcterms:created>
  <dcterms:modified xsi:type="dcterms:W3CDTF">2026-10-17T18:28:20Z</dcterms:modified>
</cp:coreProperties>
</file>